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6" r:id="rId3"/>
    <p:sldId id="257" r:id="rId4"/>
    <p:sldId id="259" r:id="rId5"/>
    <p:sldId id="258" r:id="rId6"/>
    <p:sldId id="292" r:id="rId7"/>
  </p:sldIdLst>
  <p:sldSz cx="12212638" cy="6858000"/>
  <p:notesSz cx="6858000" cy="12212638"/>
  <p:embeddedFontLst>
    <p:embeddedFont>
      <p:font typeface="Garamond" panose="02020404030301010803" pitchFamily="18" charset="0"/>
      <p:regular r:id="rId9"/>
      <p:bold r:id="rId10"/>
      <p:italic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F0FF"/>
    <a:srgbClr val="FFFFFF"/>
    <a:srgbClr val="002C5F"/>
    <a:srgbClr val="AFDCFE"/>
    <a:srgbClr val="F1F8FE"/>
    <a:srgbClr val="1E50A4"/>
    <a:srgbClr val="1371C8"/>
    <a:srgbClr val="3178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D9E03E-D55F-4674-8305-45CFC5A61F2E}" type="doc">
      <dgm:prSet loTypeId="urn:microsoft.com/office/officeart/2008/layout/PictureStrip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139E201-FFC2-424C-9E92-DBCDC88375F4}">
      <dgm:prSet phldrT="[Text]" custT="1"/>
      <dgm:spPr/>
      <dgm:t>
        <a:bodyPr/>
        <a:lstStyle/>
        <a:p>
          <a:pPr>
            <a:buNone/>
          </a:pPr>
          <a:r>
            <a:rPr lang="en-US" sz="1200" b="1" dirty="0">
              <a:solidFill>
                <a:srgbClr val="000A20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ISRO public datasets </a:t>
          </a:r>
          <a:r>
            <a:rPr lang="en-US" sz="1200" dirty="0">
              <a:solidFill>
                <a:srgbClr val="000A20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(</a:t>
          </a:r>
          <a:r>
            <a:rPr lang="en-US" sz="1200" dirty="0" err="1">
              <a:solidFill>
                <a:srgbClr val="000A20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Cartosat</a:t>
          </a:r>
          <a:r>
            <a:rPr lang="en-US" sz="1200" dirty="0">
              <a:solidFill>
                <a:srgbClr val="000A20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, </a:t>
          </a:r>
          <a:r>
            <a:rPr lang="en-US" sz="1200" dirty="0" err="1">
              <a:solidFill>
                <a:srgbClr val="000A20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Resourcesat</a:t>
          </a:r>
          <a:r>
            <a:rPr lang="en-US" sz="1200" dirty="0">
              <a:solidFill>
                <a:srgbClr val="000A20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, RISAT sample data)</a:t>
          </a:r>
          <a:endParaRPr lang="en-IN" sz="1200" dirty="0"/>
        </a:p>
      </dgm:t>
    </dgm:pt>
    <dgm:pt modelId="{07A15E21-DB1C-4C2F-B3F5-0ADBFC117400}" type="parTrans" cxnId="{D2815E33-C17C-4C1C-AB9C-BB672DFF95A4}">
      <dgm:prSet/>
      <dgm:spPr/>
      <dgm:t>
        <a:bodyPr/>
        <a:lstStyle/>
        <a:p>
          <a:endParaRPr lang="en-IN" sz="1000"/>
        </a:p>
      </dgm:t>
    </dgm:pt>
    <dgm:pt modelId="{73F246F9-1CD2-4A19-A9C4-2A95667E0B41}" type="sibTrans" cxnId="{D2815E33-C17C-4C1C-AB9C-BB672DFF95A4}">
      <dgm:prSet/>
      <dgm:spPr/>
      <dgm:t>
        <a:bodyPr/>
        <a:lstStyle/>
        <a:p>
          <a:endParaRPr lang="en-IN" sz="1000"/>
        </a:p>
      </dgm:t>
    </dgm:pt>
    <dgm:pt modelId="{03B205E5-883F-4D30-9008-3031AE4B0F68}">
      <dgm:prSet phldrT="[Text]" custT="1"/>
      <dgm:spPr/>
      <dgm:t>
        <a:bodyPr/>
        <a:lstStyle/>
        <a:p>
          <a:pPr>
            <a:buNone/>
          </a:pPr>
          <a:r>
            <a:rPr lang="en-US" sz="1200" b="1" dirty="0">
              <a:solidFill>
                <a:srgbClr val="00091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rPr>
            <a:t>RSICD, NWPU-RESISC45, AID </a:t>
          </a:r>
          <a:r>
            <a:rPr lang="en-US" sz="1200" dirty="0">
              <a:solidFill>
                <a:srgbClr val="00091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rPr>
            <a:t>(Remote Sensing Image</a:t>
          </a:r>
          <a:endParaRPr lang="en-US" sz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>
            <a:buNone/>
          </a:pPr>
          <a:r>
            <a:rPr lang="en-US" sz="1200" dirty="0">
              <a:solidFill>
                <a:srgbClr val="00091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rPr>
            <a:t>Captioning &amp; Classification datasets)</a:t>
          </a:r>
          <a:endParaRPr lang="en-IN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3A9F0B0-D52D-41B3-99D7-FC1D1933229E}" type="parTrans" cxnId="{2F3137EC-0771-43AD-BFAA-0D80AE938F49}">
      <dgm:prSet/>
      <dgm:spPr/>
      <dgm:t>
        <a:bodyPr/>
        <a:lstStyle/>
        <a:p>
          <a:endParaRPr lang="en-IN" sz="1000"/>
        </a:p>
      </dgm:t>
    </dgm:pt>
    <dgm:pt modelId="{4AF20347-3917-4A3B-9DE6-A5F211407651}" type="sibTrans" cxnId="{2F3137EC-0771-43AD-BFAA-0D80AE938F49}">
      <dgm:prSet/>
      <dgm:spPr/>
      <dgm:t>
        <a:bodyPr/>
        <a:lstStyle/>
        <a:p>
          <a:endParaRPr lang="en-IN" sz="1000"/>
        </a:p>
      </dgm:t>
    </dgm:pt>
    <dgm:pt modelId="{1D4DF142-2F9E-4770-9CD0-D9165C38C71F}">
      <dgm:prSet phldrT="[Text]" custT="1"/>
      <dgm:spPr/>
      <dgm:t>
        <a:bodyPr/>
        <a:lstStyle/>
        <a:p>
          <a:pPr>
            <a:buNone/>
          </a:pPr>
          <a:r>
            <a:rPr lang="en-US" sz="1200" b="1" dirty="0">
              <a:solidFill>
                <a:srgbClr val="00091D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rPr>
            <a:t>Open remote sensing benchmarks for visual question</a:t>
          </a:r>
          <a:endParaRPr lang="en-US" sz="1200" b="1" dirty="0">
            <a:latin typeface="Arial" panose="020B0604020202020204" pitchFamily="34" charset="0"/>
            <a:cs typeface="Arial" panose="020B0604020202020204" pitchFamily="34" charset="0"/>
          </a:endParaRPr>
        </a:p>
        <a:p>
          <a:pPr>
            <a:buNone/>
          </a:pPr>
          <a:r>
            <a:rPr lang="en-US" sz="1200" b="1" dirty="0">
              <a:solidFill>
                <a:srgbClr val="00091D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rPr>
            <a:t>answering</a:t>
          </a:r>
          <a:endParaRPr lang="en-IN" sz="12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9B212B-8799-48D3-ABF3-D24BDD6C7F49}" type="parTrans" cxnId="{BB0BB3B7-3AEA-4254-9A8E-2DCF175E6348}">
      <dgm:prSet/>
      <dgm:spPr/>
      <dgm:t>
        <a:bodyPr/>
        <a:lstStyle/>
        <a:p>
          <a:endParaRPr lang="en-IN" sz="1000"/>
        </a:p>
      </dgm:t>
    </dgm:pt>
    <dgm:pt modelId="{63DF45C1-315C-48CD-9CC9-7A689F02ADC2}" type="sibTrans" cxnId="{BB0BB3B7-3AEA-4254-9A8E-2DCF175E6348}">
      <dgm:prSet/>
      <dgm:spPr/>
      <dgm:t>
        <a:bodyPr/>
        <a:lstStyle/>
        <a:p>
          <a:endParaRPr lang="en-IN" sz="1000"/>
        </a:p>
      </dgm:t>
    </dgm:pt>
    <dgm:pt modelId="{AEFAA1EA-B10A-4F7B-AA19-CFE894B5B44C}" type="pres">
      <dgm:prSet presAssocID="{65D9E03E-D55F-4674-8305-45CFC5A61F2E}" presName="Name0" presStyleCnt="0">
        <dgm:presLayoutVars>
          <dgm:dir/>
          <dgm:resizeHandles val="exact"/>
        </dgm:presLayoutVars>
      </dgm:prSet>
      <dgm:spPr/>
    </dgm:pt>
    <dgm:pt modelId="{B0412348-348D-4ADF-AAA5-91CC0F10A2F4}" type="pres">
      <dgm:prSet presAssocID="{7139E201-FFC2-424C-9E92-DBCDC88375F4}" presName="composite" presStyleCnt="0"/>
      <dgm:spPr/>
    </dgm:pt>
    <dgm:pt modelId="{57C5E288-EEC8-469F-B9AD-AC79D4C206DA}" type="pres">
      <dgm:prSet presAssocID="{7139E201-FFC2-424C-9E92-DBCDC88375F4}" presName="rect1" presStyleLbl="trAlignAcc1" presStyleIdx="0" presStyleCnt="3" custScaleX="202369">
        <dgm:presLayoutVars>
          <dgm:bulletEnabled val="1"/>
        </dgm:presLayoutVars>
      </dgm:prSet>
      <dgm:spPr/>
    </dgm:pt>
    <dgm:pt modelId="{EC4762DA-8776-4B17-A09C-6DA514F2FCDD}" type="pres">
      <dgm:prSet presAssocID="{7139E201-FFC2-424C-9E92-DBCDC88375F4}" presName="rect2" presStyleLbl="fgImgPlace1" presStyleIdx="0" presStyleCnt="3" custLinFactX="-100000" custLinFactNeighborX="-126719" custLinFactNeighborY="14606"/>
      <dgm:spPr>
        <a:blipFill rotWithShape="1">
          <a:blip xmlns:r="http://schemas.openxmlformats.org/officeDocument/2006/relationships" r:embed="rId1"/>
          <a:srcRect/>
          <a:stretch>
            <a:fillRect l="-33000" r="-33000"/>
          </a:stretch>
        </a:blipFill>
      </dgm:spPr>
    </dgm:pt>
    <dgm:pt modelId="{32C06ABA-579A-4A86-802C-48D4BD1C461B}" type="pres">
      <dgm:prSet presAssocID="{73F246F9-1CD2-4A19-A9C4-2A95667E0B41}" presName="sibTrans" presStyleCnt="0"/>
      <dgm:spPr/>
    </dgm:pt>
    <dgm:pt modelId="{83D0E354-1F4F-44D6-9EB4-7BA0EE3D2045}" type="pres">
      <dgm:prSet presAssocID="{03B205E5-883F-4D30-9008-3031AE4B0F68}" presName="composite" presStyleCnt="0"/>
      <dgm:spPr/>
    </dgm:pt>
    <dgm:pt modelId="{B6D97E6E-BB04-4BC0-91AB-911F2E13A090}" type="pres">
      <dgm:prSet presAssocID="{03B205E5-883F-4D30-9008-3031AE4B0F68}" presName="rect1" presStyleLbl="trAlignAcc1" presStyleIdx="1" presStyleCnt="3" custScaleX="202369">
        <dgm:presLayoutVars>
          <dgm:bulletEnabled val="1"/>
        </dgm:presLayoutVars>
      </dgm:prSet>
      <dgm:spPr/>
    </dgm:pt>
    <dgm:pt modelId="{9AEB6C0D-7354-4468-A612-D8FDE525280B}" type="pres">
      <dgm:prSet presAssocID="{03B205E5-883F-4D30-9008-3031AE4B0F68}" presName="rect2" presStyleLbl="fgImgPlace1" presStyleIdx="1" presStyleCnt="3" custLinFactX="-100000" custLinFactNeighborX="-126719" custLinFactNeighborY="11744"/>
      <dgm:spPr>
        <a:blipFill rotWithShape="1">
          <a:blip xmlns:r="http://schemas.openxmlformats.org/officeDocument/2006/relationships" r:embed="rId2"/>
          <a:srcRect/>
          <a:stretch>
            <a:fillRect l="-39000" r="-39000"/>
          </a:stretch>
        </a:blipFill>
      </dgm:spPr>
    </dgm:pt>
    <dgm:pt modelId="{EA222FE3-0F60-437B-98F3-50865E831FA1}" type="pres">
      <dgm:prSet presAssocID="{4AF20347-3917-4A3B-9DE6-A5F211407651}" presName="sibTrans" presStyleCnt="0"/>
      <dgm:spPr/>
    </dgm:pt>
    <dgm:pt modelId="{8DD9E05B-FCAD-461D-BD2E-C8F820533727}" type="pres">
      <dgm:prSet presAssocID="{1D4DF142-2F9E-4770-9CD0-D9165C38C71F}" presName="composite" presStyleCnt="0"/>
      <dgm:spPr/>
    </dgm:pt>
    <dgm:pt modelId="{EC52279A-9D0E-4F69-B981-F3B246126E28}" type="pres">
      <dgm:prSet presAssocID="{1D4DF142-2F9E-4770-9CD0-D9165C38C71F}" presName="rect1" presStyleLbl="trAlignAcc1" presStyleIdx="2" presStyleCnt="3" custScaleX="202369">
        <dgm:presLayoutVars>
          <dgm:bulletEnabled val="1"/>
        </dgm:presLayoutVars>
      </dgm:prSet>
      <dgm:spPr/>
    </dgm:pt>
    <dgm:pt modelId="{014EC1CB-1D7C-4F6F-AC8F-5E0057313EFA}" type="pres">
      <dgm:prSet presAssocID="{1D4DF142-2F9E-4770-9CD0-D9165C38C71F}" presName="rect2" presStyleLbl="fgImgPlace1" presStyleIdx="2" presStyleCnt="3" custLinFactX="-100000" custLinFactNeighborX="-126719" custLinFactNeighborY="11744"/>
      <dgm:spPr>
        <a:blipFill rotWithShape="1">
          <a:blip xmlns:r="http://schemas.openxmlformats.org/officeDocument/2006/relationships" r:embed="rId3"/>
          <a:srcRect/>
          <a:stretch>
            <a:fillRect l="-38000" r="-38000"/>
          </a:stretch>
        </a:blipFill>
      </dgm:spPr>
    </dgm:pt>
  </dgm:ptLst>
  <dgm:cxnLst>
    <dgm:cxn modelId="{5741AE1F-39D6-4271-9760-7BAFAE032E40}" type="presOf" srcId="{1D4DF142-2F9E-4770-9CD0-D9165C38C71F}" destId="{EC52279A-9D0E-4F69-B981-F3B246126E28}" srcOrd="0" destOrd="0" presId="urn:microsoft.com/office/officeart/2008/layout/PictureStrips"/>
    <dgm:cxn modelId="{D2815E33-C17C-4C1C-AB9C-BB672DFF95A4}" srcId="{65D9E03E-D55F-4674-8305-45CFC5A61F2E}" destId="{7139E201-FFC2-424C-9E92-DBCDC88375F4}" srcOrd="0" destOrd="0" parTransId="{07A15E21-DB1C-4C2F-B3F5-0ADBFC117400}" sibTransId="{73F246F9-1CD2-4A19-A9C4-2A95667E0B41}"/>
    <dgm:cxn modelId="{CB1E576F-FFD1-4C42-91BA-26E9B1D1BE8A}" type="presOf" srcId="{7139E201-FFC2-424C-9E92-DBCDC88375F4}" destId="{57C5E288-EEC8-469F-B9AD-AC79D4C206DA}" srcOrd="0" destOrd="0" presId="urn:microsoft.com/office/officeart/2008/layout/PictureStrips"/>
    <dgm:cxn modelId="{BB0BB3B7-3AEA-4254-9A8E-2DCF175E6348}" srcId="{65D9E03E-D55F-4674-8305-45CFC5A61F2E}" destId="{1D4DF142-2F9E-4770-9CD0-D9165C38C71F}" srcOrd="2" destOrd="0" parTransId="{919B212B-8799-48D3-ABF3-D24BDD6C7F49}" sibTransId="{63DF45C1-315C-48CD-9CC9-7A689F02ADC2}"/>
    <dgm:cxn modelId="{88B5B0D2-36D1-4BCA-B16C-ECAF9F361161}" type="presOf" srcId="{65D9E03E-D55F-4674-8305-45CFC5A61F2E}" destId="{AEFAA1EA-B10A-4F7B-AA19-CFE894B5B44C}" srcOrd="0" destOrd="0" presId="urn:microsoft.com/office/officeart/2008/layout/PictureStrips"/>
    <dgm:cxn modelId="{2F3137EC-0771-43AD-BFAA-0D80AE938F49}" srcId="{65D9E03E-D55F-4674-8305-45CFC5A61F2E}" destId="{03B205E5-883F-4D30-9008-3031AE4B0F68}" srcOrd="1" destOrd="0" parTransId="{63A9F0B0-D52D-41B3-99D7-FC1D1933229E}" sibTransId="{4AF20347-3917-4A3B-9DE6-A5F211407651}"/>
    <dgm:cxn modelId="{864ECEF1-3D71-4C83-A5A3-A618FC84B6F1}" type="presOf" srcId="{03B205E5-883F-4D30-9008-3031AE4B0F68}" destId="{B6D97E6E-BB04-4BC0-91AB-911F2E13A090}" srcOrd="0" destOrd="0" presId="urn:microsoft.com/office/officeart/2008/layout/PictureStrips"/>
    <dgm:cxn modelId="{D5885492-C0C8-4301-9EB2-746FA18869B1}" type="presParOf" srcId="{AEFAA1EA-B10A-4F7B-AA19-CFE894B5B44C}" destId="{B0412348-348D-4ADF-AAA5-91CC0F10A2F4}" srcOrd="0" destOrd="0" presId="urn:microsoft.com/office/officeart/2008/layout/PictureStrips"/>
    <dgm:cxn modelId="{2697C407-0DF7-47B8-B217-199BBCDEC40D}" type="presParOf" srcId="{B0412348-348D-4ADF-AAA5-91CC0F10A2F4}" destId="{57C5E288-EEC8-469F-B9AD-AC79D4C206DA}" srcOrd="0" destOrd="0" presId="urn:microsoft.com/office/officeart/2008/layout/PictureStrips"/>
    <dgm:cxn modelId="{7E2B66A9-043D-4896-875E-9167A1684D46}" type="presParOf" srcId="{B0412348-348D-4ADF-AAA5-91CC0F10A2F4}" destId="{EC4762DA-8776-4B17-A09C-6DA514F2FCDD}" srcOrd="1" destOrd="0" presId="urn:microsoft.com/office/officeart/2008/layout/PictureStrips"/>
    <dgm:cxn modelId="{D5BCA270-BF9E-45AA-8A54-0B96E8F9E765}" type="presParOf" srcId="{AEFAA1EA-B10A-4F7B-AA19-CFE894B5B44C}" destId="{32C06ABA-579A-4A86-802C-48D4BD1C461B}" srcOrd="1" destOrd="0" presId="urn:microsoft.com/office/officeart/2008/layout/PictureStrips"/>
    <dgm:cxn modelId="{5C3C328A-3719-4AF6-847B-E26DC1AE0DB7}" type="presParOf" srcId="{AEFAA1EA-B10A-4F7B-AA19-CFE894B5B44C}" destId="{83D0E354-1F4F-44D6-9EB4-7BA0EE3D2045}" srcOrd="2" destOrd="0" presId="urn:microsoft.com/office/officeart/2008/layout/PictureStrips"/>
    <dgm:cxn modelId="{F01C3EF3-259B-4A3C-8826-CBDC17651B8C}" type="presParOf" srcId="{83D0E354-1F4F-44D6-9EB4-7BA0EE3D2045}" destId="{B6D97E6E-BB04-4BC0-91AB-911F2E13A090}" srcOrd="0" destOrd="0" presId="urn:microsoft.com/office/officeart/2008/layout/PictureStrips"/>
    <dgm:cxn modelId="{D874A46D-7B44-4AA4-986A-7497370261F3}" type="presParOf" srcId="{83D0E354-1F4F-44D6-9EB4-7BA0EE3D2045}" destId="{9AEB6C0D-7354-4468-A612-D8FDE525280B}" srcOrd="1" destOrd="0" presId="urn:microsoft.com/office/officeart/2008/layout/PictureStrips"/>
    <dgm:cxn modelId="{5B14BA72-FE75-4C64-AFDA-F46E6DFF256A}" type="presParOf" srcId="{AEFAA1EA-B10A-4F7B-AA19-CFE894B5B44C}" destId="{EA222FE3-0F60-437B-98F3-50865E831FA1}" srcOrd="3" destOrd="0" presId="urn:microsoft.com/office/officeart/2008/layout/PictureStrips"/>
    <dgm:cxn modelId="{F4DDCA4D-21E7-4081-A916-909B290AE0B9}" type="presParOf" srcId="{AEFAA1EA-B10A-4F7B-AA19-CFE894B5B44C}" destId="{8DD9E05B-FCAD-461D-BD2E-C8F820533727}" srcOrd="4" destOrd="0" presId="urn:microsoft.com/office/officeart/2008/layout/PictureStrips"/>
    <dgm:cxn modelId="{C6ABFCF6-6A92-493E-AC85-4A26143D48D2}" type="presParOf" srcId="{8DD9E05B-FCAD-461D-BD2E-C8F820533727}" destId="{EC52279A-9D0E-4F69-B981-F3B246126E28}" srcOrd="0" destOrd="0" presId="urn:microsoft.com/office/officeart/2008/layout/PictureStrips"/>
    <dgm:cxn modelId="{3CE24FE2-18E5-4EA7-863E-C4A9B401F8A1}" type="presParOf" srcId="{8DD9E05B-FCAD-461D-BD2E-C8F820533727}" destId="{014EC1CB-1D7C-4F6F-AC8F-5E0057313EFA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C5E288-EEC8-469F-B9AD-AC79D4C206DA}">
      <dsp:nvSpPr>
        <dsp:cNvPr id="0" name=""/>
        <dsp:cNvSpPr/>
      </dsp:nvSpPr>
      <dsp:spPr>
        <a:xfrm>
          <a:off x="59455" y="160863"/>
          <a:ext cx="4669280" cy="72103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81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000A20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ISRO public datasets </a:t>
          </a:r>
          <a:r>
            <a:rPr lang="en-US" sz="1200" kern="1200" dirty="0">
              <a:solidFill>
                <a:srgbClr val="000A20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(</a:t>
          </a:r>
          <a:r>
            <a:rPr lang="en-US" sz="1200" kern="1200" dirty="0" err="1">
              <a:solidFill>
                <a:srgbClr val="000A20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Cartosat</a:t>
          </a:r>
          <a:r>
            <a:rPr lang="en-US" sz="1200" kern="1200" dirty="0">
              <a:solidFill>
                <a:srgbClr val="000A20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, </a:t>
          </a:r>
          <a:r>
            <a:rPr lang="en-US" sz="1200" kern="1200" dirty="0" err="1">
              <a:solidFill>
                <a:srgbClr val="000A20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Resourcesat</a:t>
          </a:r>
          <a:r>
            <a:rPr lang="en-US" sz="1200" kern="1200" dirty="0">
              <a:solidFill>
                <a:srgbClr val="000A20"/>
              </a:solidFill>
              <a:latin typeface="Arial" pitchFamily="34" charset="0"/>
              <a:ea typeface="Arial" pitchFamily="34" charset="-122"/>
              <a:cs typeface="Arial" pitchFamily="34" charset="-120"/>
            </a:rPr>
            <a:t>, RISAT sample data)</a:t>
          </a:r>
          <a:endParaRPr lang="en-IN" sz="1200" kern="1200" dirty="0"/>
        </a:p>
      </dsp:txBody>
      <dsp:txXfrm>
        <a:off x="59455" y="160863"/>
        <a:ext cx="4669280" cy="721034"/>
      </dsp:txXfrm>
    </dsp:sp>
    <dsp:sp modelId="{EC4762DA-8776-4B17-A09C-6DA514F2FCDD}">
      <dsp:nvSpPr>
        <dsp:cNvPr id="0" name=""/>
        <dsp:cNvSpPr/>
      </dsp:nvSpPr>
      <dsp:spPr>
        <a:xfrm>
          <a:off x="0" y="167293"/>
          <a:ext cx="504724" cy="757086"/>
        </a:xfrm>
        <a:prstGeom prst="rect">
          <a:avLst/>
        </a:prstGeom>
        <a:blipFill rotWithShape="1">
          <a:blip xmlns:r="http://schemas.openxmlformats.org/officeDocument/2006/relationships" r:embed="rId1"/>
          <a:srcRect/>
          <a:stretch>
            <a:fillRect l="-33000" r="-3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D97E6E-BB04-4BC0-91AB-911F2E13A090}">
      <dsp:nvSpPr>
        <dsp:cNvPr id="0" name=""/>
        <dsp:cNvSpPr/>
      </dsp:nvSpPr>
      <dsp:spPr>
        <a:xfrm>
          <a:off x="59455" y="1068565"/>
          <a:ext cx="4669280" cy="72103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81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00091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rPr>
            <a:t>RSICD, NWPU-RESISC45, AID </a:t>
          </a:r>
          <a:r>
            <a:rPr lang="en-US" sz="1200" kern="1200" dirty="0">
              <a:solidFill>
                <a:srgbClr val="00091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rPr>
            <a:t>(Remote Sensing Image</a:t>
          </a:r>
          <a:endParaRPr 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091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rPr>
            <a:t>Captioning &amp; Classification datasets)</a:t>
          </a:r>
          <a:endParaRPr lang="en-IN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9455" y="1068565"/>
        <a:ext cx="4669280" cy="721034"/>
      </dsp:txXfrm>
    </dsp:sp>
    <dsp:sp modelId="{9AEB6C0D-7354-4468-A612-D8FDE525280B}">
      <dsp:nvSpPr>
        <dsp:cNvPr id="0" name=""/>
        <dsp:cNvSpPr/>
      </dsp:nvSpPr>
      <dsp:spPr>
        <a:xfrm>
          <a:off x="0" y="1053328"/>
          <a:ext cx="504724" cy="757086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2279A-9D0E-4F69-B981-F3B246126E28}">
      <dsp:nvSpPr>
        <dsp:cNvPr id="0" name=""/>
        <dsp:cNvSpPr/>
      </dsp:nvSpPr>
      <dsp:spPr>
        <a:xfrm>
          <a:off x="59455" y="1976267"/>
          <a:ext cx="4669280" cy="72103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81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00091D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rPr>
            <a:t>Open remote sensing benchmarks for visual question</a:t>
          </a:r>
          <a:endParaRPr lang="en-US" sz="1200" b="1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00091D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rPr>
            <a:t>answering</a:t>
          </a:r>
          <a:endParaRPr lang="en-IN" sz="12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9455" y="1976267"/>
        <a:ext cx="4669280" cy="721034"/>
      </dsp:txXfrm>
    </dsp:sp>
    <dsp:sp modelId="{014EC1CB-1D7C-4F6F-AC8F-5E0057313EFA}">
      <dsp:nvSpPr>
        <dsp:cNvPr id="0" name=""/>
        <dsp:cNvSpPr/>
      </dsp:nvSpPr>
      <dsp:spPr>
        <a:xfrm>
          <a:off x="0" y="1961030"/>
          <a:ext cx="504724" cy="757086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l="-38000" r="-3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504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81C18-5727-51DA-23E6-B780EF36B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6580" y="1122363"/>
            <a:ext cx="915947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CAFAA-42B5-E5BF-99C8-49FF1C9E2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6580" y="3602038"/>
            <a:ext cx="915947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238E9-D47C-3DC7-66B3-7EC563692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B0DBE-55E6-4311-8162-5BDFBB7C1C9E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96930-B2FC-BFE0-670B-FBEE51C1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03C15-EB66-1894-0465-492E63DF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023F1-7FBB-45B3-861C-7434649B9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114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28" Type="http://schemas.openxmlformats.org/officeDocument/2006/relationships/image" Target="../media/image51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31" Type="http://schemas.openxmlformats.org/officeDocument/2006/relationships/image" Target="../media/image15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5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4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15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image" Target="../media/image66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15.png"/><Relationship Id="rId5" Type="http://schemas.openxmlformats.org/officeDocument/2006/relationships/image" Target="../media/image69.png"/><Relationship Id="rId15" Type="http://schemas.openxmlformats.org/officeDocument/2006/relationships/image" Target="../media/image78.png"/><Relationship Id="rId10" Type="http://schemas.openxmlformats.org/officeDocument/2006/relationships/image" Target="../media/image74.png"/><Relationship Id="rId19" Type="http://schemas.openxmlformats.org/officeDocument/2006/relationships/image" Target="../media/image82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image" Target="../media/image91.png"/><Relationship Id="rId3" Type="http://schemas.openxmlformats.org/officeDocument/2006/relationships/image" Target="../media/image83.png"/><Relationship Id="rId7" Type="http://schemas.openxmlformats.org/officeDocument/2006/relationships/diagramLayout" Target="../diagrams/layout1.xml"/><Relationship Id="rId12" Type="http://schemas.openxmlformats.org/officeDocument/2006/relationships/image" Target="../media/image90.png"/><Relationship Id="rId17" Type="http://schemas.openxmlformats.org/officeDocument/2006/relationships/hyperlink" Target="https://llmnodebed.github.io/" TargetMode="External"/><Relationship Id="rId2" Type="http://schemas.openxmlformats.org/officeDocument/2006/relationships/image" Target="../media/image15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Relationship Id="rId11" Type="http://schemas.openxmlformats.org/officeDocument/2006/relationships/image" Target="../media/image89.png"/><Relationship Id="rId5" Type="http://schemas.openxmlformats.org/officeDocument/2006/relationships/image" Target="../media/image85.png"/><Relationship Id="rId15" Type="http://schemas.openxmlformats.org/officeDocument/2006/relationships/hyperlink" Target="https://statusgator.com/services/streamlit/map" TargetMode="External"/><Relationship Id="rId10" Type="http://schemas.microsoft.com/office/2007/relationships/diagramDrawing" Target="../diagrams/drawing1.xml"/><Relationship Id="rId4" Type="http://schemas.openxmlformats.org/officeDocument/2006/relationships/image" Target="../media/image84.png"/><Relationship Id="rId9" Type="http://schemas.openxmlformats.org/officeDocument/2006/relationships/diagramColors" Target="../diagrams/colors1.xml"/><Relationship Id="rId14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rcRect r="59916"/>
          <a:stretch/>
        </p:blipFill>
        <p:spPr>
          <a:xfrm>
            <a:off x="6590876" y="730126"/>
            <a:ext cx="5439353" cy="5817531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51346" y="156207"/>
            <a:ext cx="10345688" cy="705390"/>
          </a:xfrm>
        </p:spPr>
        <p:txBody>
          <a:bodyPr/>
          <a:lstStyle/>
          <a:p>
            <a:r>
              <a:rPr lang="en-US" sz="3993" b="1" dirty="0">
                <a:solidFill>
                  <a:srgbClr val="002C5F"/>
                </a:solidFill>
                <a:latin typeface="Garamond" panose="02020404030301010803" pitchFamily="18" charset="0"/>
              </a:rPr>
              <a:t>SMART INDIA HACKATHON 2026</a:t>
            </a:r>
            <a:endParaRPr lang="en-IN" sz="3993" b="1" dirty="0">
              <a:solidFill>
                <a:srgbClr val="002C5F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411" y="412950"/>
            <a:ext cx="9601769" cy="578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79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264" indent="-285264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96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SIH26167</a:t>
            </a:r>
          </a:p>
          <a:p>
            <a:pPr marL="285264" indent="-285264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96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396" b="1" dirty="0" err="1">
                <a:latin typeface="Arial" panose="020B0604020202020204" pitchFamily="34" charset="0"/>
                <a:cs typeface="Arial" panose="020B0604020202020204" pitchFamily="34" charset="0"/>
              </a:rPr>
              <a:t>SatQuery</a:t>
            </a:r>
            <a:r>
              <a:rPr lang="en-IN" sz="2396" b="1" dirty="0">
                <a:latin typeface="Arial" panose="020B0604020202020204" pitchFamily="34" charset="0"/>
                <a:cs typeface="Arial" panose="020B0604020202020204" pitchFamily="34" charset="0"/>
              </a:rPr>
              <a:t> AI – An Interactive Vision-Language Assistant for Multimodal Remote Sensing Image Analysis through Text Queries</a:t>
            </a:r>
          </a:p>
          <a:p>
            <a:pPr marL="285264" indent="-285264" algn="just">
              <a:buFont typeface="Arial" panose="020B0604020202020204" pitchFamily="34" charset="0"/>
              <a:buChar char="•"/>
            </a:pPr>
            <a:r>
              <a:rPr lang="en-US" sz="2396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sz="2396" b="1" dirty="0">
                <a:latin typeface="Arial" panose="020B0604020202020204" pitchFamily="34" charset="0"/>
                <a:cs typeface="Arial" panose="020B0604020202020204" pitchFamily="34" charset="0"/>
              </a:rPr>
              <a:t>Space Technology</a:t>
            </a:r>
            <a:endParaRPr lang="en-US" sz="2396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264" indent="-285264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96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264" indent="-285264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96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</a:p>
          <a:p>
            <a:pPr marL="285264" indent="-285264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96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- NextGen</a:t>
            </a:r>
            <a:endParaRPr lang="en-IN" sz="2396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180" y="7293"/>
            <a:ext cx="2246048" cy="10605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7"/>
          <p:cNvSpPr/>
          <p:nvPr/>
        </p:nvSpPr>
        <p:spPr>
          <a:xfrm>
            <a:off x="3487266" y="4224213"/>
            <a:ext cx="5245490" cy="2064637"/>
          </a:xfrm>
          <a:prstGeom prst="roundRect">
            <a:avLst>
              <a:gd name="adj" fmla="val 1772"/>
            </a:avLst>
          </a:prstGeom>
          <a:solidFill>
            <a:srgbClr val="FEFEFE"/>
          </a:solidFill>
          <a:ln w="15875">
            <a:solidFill>
              <a:srgbClr val="1E40AF"/>
            </a:solidFill>
            <a:prstDash val="solid"/>
          </a:ln>
          <a:effectLst>
            <a:outerShdw blurRad="50800" dist="254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2" name="Shape 15">
            <a:extLst>
              <a:ext uri="{FF2B5EF4-FFF2-40B4-BE49-F238E27FC236}">
                <a16:creationId xmlns:a16="http://schemas.microsoft.com/office/drawing/2014/main" id="{6D11A521-DC91-A753-4566-123184FA7321}"/>
              </a:ext>
            </a:extLst>
          </p:cNvPr>
          <p:cNvSpPr/>
          <p:nvPr/>
        </p:nvSpPr>
        <p:spPr>
          <a:xfrm>
            <a:off x="6851206" y="5537311"/>
            <a:ext cx="1783127" cy="379564"/>
          </a:xfrm>
          <a:prstGeom prst="roundRect">
            <a:avLst>
              <a:gd name="adj" fmla="val 6000"/>
            </a:avLst>
          </a:prstGeom>
          <a:solidFill>
            <a:srgbClr val="D0E9FE"/>
          </a:solidFill>
          <a:ln w="12700">
            <a:solidFill>
              <a:srgbClr val="D0E9FE">
                <a:alpha val="0"/>
              </a:srgbClr>
            </a:solidFill>
            <a:prstDash val="solid"/>
          </a:ln>
        </p:spPr>
      </p:sp>
      <p:sp>
        <p:nvSpPr>
          <p:cNvPr id="130" name="Shape 15">
            <a:extLst>
              <a:ext uri="{FF2B5EF4-FFF2-40B4-BE49-F238E27FC236}">
                <a16:creationId xmlns:a16="http://schemas.microsoft.com/office/drawing/2014/main" id="{E58CD22F-BD56-C3D4-4B69-B340432E122D}"/>
              </a:ext>
            </a:extLst>
          </p:cNvPr>
          <p:cNvSpPr/>
          <p:nvPr/>
        </p:nvSpPr>
        <p:spPr>
          <a:xfrm>
            <a:off x="6763571" y="4959642"/>
            <a:ext cx="1886347" cy="519501"/>
          </a:xfrm>
          <a:prstGeom prst="roundRect">
            <a:avLst>
              <a:gd name="adj" fmla="val 6000"/>
            </a:avLst>
          </a:prstGeom>
          <a:solidFill>
            <a:srgbClr val="D0E9FE"/>
          </a:solidFill>
          <a:ln w="12700">
            <a:solidFill>
              <a:srgbClr val="D0E9FE">
                <a:alpha val="0"/>
              </a:srgbClr>
            </a:solidFill>
            <a:prstDash val="solid"/>
          </a:ln>
        </p:spPr>
      </p:sp>
      <p:sp>
        <p:nvSpPr>
          <p:cNvPr id="119" name="Shape 9">
            <a:extLst>
              <a:ext uri="{FF2B5EF4-FFF2-40B4-BE49-F238E27FC236}">
                <a16:creationId xmlns:a16="http://schemas.microsoft.com/office/drawing/2014/main" id="{854E8932-1E54-EF0B-81DA-A475F5FE0D19}"/>
              </a:ext>
            </a:extLst>
          </p:cNvPr>
          <p:cNvSpPr/>
          <p:nvPr/>
        </p:nvSpPr>
        <p:spPr>
          <a:xfrm>
            <a:off x="7831916" y="2784977"/>
            <a:ext cx="693076" cy="693076"/>
          </a:xfrm>
          <a:prstGeom prst="ellipse">
            <a:avLst/>
          </a:prstGeom>
          <a:solidFill>
            <a:srgbClr val="E4F1FF"/>
          </a:solidFill>
          <a:ln w="12700">
            <a:solidFill>
              <a:srgbClr val="E4F1FF">
                <a:alpha val="0"/>
              </a:srgbClr>
            </a:solidFill>
            <a:prstDash val="solid"/>
          </a:ln>
        </p:spPr>
      </p:sp>
      <p:sp>
        <p:nvSpPr>
          <p:cNvPr id="117" name="Shape 9">
            <a:extLst>
              <a:ext uri="{FF2B5EF4-FFF2-40B4-BE49-F238E27FC236}">
                <a16:creationId xmlns:a16="http://schemas.microsoft.com/office/drawing/2014/main" id="{4C882862-0780-18C3-BBC3-902E401EABE0}"/>
              </a:ext>
            </a:extLst>
          </p:cNvPr>
          <p:cNvSpPr/>
          <p:nvPr/>
        </p:nvSpPr>
        <p:spPr>
          <a:xfrm>
            <a:off x="6342136" y="2878089"/>
            <a:ext cx="693076" cy="693076"/>
          </a:xfrm>
          <a:prstGeom prst="ellipse">
            <a:avLst/>
          </a:prstGeom>
          <a:solidFill>
            <a:srgbClr val="E4F1FF"/>
          </a:solidFill>
          <a:ln w="12700">
            <a:solidFill>
              <a:srgbClr val="E4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5" name="Shape 9">
            <a:extLst>
              <a:ext uri="{FF2B5EF4-FFF2-40B4-BE49-F238E27FC236}">
                <a16:creationId xmlns:a16="http://schemas.microsoft.com/office/drawing/2014/main" id="{CE2986AE-8EC2-6185-F33D-29B1B7C2E376}"/>
              </a:ext>
            </a:extLst>
          </p:cNvPr>
          <p:cNvSpPr/>
          <p:nvPr/>
        </p:nvSpPr>
        <p:spPr>
          <a:xfrm>
            <a:off x="4895304" y="2867343"/>
            <a:ext cx="693076" cy="693076"/>
          </a:xfrm>
          <a:prstGeom prst="ellipse">
            <a:avLst/>
          </a:prstGeom>
          <a:solidFill>
            <a:srgbClr val="E4F1FF"/>
          </a:solidFill>
          <a:ln w="12700">
            <a:solidFill>
              <a:srgbClr val="E4F1FF">
                <a:alpha val="0"/>
              </a:srgbClr>
            </a:solidFill>
            <a:prstDash val="solid"/>
          </a:ln>
        </p:spPr>
      </p:sp>
      <p:pic>
        <p:nvPicPr>
          <p:cNvPr id="2" name="Image 0" descr="connec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892" y="3611388"/>
            <a:ext cx="14591" cy="240753"/>
          </a:xfrm>
          <a:prstGeom prst="rect">
            <a:avLst/>
          </a:prstGeom>
        </p:spPr>
      </p:pic>
      <p:pic>
        <p:nvPicPr>
          <p:cNvPr id="3" name="Image 1" descr="connec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57" y="3757299"/>
            <a:ext cx="7296" cy="729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8"/>
            <a:ext cx="12212726" cy="773327"/>
          </a:xfrm>
          <a:prstGeom prst="rect">
            <a:avLst/>
          </a:prstGeom>
          <a:solidFill>
            <a:srgbClr val="FEFEFE"/>
          </a:solidFill>
          <a:ln w="12700">
            <a:solidFill>
              <a:srgbClr val="FEFEFE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773425"/>
            <a:ext cx="12212726" cy="0"/>
          </a:xfrm>
          <a:prstGeom prst="line">
            <a:avLst/>
          </a:prstGeom>
          <a:noFill/>
          <a:ln w="15875">
            <a:solidFill>
              <a:srgbClr val="3B82F6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2955" y="912040"/>
            <a:ext cx="5307309" cy="1605018"/>
          </a:xfrm>
          <a:prstGeom prst="roundRect">
            <a:avLst>
              <a:gd name="adj" fmla="val 3418"/>
            </a:avLst>
          </a:prstGeom>
          <a:solidFill>
            <a:srgbClr val="F1F9FE"/>
          </a:solidFill>
          <a:ln w="12700">
            <a:solidFill>
              <a:srgbClr val="F1F9FE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179319" y="904745"/>
            <a:ext cx="5960452" cy="1612313"/>
          </a:xfrm>
          <a:prstGeom prst="roundRect">
            <a:avLst>
              <a:gd name="adj" fmla="val 3403"/>
            </a:avLst>
          </a:prstGeom>
          <a:solidFill>
            <a:srgbClr val="F0F9FE"/>
          </a:solidFill>
          <a:ln w="12700">
            <a:solidFill>
              <a:srgbClr val="F0F9FE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2955" y="2553536"/>
            <a:ext cx="3180853" cy="3779087"/>
          </a:xfrm>
          <a:prstGeom prst="roundRect">
            <a:avLst>
              <a:gd name="adj" fmla="val 1725"/>
            </a:avLst>
          </a:prstGeom>
          <a:solidFill>
            <a:srgbClr val="F2FAFE"/>
          </a:solidFill>
          <a:ln w="12700">
            <a:solidFill>
              <a:srgbClr val="F2FAFE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966213" y="2590013"/>
            <a:ext cx="3188149" cy="3742610"/>
          </a:xfrm>
          <a:prstGeom prst="roundRect">
            <a:avLst>
              <a:gd name="adj" fmla="val 1721"/>
            </a:avLst>
          </a:prstGeom>
          <a:solidFill>
            <a:srgbClr val="F2FAFE"/>
          </a:solidFill>
          <a:ln w="12700">
            <a:solidFill>
              <a:srgbClr val="F2FAFE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0" y="6427465"/>
            <a:ext cx="12212726" cy="430437"/>
          </a:xfrm>
          <a:prstGeom prst="rect">
            <a:avLst/>
          </a:prstGeom>
          <a:solidFill>
            <a:srgbClr val="016FC6"/>
          </a:solidFill>
          <a:ln w="12700">
            <a:solidFill>
              <a:srgbClr val="016FC6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11290" y="2830766"/>
            <a:ext cx="693076" cy="693076"/>
          </a:xfrm>
          <a:prstGeom prst="ellipse">
            <a:avLst/>
          </a:prstGeom>
          <a:solidFill>
            <a:srgbClr val="E4F1FF"/>
          </a:solidFill>
          <a:ln w="12700">
            <a:solidFill>
              <a:srgbClr val="E4F1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45911" y="933927"/>
            <a:ext cx="1276719" cy="284526"/>
          </a:xfrm>
          <a:prstGeom prst="roundRect">
            <a:avLst>
              <a:gd name="adj" fmla="val 16000"/>
            </a:avLst>
          </a:prstGeom>
          <a:solidFill>
            <a:srgbClr val="AFDCFE"/>
          </a:solidFill>
          <a:ln w="12700">
            <a:solidFill>
              <a:srgbClr val="AFDCF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93369" y="933927"/>
            <a:ext cx="1240241" cy="291821"/>
          </a:xfrm>
          <a:prstGeom prst="roundRect">
            <a:avLst>
              <a:gd name="adj" fmla="val 16000"/>
            </a:avLst>
          </a:prstGeom>
          <a:solidFill>
            <a:srgbClr val="B0DBFD"/>
          </a:solidFill>
          <a:ln w="12700">
            <a:solidFill>
              <a:srgbClr val="B0DBFD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31319" y="2590013"/>
            <a:ext cx="2511191" cy="401254"/>
          </a:xfrm>
          <a:prstGeom prst="roundRect">
            <a:avLst>
              <a:gd name="adj" fmla="val 16000"/>
            </a:avLst>
          </a:prstGeom>
          <a:solidFill>
            <a:srgbClr val="BAE6FD"/>
          </a:solidFill>
          <a:ln w="12700">
            <a:solidFill>
              <a:srgbClr val="BAE6FD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024576" y="2590013"/>
            <a:ext cx="2867341" cy="291821"/>
          </a:xfrm>
          <a:prstGeom prst="roundRect">
            <a:avLst>
              <a:gd name="adj" fmla="val 16000"/>
            </a:avLst>
          </a:prstGeom>
          <a:solidFill>
            <a:srgbClr val="BAE6FD"/>
          </a:solidFill>
          <a:ln w="12700">
            <a:solidFill>
              <a:srgbClr val="BAE6FD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501857" y="4230524"/>
            <a:ext cx="5245490" cy="211571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55666" y="4464966"/>
            <a:ext cx="1896839" cy="415846"/>
          </a:xfrm>
          <a:prstGeom prst="roundRect">
            <a:avLst>
              <a:gd name="adj" fmla="val 6000"/>
            </a:avLst>
          </a:prstGeom>
          <a:solidFill>
            <a:srgbClr val="D0E9FE"/>
          </a:solidFill>
          <a:ln w="12700">
            <a:solidFill>
              <a:srgbClr val="D0E9FE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05480" y="5989733"/>
            <a:ext cx="2217843" cy="233457"/>
          </a:xfrm>
          <a:prstGeom prst="roundRect">
            <a:avLst>
              <a:gd name="adj" fmla="val 16000"/>
            </a:avLst>
          </a:prstGeom>
          <a:solidFill>
            <a:srgbClr val="EDF6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075646" y="2962086"/>
            <a:ext cx="452323" cy="452323"/>
          </a:xfrm>
          <a:prstGeom prst="ellipse">
            <a:avLst/>
          </a:prstGeom>
          <a:solidFill>
            <a:srgbClr val="EEEBFA"/>
          </a:solidFill>
          <a:ln w="12700">
            <a:solidFill>
              <a:srgbClr val="EEEBFA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061055" y="3655162"/>
            <a:ext cx="474210" cy="474210"/>
          </a:xfrm>
          <a:prstGeom prst="ellipse">
            <a:avLst/>
          </a:prstGeom>
          <a:solidFill>
            <a:srgbClr val="E9F8F6"/>
          </a:solidFill>
          <a:ln w="12700">
            <a:solidFill>
              <a:srgbClr val="E9F8F6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053760" y="4355533"/>
            <a:ext cx="481505" cy="481505"/>
          </a:xfrm>
          <a:prstGeom prst="ellipse">
            <a:avLst/>
          </a:prstGeom>
          <a:solidFill>
            <a:srgbClr val="F9F9F7"/>
          </a:solidFill>
          <a:ln w="12700">
            <a:solidFill>
              <a:srgbClr val="F9F9F7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053760" y="5063200"/>
            <a:ext cx="481505" cy="481505"/>
          </a:xfrm>
          <a:prstGeom prst="ellipse">
            <a:avLst/>
          </a:prstGeom>
          <a:solidFill>
            <a:srgbClr val="F4F9FD"/>
          </a:solidFill>
          <a:ln w="12700">
            <a:solidFill>
              <a:srgbClr val="F4F9FD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075646" y="5734389"/>
            <a:ext cx="452323" cy="452323"/>
          </a:xfrm>
          <a:prstGeom prst="ellipse">
            <a:avLst/>
          </a:prstGeom>
          <a:solidFill>
            <a:srgbClr val="FBF3F5"/>
          </a:solidFill>
          <a:ln w="12700">
            <a:solidFill>
              <a:srgbClr val="FBF3F5">
                <a:alpha val="0"/>
              </a:srgbClr>
            </a:solidFill>
            <a:prstDash val="solid"/>
          </a:ln>
        </p:spPr>
      </p:sp>
      <p:pic>
        <p:nvPicPr>
          <p:cNvPr id="26" name="Image 2" descr="salv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47" y="1273697"/>
            <a:ext cx="481505" cy="612825"/>
          </a:xfrm>
          <a:prstGeom prst="rect">
            <a:avLst/>
          </a:prstGeom>
        </p:spPr>
      </p:pic>
      <p:pic>
        <p:nvPicPr>
          <p:cNvPr id="27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8315" y="3151770"/>
            <a:ext cx="189684" cy="109433"/>
          </a:xfrm>
          <a:prstGeom prst="rect">
            <a:avLst/>
          </a:prstGeom>
        </p:spPr>
      </p:pic>
      <p:pic>
        <p:nvPicPr>
          <p:cNvPr id="28" name="Image 4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4050" y="3151770"/>
            <a:ext cx="189684" cy="109433"/>
          </a:xfrm>
          <a:prstGeom prst="rect">
            <a:avLst/>
          </a:prstGeom>
        </p:spPr>
      </p:pic>
      <p:pic>
        <p:nvPicPr>
          <p:cNvPr id="29" name="Image 5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9309" y="3151770"/>
            <a:ext cx="167797" cy="109433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3370536" y="2662969"/>
            <a:ext cx="5515425" cy="3669654"/>
          </a:xfrm>
          <a:prstGeom prst="roundRect">
            <a:avLst>
              <a:gd name="adj" fmla="val 1495"/>
            </a:avLst>
          </a:prstGeom>
          <a:noFill/>
          <a:ln w="15875">
            <a:solidFill>
              <a:srgbClr val="E2E8F0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60502" y="80349"/>
            <a:ext cx="1196468" cy="547165"/>
          </a:xfrm>
          <a:prstGeom prst="ellipse">
            <a:avLst/>
          </a:prstGeom>
          <a:noFill/>
          <a:ln w="15875">
            <a:solidFill>
              <a:srgbClr val="7C3AED"/>
            </a:solidFill>
            <a:prstDash val="solid"/>
          </a:ln>
        </p:spPr>
      </p:sp>
      <p:pic>
        <p:nvPicPr>
          <p:cNvPr id="32" name="Image 6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275" y="1276817"/>
            <a:ext cx="1130808" cy="1189172"/>
          </a:xfrm>
          <a:prstGeom prst="rect">
            <a:avLst/>
          </a:prstGeom>
        </p:spPr>
      </p:pic>
      <p:pic>
        <p:nvPicPr>
          <p:cNvPr id="35" name="Image 9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2545" y="4450375"/>
            <a:ext cx="2341867" cy="1772815"/>
          </a:xfrm>
          <a:prstGeom prst="rect">
            <a:avLst/>
          </a:prstGeom>
        </p:spPr>
      </p:pic>
      <p:pic>
        <p:nvPicPr>
          <p:cNvPr id="36" name="Image 10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4812" y="4552512"/>
            <a:ext cx="401254" cy="350186"/>
          </a:xfrm>
          <a:prstGeom prst="rect">
            <a:avLst/>
          </a:prstGeom>
        </p:spPr>
      </p:pic>
      <p:pic>
        <p:nvPicPr>
          <p:cNvPr id="37" name="Image 11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74812" y="5026722"/>
            <a:ext cx="401254" cy="350186"/>
          </a:xfrm>
          <a:prstGeom prst="rect">
            <a:avLst/>
          </a:prstGeom>
        </p:spPr>
      </p:pic>
      <p:pic>
        <p:nvPicPr>
          <p:cNvPr id="38" name="Image 12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74812" y="5486341"/>
            <a:ext cx="401254" cy="342890"/>
          </a:xfrm>
          <a:prstGeom prst="rect">
            <a:avLst/>
          </a:prstGeom>
        </p:spPr>
      </p:pic>
      <p:pic>
        <p:nvPicPr>
          <p:cNvPr id="39" name="Image 13" descr="image"/>
          <p:cNvPicPr>
            <a:picLocks noChangeAspect="1"/>
          </p:cNvPicPr>
          <p:nvPr/>
        </p:nvPicPr>
        <p:blipFill>
          <a:blip r:embed="rId14"/>
          <a:srcRect l="6173" t="2721" r="5591" b="8090"/>
          <a:stretch>
            <a:fillRect/>
          </a:stretch>
        </p:blipFill>
        <p:spPr>
          <a:xfrm>
            <a:off x="7901065" y="2918411"/>
            <a:ext cx="521416" cy="481505"/>
          </a:xfrm>
          <a:prstGeom prst="rect">
            <a:avLst/>
          </a:prstGeom>
        </p:spPr>
      </p:pic>
      <p:pic>
        <p:nvPicPr>
          <p:cNvPr id="41" name="Image 15" descr="imag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20162" y="51167"/>
            <a:ext cx="598234" cy="620121"/>
          </a:xfrm>
          <a:prstGeom prst="rect">
            <a:avLst/>
          </a:prstGeom>
        </p:spPr>
      </p:pic>
      <p:pic>
        <p:nvPicPr>
          <p:cNvPr id="42" name="Image 16" descr="icon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63844" y="2945381"/>
            <a:ext cx="474210" cy="481505"/>
          </a:xfrm>
          <a:prstGeom prst="rect">
            <a:avLst/>
          </a:prstGeom>
        </p:spPr>
      </p:pic>
      <p:pic>
        <p:nvPicPr>
          <p:cNvPr id="43" name="Image 17" descr="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04737" y="2954790"/>
            <a:ext cx="474210" cy="481505"/>
          </a:xfrm>
          <a:prstGeom prst="rect">
            <a:avLst/>
          </a:prstGeom>
        </p:spPr>
      </p:pic>
      <p:pic>
        <p:nvPicPr>
          <p:cNvPr id="44" name="Image 18" descr="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76950" y="2969381"/>
            <a:ext cx="496096" cy="386663"/>
          </a:xfrm>
          <a:prstGeom prst="rect">
            <a:avLst/>
          </a:prstGeom>
        </p:spPr>
      </p:pic>
      <p:pic>
        <p:nvPicPr>
          <p:cNvPr id="45" name="Image 19" descr="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55897" y="5785458"/>
            <a:ext cx="284526" cy="313708"/>
          </a:xfrm>
          <a:prstGeom prst="rect">
            <a:avLst/>
          </a:prstGeom>
        </p:spPr>
      </p:pic>
      <p:pic>
        <p:nvPicPr>
          <p:cNvPr id="46" name="Image 20" descr="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55897" y="4450375"/>
            <a:ext cx="284526" cy="291821"/>
          </a:xfrm>
          <a:prstGeom prst="rect">
            <a:avLst/>
          </a:prstGeom>
        </p:spPr>
      </p:pic>
      <p:pic>
        <p:nvPicPr>
          <p:cNvPr id="47" name="Image 21" descr="ic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55897" y="3035041"/>
            <a:ext cx="291821" cy="284526"/>
          </a:xfrm>
          <a:prstGeom prst="rect">
            <a:avLst/>
          </a:prstGeom>
        </p:spPr>
      </p:pic>
      <p:pic>
        <p:nvPicPr>
          <p:cNvPr id="48" name="Image 22" descr="icon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63193" y="5063200"/>
            <a:ext cx="269935" cy="306412"/>
          </a:xfrm>
          <a:prstGeom prst="rect">
            <a:avLst/>
          </a:prstGeom>
        </p:spPr>
      </p:pic>
      <p:pic>
        <p:nvPicPr>
          <p:cNvPr id="49" name="Image 23" descr="icon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77784" y="3801072"/>
            <a:ext cx="240753" cy="321004"/>
          </a:xfrm>
          <a:prstGeom prst="rect">
            <a:avLst/>
          </a:prstGeom>
        </p:spPr>
      </p:pic>
      <p:pic>
        <p:nvPicPr>
          <p:cNvPr id="50" name="Image 24" descr="icon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40935" y="6004324"/>
            <a:ext cx="189684" cy="182388"/>
          </a:xfrm>
          <a:prstGeom prst="rect">
            <a:avLst/>
          </a:prstGeom>
        </p:spPr>
      </p:pic>
      <p:sp>
        <p:nvSpPr>
          <p:cNvPr id="51" name="Text 24"/>
          <p:cNvSpPr txBox="1"/>
          <p:nvPr/>
        </p:nvSpPr>
        <p:spPr>
          <a:xfrm>
            <a:off x="532574" y="226162"/>
            <a:ext cx="452323" cy="233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3C3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NextGen</a:t>
            </a:r>
            <a:endParaRPr lang="en-US" sz="1530" dirty="0"/>
          </a:p>
        </p:txBody>
      </p:sp>
      <p:sp>
        <p:nvSpPr>
          <p:cNvPr id="52" name="Text 25"/>
          <p:cNvSpPr txBox="1"/>
          <p:nvPr/>
        </p:nvSpPr>
        <p:spPr>
          <a:xfrm>
            <a:off x="2823372" y="102236"/>
            <a:ext cx="6587869" cy="67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98"/>
              </a:lnSpc>
              <a:buNone/>
            </a:pPr>
            <a:r>
              <a:rPr lang="en-US" sz="2030" b="1" dirty="0">
                <a:solidFill>
                  <a:srgbClr val="01193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SatQuery AI: </a:t>
            </a:r>
            <a:r>
              <a:rPr lang="en-US" sz="2000" b="1" dirty="0">
                <a:solidFill>
                  <a:srgbClr val="01193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Interactive</a:t>
            </a:r>
            <a:r>
              <a:rPr lang="en-US" sz="2030" b="1" dirty="0">
                <a:solidFill>
                  <a:srgbClr val="01193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Vision-Language Assistant for</a:t>
            </a:r>
            <a:endParaRPr lang="en-US" sz="203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298"/>
              </a:lnSpc>
              <a:buNone/>
            </a:pPr>
            <a:r>
              <a:rPr lang="en-US" sz="2030" b="1" dirty="0">
                <a:solidFill>
                  <a:srgbClr val="01193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Multimodal Remote Sensing Image Analysis</a:t>
            </a:r>
            <a:endParaRPr lang="en-US" sz="20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26"/>
          <p:cNvSpPr txBox="1"/>
          <p:nvPr/>
        </p:nvSpPr>
        <p:spPr>
          <a:xfrm>
            <a:off x="11140283" y="175191"/>
            <a:ext cx="824396" cy="47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000" dirty="0"/>
          </a:p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000" dirty="0"/>
          </a:p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00" dirty="0"/>
          </a:p>
        </p:txBody>
      </p:sp>
      <p:sp>
        <p:nvSpPr>
          <p:cNvPr id="54" name="Text 27"/>
          <p:cNvSpPr txBox="1"/>
          <p:nvPr/>
        </p:nvSpPr>
        <p:spPr>
          <a:xfrm>
            <a:off x="295347" y="941449"/>
            <a:ext cx="985094" cy="2701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2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00" dirty="0"/>
          </a:p>
        </p:txBody>
      </p:sp>
      <p:sp>
        <p:nvSpPr>
          <p:cNvPr id="55" name="Text 28"/>
          <p:cNvSpPr txBox="1"/>
          <p:nvPr/>
        </p:nvSpPr>
        <p:spPr>
          <a:xfrm>
            <a:off x="1422629" y="1276817"/>
            <a:ext cx="3771988" cy="116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120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sensing analysts </a:t>
            </a:r>
            <a:r>
              <a:rPr lang="en-US" sz="120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struggle to extract insights</a:t>
            </a:r>
            <a:endParaRPr lang="en-US" sz="1200" dirty="0">
              <a:solidFill>
                <a:srgbClr val="002C5F"/>
              </a:solidFill>
            </a:endParaRPr>
          </a:p>
          <a:p>
            <a:pPr marL="0" indent="0" algn="l">
              <a:lnSpc>
                <a:spcPts val="1436"/>
              </a:lnSpc>
              <a:buNone/>
            </a:pPr>
            <a:r>
              <a:rPr lang="en-US" sz="120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r>
              <a:rPr lang="en-US" sz="120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satellite imagery</a:t>
            </a:r>
            <a:r>
              <a:rPr lang="en-US" sz="120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Existing tools</a:t>
            </a:r>
            <a:endParaRPr lang="en-US" sz="1200" dirty="0">
              <a:solidFill>
                <a:srgbClr val="002C5F"/>
              </a:solidFill>
            </a:endParaRPr>
          </a:p>
          <a:p>
            <a:pPr marL="0" indent="0" algn="l">
              <a:lnSpc>
                <a:spcPts val="1436"/>
              </a:lnSpc>
              <a:buNone/>
            </a:pPr>
            <a:r>
              <a:rPr lang="en-US" sz="120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</a:t>
            </a:r>
            <a:r>
              <a:rPr lang="en-US" sz="120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GIS software </a:t>
            </a:r>
            <a:r>
              <a:rPr lang="en-US" sz="120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20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skills,</a:t>
            </a:r>
            <a:endParaRPr lang="en-US" sz="1200" dirty="0">
              <a:solidFill>
                <a:srgbClr val="002C5F"/>
              </a:solidFill>
            </a:endParaRPr>
          </a:p>
          <a:p>
            <a:pPr marL="0" indent="0" algn="l">
              <a:lnSpc>
                <a:spcPts val="1436"/>
              </a:lnSpc>
              <a:buNone/>
            </a:pPr>
            <a:r>
              <a:rPr lang="en-US" sz="120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natural language queries cannot be answered</a:t>
            </a:r>
            <a:endParaRPr lang="en-US" sz="1200" dirty="0">
              <a:solidFill>
                <a:srgbClr val="002C5F"/>
              </a:solidFill>
            </a:endParaRPr>
          </a:p>
          <a:p>
            <a:pPr marL="0" indent="0" algn="l">
              <a:lnSpc>
                <a:spcPts val="1436"/>
              </a:lnSpc>
              <a:buNone/>
            </a:pPr>
            <a:r>
              <a:rPr lang="en-US" sz="120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directly, delaying critical decisions in </a:t>
            </a:r>
            <a:r>
              <a:rPr lang="en-US" sz="120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agriculture,</a:t>
            </a:r>
            <a:endParaRPr lang="en-US" sz="1200" dirty="0">
              <a:solidFill>
                <a:srgbClr val="002C5F"/>
              </a:solidFill>
            </a:endParaRPr>
          </a:p>
          <a:p>
            <a:pPr marL="0" indent="0" algn="l">
              <a:lnSpc>
                <a:spcPts val="1436"/>
              </a:lnSpc>
              <a:buNone/>
            </a:pPr>
            <a:r>
              <a:rPr lang="en-US" sz="120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disasters, and defence.</a:t>
            </a:r>
            <a:endParaRPr lang="en-US" sz="1200" dirty="0">
              <a:solidFill>
                <a:srgbClr val="002C5F"/>
              </a:solidFill>
            </a:endParaRPr>
          </a:p>
        </p:txBody>
      </p:sp>
      <p:sp>
        <p:nvSpPr>
          <p:cNvPr id="56" name="Text 29"/>
          <p:cNvSpPr txBox="1"/>
          <p:nvPr/>
        </p:nvSpPr>
        <p:spPr>
          <a:xfrm>
            <a:off x="7180916" y="934153"/>
            <a:ext cx="1123709" cy="277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2D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</a:t>
            </a:r>
            <a:endParaRPr lang="en-US" sz="1600" dirty="0"/>
          </a:p>
        </p:txBody>
      </p:sp>
      <p:sp>
        <p:nvSpPr>
          <p:cNvPr id="57" name="Text 30"/>
          <p:cNvSpPr txBox="1"/>
          <p:nvPr/>
        </p:nvSpPr>
        <p:spPr>
          <a:xfrm>
            <a:off x="7113147" y="1298704"/>
            <a:ext cx="4443178" cy="115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6"/>
              </a:lnSpc>
              <a:buNone/>
            </a:pPr>
            <a:r>
              <a:rPr lang="en-US" sz="121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SatQuery AI is an </a:t>
            </a:r>
            <a:r>
              <a:rPr lang="en-US" sz="121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Vision-Language model</a:t>
            </a:r>
            <a:endParaRPr lang="en-US" sz="1210" dirty="0">
              <a:solidFill>
                <a:srgbClr val="002C5F"/>
              </a:solidFill>
            </a:endParaRPr>
          </a:p>
          <a:p>
            <a:pPr marL="0" indent="0" algn="l">
              <a:lnSpc>
                <a:spcPts val="1436"/>
              </a:lnSpc>
              <a:buNone/>
            </a:pPr>
            <a:r>
              <a:rPr lang="en-US" sz="121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allows users to ask natural language questions about</a:t>
            </a:r>
            <a:endParaRPr lang="en-US" sz="1210" dirty="0">
              <a:solidFill>
                <a:srgbClr val="002C5F"/>
              </a:solidFill>
            </a:endParaRPr>
          </a:p>
          <a:p>
            <a:pPr marL="0" indent="0" algn="l">
              <a:lnSpc>
                <a:spcPts val="1436"/>
              </a:lnSpc>
              <a:buNone/>
            </a:pPr>
            <a:r>
              <a:rPr lang="en-US" sz="121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remote sensing images and receive accurate,</a:t>
            </a:r>
            <a:endParaRPr lang="en-US" sz="1210" dirty="0">
              <a:solidFill>
                <a:srgbClr val="002C5F"/>
              </a:solidFill>
            </a:endParaRPr>
          </a:p>
          <a:p>
            <a:pPr marL="0" indent="0" algn="l">
              <a:lnSpc>
                <a:spcPts val="1436"/>
              </a:lnSpc>
              <a:buNone/>
            </a:pPr>
            <a:r>
              <a:rPr lang="en-US" sz="121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source-cited answers with </a:t>
            </a:r>
            <a:r>
              <a:rPr lang="en-US" sz="121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grounding (bounding boxes /</a:t>
            </a:r>
            <a:endParaRPr lang="en-US" sz="1210" dirty="0">
              <a:solidFill>
                <a:srgbClr val="002C5F"/>
              </a:solidFill>
            </a:endParaRPr>
          </a:p>
          <a:p>
            <a:pPr marL="0" indent="0" algn="l">
              <a:lnSpc>
                <a:spcPts val="1436"/>
              </a:lnSpc>
              <a:buNone/>
            </a:pPr>
            <a:r>
              <a:rPr lang="en-US" sz="121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heatmaps). </a:t>
            </a:r>
            <a:r>
              <a:rPr lang="en-US" sz="121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understands </a:t>
            </a:r>
            <a:r>
              <a:rPr lang="en-US" sz="121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text queries </a:t>
            </a:r>
            <a:r>
              <a:rPr lang="en-US" sz="121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21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</a:t>
            </a:r>
            <a:endParaRPr lang="en-US" sz="1210" dirty="0">
              <a:solidFill>
                <a:srgbClr val="002C5F"/>
              </a:solidFill>
            </a:endParaRPr>
          </a:p>
          <a:p>
            <a:pPr marL="0" indent="0" algn="l">
              <a:lnSpc>
                <a:spcPts val="1436"/>
              </a:lnSpc>
              <a:buNone/>
            </a:pPr>
            <a:r>
              <a:rPr lang="en-US" sz="121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imagery </a:t>
            </a:r>
            <a:r>
              <a:rPr lang="en-US" sz="121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simultaneously.</a:t>
            </a:r>
            <a:endParaRPr lang="en-US" sz="1210" dirty="0">
              <a:solidFill>
                <a:srgbClr val="002C5F"/>
              </a:solidFill>
            </a:endParaRPr>
          </a:p>
        </p:txBody>
      </p:sp>
      <p:sp>
        <p:nvSpPr>
          <p:cNvPr id="58" name="Text 31"/>
          <p:cNvSpPr txBox="1"/>
          <p:nvPr/>
        </p:nvSpPr>
        <p:spPr>
          <a:xfrm>
            <a:off x="248048" y="2604506"/>
            <a:ext cx="1948105" cy="3649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600" dirty="0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6783514-8861-B126-0375-18E06070F53E}"/>
              </a:ext>
            </a:extLst>
          </p:cNvPr>
          <p:cNvGrpSpPr/>
          <p:nvPr/>
        </p:nvGrpSpPr>
        <p:grpSpPr>
          <a:xfrm>
            <a:off x="4457572" y="2553536"/>
            <a:ext cx="3093307" cy="313708"/>
            <a:chOff x="4457572" y="2553536"/>
            <a:chExt cx="3093307" cy="313708"/>
          </a:xfrm>
        </p:grpSpPr>
        <p:sp>
          <p:nvSpPr>
            <p:cNvPr id="9" name="Shape 5"/>
            <p:cNvSpPr/>
            <p:nvPr/>
          </p:nvSpPr>
          <p:spPr>
            <a:xfrm>
              <a:off x="4457572" y="2553536"/>
              <a:ext cx="3093307" cy="313708"/>
            </a:xfrm>
            <a:prstGeom prst="roundRect">
              <a:avLst>
                <a:gd name="adj" fmla="val 16000"/>
              </a:avLst>
            </a:prstGeom>
            <a:solidFill>
              <a:srgbClr val="1E50A4"/>
            </a:solidFill>
            <a:ln w="12700">
              <a:solidFill>
                <a:srgbClr val="1E50A4"/>
              </a:solidFill>
              <a:prstDash val="solid"/>
            </a:ln>
          </p:spPr>
        </p:sp>
        <p:sp>
          <p:nvSpPr>
            <p:cNvPr id="70" name="Text 43"/>
            <p:cNvSpPr txBox="1"/>
            <p:nvPr/>
          </p:nvSpPr>
          <p:spPr>
            <a:xfrm>
              <a:off x="4880713" y="2575324"/>
              <a:ext cx="2239729" cy="277427"/>
            </a:xfrm>
            <a:prstGeom prst="rect">
              <a:avLst/>
            </a:prstGeom>
            <a:noFill/>
            <a:ln>
              <a:solidFill>
                <a:srgbClr val="1E50A4"/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390" b="1" dirty="0">
                  <a:solidFill>
                    <a:srgbClr val="F6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How SatQuery AI Works</a:t>
              </a:r>
              <a:endParaRPr lang="en-US" sz="1390" dirty="0"/>
            </a:p>
          </p:txBody>
        </p:sp>
      </p:grpSp>
      <p:sp>
        <p:nvSpPr>
          <p:cNvPr id="71" name="Text 44"/>
          <p:cNvSpPr txBox="1"/>
          <p:nvPr/>
        </p:nvSpPr>
        <p:spPr>
          <a:xfrm>
            <a:off x="3450788" y="3410663"/>
            <a:ext cx="1021572" cy="226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Image</a:t>
            </a:r>
            <a:endParaRPr lang="en-US" sz="840" b="1" dirty="0">
              <a:solidFill>
                <a:srgbClr val="002C5F"/>
              </a:solidFill>
            </a:endParaRPr>
          </a:p>
        </p:txBody>
      </p:sp>
      <p:sp>
        <p:nvSpPr>
          <p:cNvPr id="72" name="Text 45"/>
          <p:cNvSpPr txBox="1"/>
          <p:nvPr/>
        </p:nvSpPr>
        <p:spPr>
          <a:xfrm>
            <a:off x="3541268" y="3873016"/>
            <a:ext cx="868365" cy="204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or select</a:t>
            </a:r>
          </a:p>
          <a:p>
            <a:pPr algn="ctr"/>
            <a:r>
              <a:rPr lang="en-US" sz="800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sensing data</a:t>
            </a:r>
            <a:endParaRPr lang="en-US" sz="1000" dirty="0">
              <a:solidFill>
                <a:srgbClr val="002C5F"/>
              </a:solidFill>
            </a:endParaRPr>
          </a:p>
          <a:p>
            <a:pPr marL="0" indent="0" algn="ctr">
              <a:buNone/>
            </a:pPr>
            <a:endParaRPr lang="en-US" sz="840" dirty="0">
              <a:solidFill>
                <a:srgbClr val="002C5F"/>
              </a:solidFill>
            </a:endParaRPr>
          </a:p>
        </p:txBody>
      </p:sp>
      <p:sp>
        <p:nvSpPr>
          <p:cNvPr id="74" name="Text 47"/>
          <p:cNvSpPr txBox="1"/>
          <p:nvPr/>
        </p:nvSpPr>
        <p:spPr>
          <a:xfrm>
            <a:off x="4822153" y="3551714"/>
            <a:ext cx="1138300" cy="2210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020" b="1" dirty="0">
                <a:solidFill>
                  <a:srgbClr val="002C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Natural Language </a:t>
            </a:r>
          </a:p>
          <a:p>
            <a:pPr algn="ctr"/>
            <a:r>
              <a:rPr lang="en-US" sz="1020" b="1" dirty="0">
                <a:solidFill>
                  <a:srgbClr val="002C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Query</a:t>
            </a:r>
            <a:endParaRPr lang="en-US" sz="102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02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49"/>
          <p:cNvSpPr txBox="1"/>
          <p:nvPr/>
        </p:nvSpPr>
        <p:spPr>
          <a:xfrm>
            <a:off x="4895304" y="3837452"/>
            <a:ext cx="838594" cy="182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800" dirty="0">
                <a:solidFill>
                  <a:srgbClr val="002C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Ask your question </a:t>
            </a:r>
          </a:p>
          <a:p>
            <a:pPr algn="ctr"/>
            <a:r>
              <a:rPr lang="en-US" sz="800" dirty="0">
                <a:solidFill>
                  <a:srgbClr val="002C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 simple language</a:t>
            </a:r>
            <a:endParaRPr lang="en-US" sz="8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 51"/>
          <p:cNvSpPr txBox="1"/>
          <p:nvPr/>
        </p:nvSpPr>
        <p:spPr>
          <a:xfrm>
            <a:off x="6316405" y="3426886"/>
            <a:ext cx="868365" cy="2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SatQuery AI</a:t>
            </a:r>
            <a:endParaRPr lang="en-US" sz="1020" dirty="0">
              <a:solidFill>
                <a:srgbClr val="002C5F"/>
              </a:solidFill>
            </a:endParaRPr>
          </a:p>
        </p:txBody>
      </p:sp>
      <p:sp>
        <p:nvSpPr>
          <p:cNvPr id="79" name="Text 52"/>
          <p:cNvSpPr txBox="1"/>
          <p:nvPr/>
        </p:nvSpPr>
        <p:spPr>
          <a:xfrm>
            <a:off x="5740269" y="3794212"/>
            <a:ext cx="1921360" cy="204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800" dirty="0">
                <a:solidFill>
                  <a:srgbClr val="002C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Understands </a:t>
            </a:r>
            <a:r>
              <a:rPr lang="en-US" sz="800">
                <a:solidFill>
                  <a:srgbClr val="002C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image &amp; </a:t>
            </a:r>
            <a:r>
              <a:rPr lang="en-US" sz="800" dirty="0">
                <a:solidFill>
                  <a:srgbClr val="002C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query </a:t>
            </a:r>
          </a:p>
          <a:p>
            <a:pPr algn="ctr"/>
            <a:r>
              <a:rPr lang="en-US" sz="800" dirty="0">
                <a:solidFill>
                  <a:srgbClr val="002C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using a multimodal </a:t>
            </a:r>
          </a:p>
          <a:p>
            <a:pPr algn="ctr"/>
            <a:r>
              <a:rPr lang="en-US" sz="800" dirty="0">
                <a:solidFill>
                  <a:srgbClr val="002C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model</a:t>
            </a:r>
            <a:endParaRPr lang="en-US" sz="8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 55"/>
          <p:cNvSpPr txBox="1"/>
          <p:nvPr/>
        </p:nvSpPr>
        <p:spPr>
          <a:xfrm>
            <a:off x="7814108" y="3551008"/>
            <a:ext cx="846302" cy="189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020" b="1" dirty="0">
                <a:solidFill>
                  <a:srgbClr val="002C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Answer &amp; Visual </a:t>
            </a:r>
          </a:p>
          <a:p>
            <a:pPr algn="ctr"/>
            <a:r>
              <a:rPr lang="en-US" sz="1020" b="1" dirty="0">
                <a:solidFill>
                  <a:srgbClr val="002C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Evidence</a:t>
            </a:r>
            <a:endParaRPr lang="en-US" sz="1020" b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020" b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56"/>
          <p:cNvSpPr txBox="1"/>
          <p:nvPr/>
        </p:nvSpPr>
        <p:spPr>
          <a:xfrm>
            <a:off x="7930247" y="3633177"/>
            <a:ext cx="591135" cy="1752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20" dirty="0"/>
          </a:p>
        </p:txBody>
      </p:sp>
      <p:sp>
        <p:nvSpPr>
          <p:cNvPr id="84" name="Text 57"/>
          <p:cNvSpPr txBox="1"/>
          <p:nvPr/>
        </p:nvSpPr>
        <p:spPr>
          <a:xfrm>
            <a:off x="7781553" y="3894903"/>
            <a:ext cx="868365" cy="1606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800" dirty="0">
                <a:solidFill>
                  <a:srgbClr val="002C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Get results with</a:t>
            </a:r>
          </a:p>
          <a:p>
            <a:pPr algn="ctr"/>
            <a:r>
              <a:rPr lang="en-US" sz="800" dirty="0">
                <a:solidFill>
                  <a:srgbClr val="002C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highlights, confidence and </a:t>
            </a:r>
          </a:p>
          <a:p>
            <a:pPr algn="ctr"/>
            <a:r>
              <a:rPr lang="en-US" sz="800" dirty="0">
                <a:solidFill>
                  <a:srgbClr val="002C5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sources</a:t>
            </a:r>
            <a:endParaRPr lang="en-US" sz="8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8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58"/>
          <p:cNvSpPr txBox="1"/>
          <p:nvPr/>
        </p:nvSpPr>
        <p:spPr>
          <a:xfrm>
            <a:off x="7682199" y="3881225"/>
            <a:ext cx="1131005" cy="2117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20" dirty="0"/>
          </a:p>
        </p:txBody>
      </p:sp>
      <p:sp>
        <p:nvSpPr>
          <p:cNvPr id="87" name="Text 60"/>
          <p:cNvSpPr txBox="1"/>
          <p:nvPr/>
        </p:nvSpPr>
        <p:spPr>
          <a:xfrm>
            <a:off x="3545630" y="4238706"/>
            <a:ext cx="985094" cy="189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🔴🟡🟢 </a:t>
            </a:r>
            <a:r>
              <a:rPr lang="en-US" sz="78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SatQuery</a:t>
            </a: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</a:t>
            </a:r>
            <a:endParaRPr lang="en-US" sz="780" dirty="0"/>
          </a:p>
        </p:txBody>
      </p:sp>
      <p:sp>
        <p:nvSpPr>
          <p:cNvPr id="88" name="Text 61"/>
          <p:cNvSpPr txBox="1"/>
          <p:nvPr/>
        </p:nvSpPr>
        <p:spPr>
          <a:xfrm>
            <a:off x="3655063" y="4866122"/>
            <a:ext cx="248048" cy="1606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1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</a:t>
            </a:r>
            <a:endParaRPr lang="en-US" sz="610" dirty="0"/>
          </a:p>
        </p:txBody>
      </p:sp>
      <p:sp>
        <p:nvSpPr>
          <p:cNvPr id="89" name="Text 62"/>
          <p:cNvSpPr txBox="1"/>
          <p:nvPr/>
        </p:nvSpPr>
        <p:spPr>
          <a:xfrm>
            <a:off x="3698836" y="5340332"/>
            <a:ext cx="160502" cy="138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4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</a:t>
            </a:r>
            <a:endParaRPr lang="en-US" sz="540" dirty="0"/>
          </a:p>
        </p:txBody>
      </p:sp>
      <p:sp>
        <p:nvSpPr>
          <p:cNvPr id="90" name="Text 63"/>
          <p:cNvSpPr txBox="1"/>
          <p:nvPr/>
        </p:nvSpPr>
        <p:spPr>
          <a:xfrm>
            <a:off x="3545630" y="5792655"/>
            <a:ext cx="459619" cy="182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Hyperspecral</a:t>
            </a:r>
            <a:endParaRPr lang="en-US" sz="600" dirty="0"/>
          </a:p>
        </p:txBody>
      </p:sp>
      <p:sp>
        <p:nvSpPr>
          <p:cNvPr id="91" name="Text 64"/>
          <p:cNvSpPr txBox="1"/>
          <p:nvPr/>
        </p:nvSpPr>
        <p:spPr>
          <a:xfrm>
            <a:off x="4242256" y="5975936"/>
            <a:ext cx="882956" cy="146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Water Bodies</a:t>
            </a:r>
            <a:endParaRPr lang="en-US" sz="610" dirty="0"/>
          </a:p>
        </p:txBody>
      </p:sp>
      <p:sp>
        <p:nvSpPr>
          <p:cNvPr id="92" name="Text 65"/>
          <p:cNvSpPr txBox="1"/>
          <p:nvPr/>
        </p:nvSpPr>
        <p:spPr>
          <a:xfrm>
            <a:off x="6806735" y="4523330"/>
            <a:ext cx="1845967" cy="37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Show all water bodies larger than hectares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862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 hectares and detect any change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862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since last year.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 66"/>
          <p:cNvSpPr txBox="1"/>
          <p:nvPr/>
        </p:nvSpPr>
        <p:spPr>
          <a:xfrm>
            <a:off x="6806735" y="4990245"/>
            <a:ext cx="1780307" cy="51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9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 found 3 water bodies larger than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919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 hectares. There is a noticeable increase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919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 area for 1 water body compared to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919"/>
              </a:lnSpc>
              <a:buNone/>
            </a:pPr>
            <a:r>
              <a:rPr lang="en-US" sz="700" dirty="0">
                <a:solidFill>
                  <a:srgbClr val="00206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last year.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 67"/>
          <p:cNvSpPr txBox="1"/>
          <p:nvPr/>
        </p:nvSpPr>
        <p:spPr>
          <a:xfrm>
            <a:off x="6931879" y="5596656"/>
            <a:ext cx="729750" cy="167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94%</a:t>
            </a:r>
            <a:endParaRPr lang="en-US" sz="650" dirty="0"/>
          </a:p>
        </p:txBody>
      </p:sp>
      <p:sp>
        <p:nvSpPr>
          <p:cNvPr id="95" name="Text 68"/>
          <p:cNvSpPr txBox="1"/>
          <p:nvPr/>
        </p:nvSpPr>
        <p:spPr>
          <a:xfrm>
            <a:off x="6945350" y="5705109"/>
            <a:ext cx="1145596" cy="167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ISRO</a:t>
            </a:r>
            <a:endParaRPr lang="en-US" sz="650" dirty="0"/>
          </a:p>
        </p:txBody>
      </p:sp>
      <p:sp>
        <p:nvSpPr>
          <p:cNvPr id="96" name="Text 69"/>
          <p:cNvSpPr txBox="1"/>
          <p:nvPr/>
        </p:nvSpPr>
        <p:spPr>
          <a:xfrm>
            <a:off x="6471140" y="5989635"/>
            <a:ext cx="1145596" cy="226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DA8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another question...</a:t>
            </a:r>
            <a:endParaRPr lang="en-US" sz="800" dirty="0"/>
          </a:p>
        </p:txBody>
      </p:sp>
      <p:sp>
        <p:nvSpPr>
          <p:cNvPr id="97" name="Text 70"/>
          <p:cNvSpPr txBox="1"/>
          <p:nvPr/>
        </p:nvSpPr>
        <p:spPr>
          <a:xfrm>
            <a:off x="9141305" y="2575324"/>
            <a:ext cx="2750613" cy="3357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2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INNOVATION/UNIQUENESS</a:t>
            </a:r>
            <a:endParaRPr lang="en-US" sz="1600" dirty="0"/>
          </a:p>
        </p:txBody>
      </p:sp>
      <p:sp>
        <p:nvSpPr>
          <p:cNvPr id="98" name="Text 71"/>
          <p:cNvSpPr txBox="1"/>
          <p:nvPr/>
        </p:nvSpPr>
        <p:spPr>
          <a:xfrm>
            <a:off x="9571743" y="2991268"/>
            <a:ext cx="2539043" cy="36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79"/>
              </a:lnSpc>
              <a:buNone/>
            </a:pPr>
            <a:r>
              <a:rPr lang="en-US" sz="900" b="1" dirty="0">
                <a:solidFill>
                  <a:srgbClr val="082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India's first conversational Vision-Language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379"/>
              </a:lnSpc>
              <a:buNone/>
            </a:pPr>
            <a:r>
              <a:rPr lang="en-US" sz="900" b="1" dirty="0">
                <a:solidFill>
                  <a:srgbClr val="082354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assistant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 72"/>
          <p:cNvSpPr txBox="1"/>
          <p:nvPr/>
        </p:nvSpPr>
        <p:spPr>
          <a:xfrm>
            <a:off x="9564447" y="3356045"/>
            <a:ext cx="2539043" cy="35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34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Specifically built for multimodal satellite imagery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034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(optical + SAR + hyperspectral).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 73"/>
          <p:cNvSpPr txBox="1"/>
          <p:nvPr/>
        </p:nvSpPr>
        <p:spPr>
          <a:xfrm>
            <a:off x="9571743" y="3786383"/>
            <a:ext cx="1539555" cy="204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2C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Query-to-map grounding</a:t>
            </a:r>
            <a:endParaRPr lang="en-US" sz="950" dirty="0">
              <a:solidFill>
                <a:srgbClr val="002C5F"/>
              </a:solidFill>
            </a:endParaRPr>
          </a:p>
        </p:txBody>
      </p:sp>
      <p:sp>
        <p:nvSpPr>
          <p:cNvPr id="101" name="Text 74"/>
          <p:cNvSpPr txBox="1"/>
          <p:nvPr/>
        </p:nvSpPr>
        <p:spPr>
          <a:xfrm>
            <a:off x="9571743" y="3990756"/>
            <a:ext cx="2553634" cy="34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9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Answers are not just text, they are spatially linked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919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back to the exact pixels in the image.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75"/>
          <p:cNvSpPr txBox="1"/>
          <p:nvPr/>
        </p:nvSpPr>
        <p:spPr>
          <a:xfrm>
            <a:off x="9571743" y="4406503"/>
            <a:ext cx="1561441" cy="2117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61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Multi-temporal reasoning</a:t>
            </a:r>
            <a:endParaRPr lang="en-US" sz="950" dirty="0"/>
          </a:p>
        </p:txBody>
      </p:sp>
      <p:sp>
        <p:nvSpPr>
          <p:cNvPr id="103" name="Text 76"/>
          <p:cNvSpPr txBox="1"/>
          <p:nvPr/>
        </p:nvSpPr>
        <p:spPr>
          <a:xfrm>
            <a:off x="9571743" y="4603581"/>
            <a:ext cx="2210744" cy="357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34"/>
              </a:lnSpc>
              <a:buNone/>
            </a:pPr>
            <a:r>
              <a:rPr lang="en-US" sz="850" dirty="0">
                <a:solidFill>
                  <a:srgbClr val="14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images from different dates using</a:t>
            </a:r>
            <a:endParaRPr lang="en-US" sz="850" dirty="0"/>
          </a:p>
          <a:p>
            <a:pPr marL="0" indent="0" algn="l">
              <a:lnSpc>
                <a:spcPts val="1034"/>
              </a:lnSpc>
              <a:buNone/>
            </a:pPr>
            <a:r>
              <a:rPr lang="en-US" sz="850" dirty="0">
                <a:solidFill>
                  <a:srgbClr val="14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language.</a:t>
            </a:r>
            <a:endParaRPr lang="en-US" sz="850" dirty="0"/>
          </a:p>
        </p:txBody>
      </p:sp>
      <p:sp>
        <p:nvSpPr>
          <p:cNvPr id="104" name="Text 77"/>
          <p:cNvSpPr txBox="1"/>
          <p:nvPr/>
        </p:nvSpPr>
        <p:spPr>
          <a:xfrm>
            <a:off x="9571743" y="5026624"/>
            <a:ext cx="1408235" cy="204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92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Domain-adapted model</a:t>
            </a:r>
            <a:endParaRPr lang="en-US" sz="950" dirty="0"/>
          </a:p>
        </p:txBody>
      </p:sp>
      <p:sp>
        <p:nvSpPr>
          <p:cNvPr id="105" name="Text 78"/>
          <p:cNvSpPr txBox="1"/>
          <p:nvPr/>
        </p:nvSpPr>
        <p:spPr>
          <a:xfrm>
            <a:off x="9571743" y="5238293"/>
            <a:ext cx="2385837" cy="47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1"/>
              </a:lnSpc>
              <a:buNone/>
            </a:pPr>
            <a:r>
              <a:rPr lang="en-US" sz="850" dirty="0">
                <a:solidFill>
                  <a:srgbClr val="1C2A4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Trained/fine-tuned on Indian satellite datasets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091"/>
              </a:lnSpc>
              <a:buNone/>
            </a:pPr>
            <a:r>
              <a:rPr lang="en-US" sz="850" dirty="0">
                <a:solidFill>
                  <a:srgbClr val="1C2A4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(Cartosat, Resourcesat, RISAT, etc.) for better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091"/>
              </a:lnSpc>
              <a:buNone/>
            </a:pPr>
            <a:r>
              <a:rPr lang="en-US" sz="850" dirty="0">
                <a:solidFill>
                  <a:srgbClr val="1C2A46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accuracy on Indian landscapes.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 79"/>
          <p:cNvSpPr txBox="1"/>
          <p:nvPr/>
        </p:nvSpPr>
        <p:spPr>
          <a:xfrm>
            <a:off x="9579038" y="5734291"/>
            <a:ext cx="1233142" cy="2117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2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outputs</a:t>
            </a:r>
            <a:endParaRPr lang="en-US" sz="950" dirty="0"/>
          </a:p>
        </p:txBody>
      </p:sp>
      <p:sp>
        <p:nvSpPr>
          <p:cNvPr id="107" name="Text 80"/>
          <p:cNvSpPr txBox="1"/>
          <p:nvPr/>
        </p:nvSpPr>
        <p:spPr>
          <a:xfrm>
            <a:off x="9564447" y="5945960"/>
            <a:ext cx="2327472" cy="32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1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With confidence scores and visual evidence -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091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critical for scientific and defence use-cases.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 81"/>
          <p:cNvSpPr txBox="1"/>
          <p:nvPr/>
        </p:nvSpPr>
        <p:spPr>
          <a:xfrm>
            <a:off x="11716630" y="6544095"/>
            <a:ext cx="102137" cy="167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3D970AA-6E18-ADFC-32E0-02EE4830A96E}"/>
              </a:ext>
            </a:extLst>
          </p:cNvPr>
          <p:cNvSpPr txBox="1"/>
          <p:nvPr/>
        </p:nvSpPr>
        <p:spPr>
          <a:xfrm>
            <a:off x="93450" y="3046591"/>
            <a:ext cx="315286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50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</a:t>
            </a:r>
            <a:r>
              <a:rPr lang="en-IN" sz="1050" b="1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 one or more remote sensing images</a:t>
            </a:r>
            <a:r>
              <a:rPr lang="en-IN" sz="1050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(or select from ISRO data sources) and type a natural language question (e.g., “Show all water bodies larger than 2 hectares and detect any change since last year”).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0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50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IN" sz="1050" b="1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multimodal Vision-Language model (fine-tuned on remote sensing data)</a:t>
            </a:r>
            <a:r>
              <a:rPr lang="en-IN" sz="1050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jointly understands the image and the text query.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0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50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system returns: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050" b="1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Natural language answer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050" b="1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 grounding (highlighted regions on the image)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050" b="1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Confidence </a:t>
            </a:r>
            <a:r>
              <a:rPr lang="en-IN" sz="1050" b="1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 &amp; </a:t>
            </a:r>
            <a:r>
              <a:rPr lang="en-IN" sz="1050" b="1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citations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IN" sz="1050" b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050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 </a:t>
            </a:r>
            <a:r>
              <a:rPr lang="en-IN" sz="1050" b="1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multi-temporal analysis, change detection, object counting, and semantic segmentation</a:t>
            </a:r>
            <a:r>
              <a:rPr lang="en-IN" sz="1050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through conversation.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">
            <a:extLst>
              <a:ext uri="{FF2B5EF4-FFF2-40B4-BE49-F238E27FC236}">
                <a16:creationId xmlns:a16="http://schemas.microsoft.com/office/drawing/2014/main" id="{289D7200-D0E3-F08F-2F7A-1606E1B79672}"/>
              </a:ext>
            </a:extLst>
          </p:cNvPr>
          <p:cNvSpPr/>
          <p:nvPr/>
        </p:nvSpPr>
        <p:spPr>
          <a:xfrm>
            <a:off x="3398338" y="918292"/>
            <a:ext cx="3398274" cy="301113"/>
          </a:xfrm>
          <a:prstGeom prst="roundRect">
            <a:avLst>
              <a:gd name="adj" fmla="val 16000"/>
            </a:avLst>
          </a:prstGeom>
          <a:solidFill>
            <a:srgbClr val="AFDC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47F46FD1-A3ED-8BF4-F618-9C054FCBDD62}"/>
              </a:ext>
            </a:extLst>
          </p:cNvPr>
          <p:cNvSpPr/>
          <p:nvPr/>
        </p:nvSpPr>
        <p:spPr>
          <a:xfrm>
            <a:off x="3404483" y="3361403"/>
            <a:ext cx="2380846" cy="301113"/>
          </a:xfrm>
          <a:prstGeom prst="roundRect">
            <a:avLst>
              <a:gd name="adj" fmla="val 16000"/>
            </a:avLst>
          </a:prstGeom>
          <a:solidFill>
            <a:srgbClr val="AFDC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C5FCD8FE-FF99-B6BC-A5AC-A9673826D4FA}"/>
              </a:ext>
            </a:extLst>
          </p:cNvPr>
          <p:cNvSpPr/>
          <p:nvPr/>
        </p:nvSpPr>
        <p:spPr>
          <a:xfrm>
            <a:off x="3459790" y="3773129"/>
            <a:ext cx="5045177" cy="534629"/>
          </a:xfrm>
          <a:prstGeom prst="roundRect">
            <a:avLst>
              <a:gd name="adj" fmla="val 6000"/>
            </a:avLst>
          </a:prstGeom>
          <a:solidFill>
            <a:srgbClr val="CDE6FD"/>
          </a:solidFill>
          <a:ln w="12700">
            <a:solidFill>
              <a:srgbClr val="CDE6FD">
                <a:alpha val="0"/>
              </a:srgbClr>
            </a:solidFill>
            <a:prstDash val="solid"/>
          </a:ln>
        </p:spPr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08D00E76-EFDD-563E-78EC-A69F83F4D66F}"/>
              </a:ext>
            </a:extLst>
          </p:cNvPr>
          <p:cNvSpPr/>
          <p:nvPr/>
        </p:nvSpPr>
        <p:spPr>
          <a:xfrm>
            <a:off x="3459790" y="4596294"/>
            <a:ext cx="5051323" cy="645242"/>
          </a:xfrm>
          <a:prstGeom prst="roundRect">
            <a:avLst>
              <a:gd name="adj" fmla="val 5669"/>
            </a:avLst>
          </a:prstGeom>
          <a:solidFill>
            <a:srgbClr val="CDE5FD"/>
          </a:solidFill>
          <a:ln w="12700">
            <a:solidFill>
              <a:srgbClr val="CDE5FD">
                <a:alpha val="0"/>
              </a:srgbClr>
            </a:solidFill>
            <a:prstDash val="solid"/>
          </a:ln>
        </p:spPr>
      </p:sp>
      <p:sp>
        <p:nvSpPr>
          <p:cNvPr id="58" name="Shape 12">
            <a:extLst>
              <a:ext uri="{FF2B5EF4-FFF2-40B4-BE49-F238E27FC236}">
                <a16:creationId xmlns:a16="http://schemas.microsoft.com/office/drawing/2014/main" id="{FA33CCCB-54C9-C205-5B33-D6FE4FEF8189}"/>
              </a:ext>
            </a:extLst>
          </p:cNvPr>
          <p:cNvSpPr/>
          <p:nvPr/>
        </p:nvSpPr>
        <p:spPr>
          <a:xfrm>
            <a:off x="3459790" y="5512947"/>
            <a:ext cx="5051323" cy="700548"/>
          </a:xfrm>
          <a:prstGeom prst="roundRect">
            <a:avLst>
              <a:gd name="adj" fmla="val 5221"/>
            </a:avLst>
          </a:prstGeom>
          <a:solidFill>
            <a:srgbClr val="D5EBFD"/>
          </a:solidFill>
          <a:ln w="12700">
            <a:solidFill>
              <a:srgbClr val="D5EBFD">
                <a:alpha val="0"/>
              </a:srgbClr>
            </a:solidFill>
            <a:prstDash val="solid"/>
          </a:ln>
        </p:spPr>
      </p:sp>
      <p:sp>
        <p:nvSpPr>
          <p:cNvPr id="62" name="Shape 13">
            <a:extLst>
              <a:ext uri="{FF2B5EF4-FFF2-40B4-BE49-F238E27FC236}">
                <a16:creationId xmlns:a16="http://schemas.microsoft.com/office/drawing/2014/main" id="{3AEFB3EB-560B-94AC-6FE6-F1B6F0C01BDA}"/>
              </a:ext>
            </a:extLst>
          </p:cNvPr>
          <p:cNvSpPr/>
          <p:nvPr/>
        </p:nvSpPr>
        <p:spPr>
          <a:xfrm>
            <a:off x="8824701" y="3338781"/>
            <a:ext cx="2715385" cy="264242"/>
          </a:xfrm>
          <a:prstGeom prst="roundRect">
            <a:avLst>
              <a:gd name="adj" fmla="val 16000"/>
            </a:avLst>
          </a:prstGeom>
          <a:solidFill>
            <a:srgbClr val="AFDC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66" name="Shape 14">
            <a:extLst>
              <a:ext uri="{FF2B5EF4-FFF2-40B4-BE49-F238E27FC236}">
                <a16:creationId xmlns:a16="http://schemas.microsoft.com/office/drawing/2014/main" id="{B972601F-C0F0-96D1-5B1B-365F69769BA9}"/>
              </a:ext>
            </a:extLst>
          </p:cNvPr>
          <p:cNvSpPr/>
          <p:nvPr/>
        </p:nvSpPr>
        <p:spPr>
          <a:xfrm>
            <a:off x="8769209" y="5438468"/>
            <a:ext cx="3312242" cy="872613"/>
          </a:xfrm>
          <a:prstGeom prst="roundRect">
            <a:avLst>
              <a:gd name="adj" fmla="val 4192"/>
            </a:avLst>
          </a:prstGeom>
          <a:solidFill>
            <a:srgbClr val="C7E3FD"/>
          </a:solidFill>
          <a:ln w="12700">
            <a:solidFill>
              <a:srgbClr val="C7E3FD">
                <a:alpha val="0"/>
              </a:srgbClr>
            </a:solidFill>
            <a:prstDash val="solid"/>
          </a:ln>
        </p:spPr>
      </p:sp>
      <p:sp>
        <p:nvSpPr>
          <p:cNvPr id="86" name="Shape 19">
            <a:extLst>
              <a:ext uri="{FF2B5EF4-FFF2-40B4-BE49-F238E27FC236}">
                <a16:creationId xmlns:a16="http://schemas.microsoft.com/office/drawing/2014/main" id="{D1AD1C78-1F71-0702-A327-EE812B922B93}"/>
              </a:ext>
            </a:extLst>
          </p:cNvPr>
          <p:cNvSpPr/>
          <p:nvPr/>
        </p:nvSpPr>
        <p:spPr>
          <a:xfrm>
            <a:off x="3447499" y="3779274"/>
            <a:ext cx="774290" cy="522339"/>
          </a:xfrm>
          <a:prstGeom prst="rect">
            <a:avLst/>
          </a:prstGeom>
          <a:solidFill>
            <a:srgbClr val="3178CD"/>
          </a:solidFill>
          <a:ln w="12700">
            <a:solidFill>
              <a:srgbClr val="449CEF">
                <a:alpha val="0"/>
              </a:srgbClr>
            </a:solidFill>
            <a:prstDash val="solid"/>
          </a:ln>
        </p:spPr>
      </p:sp>
      <p:sp>
        <p:nvSpPr>
          <p:cNvPr id="90" name="Shape 20">
            <a:extLst>
              <a:ext uri="{FF2B5EF4-FFF2-40B4-BE49-F238E27FC236}">
                <a16:creationId xmlns:a16="http://schemas.microsoft.com/office/drawing/2014/main" id="{7F6C59EB-FEF0-ECC9-7C98-C72685A8C0DC}"/>
              </a:ext>
            </a:extLst>
          </p:cNvPr>
          <p:cNvSpPr/>
          <p:nvPr/>
        </p:nvSpPr>
        <p:spPr>
          <a:xfrm>
            <a:off x="3453645" y="4602439"/>
            <a:ext cx="768145" cy="626806"/>
          </a:xfrm>
          <a:prstGeom prst="rect">
            <a:avLst/>
          </a:prstGeom>
          <a:solidFill>
            <a:srgbClr val="1371C8"/>
          </a:solidFill>
          <a:ln w="12700">
            <a:solidFill>
              <a:srgbClr val="2F8AE2">
                <a:alpha val="0"/>
              </a:srgbClr>
            </a:solidFill>
            <a:prstDash val="solid"/>
          </a:ln>
        </p:spPr>
      </p:sp>
      <p:sp>
        <p:nvSpPr>
          <p:cNvPr id="94" name="Shape 21">
            <a:extLst>
              <a:ext uri="{FF2B5EF4-FFF2-40B4-BE49-F238E27FC236}">
                <a16:creationId xmlns:a16="http://schemas.microsoft.com/office/drawing/2014/main" id="{FC0DFA95-7FF8-9DA4-D667-ECD6DF1ED497}"/>
              </a:ext>
            </a:extLst>
          </p:cNvPr>
          <p:cNvSpPr/>
          <p:nvPr/>
        </p:nvSpPr>
        <p:spPr>
          <a:xfrm>
            <a:off x="3453645" y="5519092"/>
            <a:ext cx="774290" cy="688258"/>
          </a:xfrm>
          <a:prstGeom prst="rect">
            <a:avLst/>
          </a:prstGeom>
          <a:solidFill>
            <a:srgbClr val="1E50A4"/>
          </a:solidFill>
          <a:ln w="12700">
            <a:solidFill>
              <a:srgbClr val="3E98EF">
                <a:alpha val="0"/>
              </a:srgbClr>
            </a:solidFill>
            <a:prstDash val="solid"/>
          </a:ln>
        </p:spPr>
      </p:sp>
      <p:sp>
        <p:nvSpPr>
          <p:cNvPr id="98" name="Shape 22">
            <a:extLst>
              <a:ext uri="{FF2B5EF4-FFF2-40B4-BE49-F238E27FC236}">
                <a16:creationId xmlns:a16="http://schemas.microsoft.com/office/drawing/2014/main" id="{653469F4-3E7F-0A03-8797-279A681CBD8B}"/>
              </a:ext>
            </a:extLst>
          </p:cNvPr>
          <p:cNvSpPr/>
          <p:nvPr/>
        </p:nvSpPr>
        <p:spPr>
          <a:xfrm>
            <a:off x="8861386" y="6009968"/>
            <a:ext cx="3121742" cy="0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pic>
        <p:nvPicPr>
          <p:cNvPr id="104" name="Image 2" descr="icon">
            <a:extLst>
              <a:ext uri="{FF2B5EF4-FFF2-40B4-BE49-F238E27FC236}">
                <a16:creationId xmlns:a16="http://schemas.microsoft.com/office/drawing/2014/main" id="{DB3EB06D-CDD8-F645-3538-C25A3DD4B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483" y="5260995"/>
            <a:ext cx="147484" cy="208935"/>
          </a:xfrm>
          <a:prstGeom prst="rect">
            <a:avLst/>
          </a:prstGeom>
        </p:spPr>
      </p:pic>
      <p:pic>
        <p:nvPicPr>
          <p:cNvPr id="108" name="Image 3" descr="icon">
            <a:extLst>
              <a:ext uri="{FF2B5EF4-FFF2-40B4-BE49-F238E27FC236}">
                <a16:creationId xmlns:a16="http://schemas.microsoft.com/office/drawing/2014/main" id="{B7152E7D-F7A4-348C-20CC-DF1B139CB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338" y="4368923"/>
            <a:ext cx="159774" cy="190500"/>
          </a:xfrm>
          <a:prstGeom prst="rect">
            <a:avLst/>
          </a:prstGeom>
        </p:spPr>
      </p:pic>
      <p:sp>
        <p:nvSpPr>
          <p:cNvPr id="140" name="Shape 25">
            <a:extLst>
              <a:ext uri="{FF2B5EF4-FFF2-40B4-BE49-F238E27FC236}">
                <a16:creationId xmlns:a16="http://schemas.microsoft.com/office/drawing/2014/main" id="{54BAA2A1-2CDB-E1F3-79B4-F546EDAD3318}"/>
              </a:ext>
            </a:extLst>
          </p:cNvPr>
          <p:cNvSpPr/>
          <p:nvPr/>
        </p:nvSpPr>
        <p:spPr>
          <a:xfrm>
            <a:off x="165983" y="860323"/>
            <a:ext cx="3078726" cy="5493774"/>
          </a:xfrm>
          <a:prstGeom prst="roundRect">
            <a:avLst>
              <a:gd name="adj" fmla="val 1782"/>
            </a:avLst>
          </a:prstGeom>
          <a:solidFill>
            <a:srgbClr val="F1F8FE"/>
          </a:solidFill>
          <a:ln w="15875">
            <a:solidFill>
              <a:srgbClr val="BFDBFE"/>
            </a:solidFill>
            <a:prstDash val="solid"/>
          </a:ln>
        </p:spPr>
      </p:sp>
      <p:sp>
        <p:nvSpPr>
          <p:cNvPr id="144" name="Shape 26">
            <a:extLst>
              <a:ext uri="{FF2B5EF4-FFF2-40B4-BE49-F238E27FC236}">
                <a16:creationId xmlns:a16="http://schemas.microsoft.com/office/drawing/2014/main" id="{6BA70394-50B4-1001-E5D9-595648F3066F}"/>
              </a:ext>
            </a:extLst>
          </p:cNvPr>
          <p:cNvSpPr/>
          <p:nvPr/>
        </p:nvSpPr>
        <p:spPr>
          <a:xfrm>
            <a:off x="3318451" y="872318"/>
            <a:ext cx="8812161" cy="2360036"/>
          </a:xfrm>
          <a:prstGeom prst="roundRect">
            <a:avLst>
              <a:gd name="adj" fmla="val 2238"/>
            </a:avLst>
          </a:prstGeom>
          <a:solidFill>
            <a:srgbClr val="F1F8FE"/>
          </a:solidFill>
          <a:ln w="15875">
            <a:solidFill>
              <a:srgbClr val="BFDBFE"/>
            </a:solidFill>
            <a:prstDash val="solid"/>
          </a:ln>
        </p:spPr>
      </p:sp>
      <p:sp>
        <p:nvSpPr>
          <p:cNvPr id="166" name="Shape 34">
            <a:extLst>
              <a:ext uri="{FF2B5EF4-FFF2-40B4-BE49-F238E27FC236}">
                <a16:creationId xmlns:a16="http://schemas.microsoft.com/office/drawing/2014/main" id="{9D553CF1-837F-5775-EE3A-A3E28503D73B}"/>
              </a:ext>
            </a:extLst>
          </p:cNvPr>
          <p:cNvSpPr/>
          <p:nvPr/>
        </p:nvSpPr>
        <p:spPr>
          <a:xfrm>
            <a:off x="3318451" y="3293806"/>
            <a:ext cx="5309419" cy="3041855"/>
          </a:xfrm>
          <a:prstGeom prst="roundRect">
            <a:avLst>
              <a:gd name="adj" fmla="val 1804"/>
            </a:avLst>
          </a:prstGeom>
          <a:noFill/>
          <a:ln w="15875">
            <a:solidFill>
              <a:srgbClr val="BFDBFE"/>
            </a:solidFill>
            <a:prstDash val="solid"/>
          </a:ln>
        </p:spPr>
      </p:sp>
      <p:sp>
        <p:nvSpPr>
          <p:cNvPr id="168" name="Shape 35">
            <a:extLst>
              <a:ext uri="{FF2B5EF4-FFF2-40B4-BE49-F238E27FC236}">
                <a16:creationId xmlns:a16="http://schemas.microsoft.com/office/drawing/2014/main" id="{9B89FA9F-A38E-5E12-6B0C-E401D7476922}"/>
              </a:ext>
            </a:extLst>
          </p:cNvPr>
          <p:cNvSpPr/>
          <p:nvPr/>
        </p:nvSpPr>
        <p:spPr>
          <a:xfrm>
            <a:off x="8713903" y="3293806"/>
            <a:ext cx="3416710" cy="3041855"/>
          </a:xfrm>
          <a:prstGeom prst="roundRect">
            <a:avLst>
              <a:gd name="adj" fmla="val 1804"/>
            </a:avLst>
          </a:prstGeom>
          <a:solidFill>
            <a:srgbClr val="F1F8FE"/>
          </a:solidFill>
          <a:ln w="15875">
            <a:solidFill>
              <a:srgbClr val="BFDBFE"/>
            </a:solidFill>
            <a:prstDash val="solid"/>
          </a:ln>
        </p:spPr>
      </p:sp>
      <p:pic>
        <p:nvPicPr>
          <p:cNvPr id="172" name="Image 10" descr="image">
            <a:extLst>
              <a:ext uri="{FF2B5EF4-FFF2-40B4-BE49-F238E27FC236}">
                <a16:creationId xmlns:a16="http://schemas.microsoft.com/office/drawing/2014/main" id="{BBAF3B81-F44E-A0F9-4D26-78EB90B6E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7386" y="1634613"/>
            <a:ext cx="792726" cy="602226"/>
          </a:xfrm>
          <a:prstGeom prst="rect">
            <a:avLst/>
          </a:prstGeom>
        </p:spPr>
      </p:pic>
      <p:pic>
        <p:nvPicPr>
          <p:cNvPr id="174" name="Image 11" descr="image">
            <a:extLst>
              <a:ext uri="{FF2B5EF4-FFF2-40B4-BE49-F238E27FC236}">
                <a16:creationId xmlns:a16="http://schemas.microsoft.com/office/drawing/2014/main" id="{5081A620-F1FB-8C09-DC6C-066D58E3E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6232" y="1622323"/>
            <a:ext cx="749710" cy="596081"/>
          </a:xfrm>
          <a:prstGeom prst="rect">
            <a:avLst/>
          </a:prstGeom>
        </p:spPr>
      </p:pic>
      <p:pic>
        <p:nvPicPr>
          <p:cNvPr id="178" name="Image 12" descr="image">
            <a:extLst>
              <a:ext uri="{FF2B5EF4-FFF2-40B4-BE49-F238E27FC236}">
                <a16:creationId xmlns:a16="http://schemas.microsoft.com/office/drawing/2014/main" id="{B3865CD8-6408-8B01-3F66-73A57237EB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64" y="1653037"/>
            <a:ext cx="700548" cy="559210"/>
          </a:xfrm>
          <a:prstGeom prst="rect">
            <a:avLst/>
          </a:prstGeom>
        </p:spPr>
      </p:pic>
      <p:pic>
        <p:nvPicPr>
          <p:cNvPr id="181" name="Image 13" descr="image">
            <a:extLst>
              <a:ext uri="{FF2B5EF4-FFF2-40B4-BE49-F238E27FC236}">
                <a16:creationId xmlns:a16="http://schemas.microsoft.com/office/drawing/2014/main" id="{57FE19A4-E026-A0D4-5B27-FB818EC237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2019" y="1696065"/>
            <a:ext cx="768145" cy="528484"/>
          </a:xfrm>
          <a:prstGeom prst="rect">
            <a:avLst/>
          </a:prstGeom>
        </p:spPr>
      </p:pic>
      <p:pic>
        <p:nvPicPr>
          <p:cNvPr id="183" name="Image 14" descr="image">
            <a:extLst>
              <a:ext uri="{FF2B5EF4-FFF2-40B4-BE49-F238E27FC236}">
                <a16:creationId xmlns:a16="http://schemas.microsoft.com/office/drawing/2014/main" id="{07FFB3BD-9B80-4311-CEBF-EDF5298ADF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5059" y="1611473"/>
            <a:ext cx="897194" cy="712839"/>
          </a:xfrm>
          <a:prstGeom prst="rect">
            <a:avLst/>
          </a:prstGeom>
        </p:spPr>
      </p:pic>
      <p:pic>
        <p:nvPicPr>
          <p:cNvPr id="194" name="Image 17" descr="icon">
            <a:extLst>
              <a:ext uri="{FF2B5EF4-FFF2-40B4-BE49-F238E27FC236}">
                <a16:creationId xmlns:a16="http://schemas.microsoft.com/office/drawing/2014/main" id="{D028CFD5-5DA7-3029-CC5D-F82A046E1C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0261" y="5574399"/>
            <a:ext cx="467032" cy="571500"/>
          </a:xfrm>
          <a:prstGeom prst="rect">
            <a:avLst/>
          </a:prstGeom>
        </p:spPr>
      </p:pic>
      <p:pic>
        <p:nvPicPr>
          <p:cNvPr id="198" name="Image 18" descr="icon">
            <a:extLst>
              <a:ext uri="{FF2B5EF4-FFF2-40B4-BE49-F238E27FC236}">
                <a16:creationId xmlns:a16="http://schemas.microsoft.com/office/drawing/2014/main" id="{7AA238FA-7032-D36B-2B9F-727B98BB9D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5680" y="4651600"/>
            <a:ext cx="497758" cy="534629"/>
          </a:xfrm>
          <a:prstGeom prst="rect">
            <a:avLst/>
          </a:prstGeom>
        </p:spPr>
      </p:pic>
      <p:pic>
        <p:nvPicPr>
          <p:cNvPr id="202" name="Image 19" descr="icon">
            <a:extLst>
              <a:ext uri="{FF2B5EF4-FFF2-40B4-BE49-F238E27FC236}">
                <a16:creationId xmlns:a16="http://schemas.microsoft.com/office/drawing/2014/main" id="{87FCE918-8F37-B59C-5465-2313CA7D66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5804" y="2015613"/>
            <a:ext cx="497758" cy="522339"/>
          </a:xfrm>
          <a:prstGeom prst="rect">
            <a:avLst/>
          </a:prstGeom>
        </p:spPr>
      </p:pic>
      <p:pic>
        <p:nvPicPr>
          <p:cNvPr id="206" name="Image 20" descr="icon">
            <a:extLst>
              <a:ext uri="{FF2B5EF4-FFF2-40B4-BE49-F238E27FC236}">
                <a16:creationId xmlns:a16="http://schemas.microsoft.com/office/drawing/2014/main" id="{A0D32040-7BE7-2154-B62F-9F8B1CB257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804" y="5598242"/>
            <a:ext cx="497758" cy="491613"/>
          </a:xfrm>
          <a:prstGeom prst="rect">
            <a:avLst/>
          </a:prstGeom>
        </p:spPr>
      </p:pic>
      <p:pic>
        <p:nvPicPr>
          <p:cNvPr id="210" name="Image 21" descr="icon">
            <a:extLst>
              <a:ext uri="{FF2B5EF4-FFF2-40B4-BE49-F238E27FC236}">
                <a16:creationId xmlns:a16="http://schemas.microsoft.com/office/drawing/2014/main" id="{CA615129-A7F8-54F1-4987-CCE6C35003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804" y="3570339"/>
            <a:ext cx="497758" cy="491613"/>
          </a:xfrm>
          <a:prstGeom prst="rect">
            <a:avLst/>
          </a:prstGeom>
        </p:spPr>
      </p:pic>
      <p:pic>
        <p:nvPicPr>
          <p:cNvPr id="214" name="Image 22" descr="icon">
            <a:extLst>
              <a:ext uri="{FF2B5EF4-FFF2-40B4-BE49-F238E27FC236}">
                <a16:creationId xmlns:a16="http://schemas.microsoft.com/office/drawing/2014/main" id="{A62E429F-B397-E65C-9CCC-85D53F84F98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5804" y="4848532"/>
            <a:ext cx="491613" cy="491613"/>
          </a:xfrm>
          <a:prstGeom prst="rect">
            <a:avLst/>
          </a:prstGeom>
        </p:spPr>
      </p:pic>
      <p:pic>
        <p:nvPicPr>
          <p:cNvPr id="218" name="Image 23" descr="icon">
            <a:extLst>
              <a:ext uri="{FF2B5EF4-FFF2-40B4-BE49-F238E27FC236}">
                <a16:creationId xmlns:a16="http://schemas.microsoft.com/office/drawing/2014/main" id="{A74CC7B4-EE6E-E4B1-C139-287DC595518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5804" y="1327355"/>
            <a:ext cx="485468" cy="491613"/>
          </a:xfrm>
          <a:prstGeom prst="rect">
            <a:avLst/>
          </a:prstGeom>
        </p:spPr>
      </p:pic>
      <p:pic>
        <p:nvPicPr>
          <p:cNvPr id="222" name="Image 24" descr="icon">
            <a:extLst>
              <a:ext uri="{FF2B5EF4-FFF2-40B4-BE49-F238E27FC236}">
                <a16:creationId xmlns:a16="http://schemas.microsoft.com/office/drawing/2014/main" id="{3A980A45-78D4-6B34-A483-30D22564C8D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1950" y="4191000"/>
            <a:ext cx="479323" cy="497758"/>
          </a:xfrm>
          <a:prstGeom prst="rect">
            <a:avLst/>
          </a:prstGeom>
        </p:spPr>
      </p:pic>
      <p:pic>
        <p:nvPicPr>
          <p:cNvPr id="226" name="Image 25" descr="icon">
            <a:extLst>
              <a:ext uri="{FF2B5EF4-FFF2-40B4-BE49-F238E27FC236}">
                <a16:creationId xmlns:a16="http://schemas.microsoft.com/office/drawing/2014/main" id="{D10CC5D1-415A-8DC2-2820-5FE51DBFCAF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5804" y="2839065"/>
            <a:ext cx="473177" cy="497758"/>
          </a:xfrm>
          <a:prstGeom prst="rect">
            <a:avLst/>
          </a:prstGeom>
        </p:spPr>
      </p:pic>
      <p:pic>
        <p:nvPicPr>
          <p:cNvPr id="230" name="Image 26" descr="icon">
            <a:extLst>
              <a:ext uri="{FF2B5EF4-FFF2-40B4-BE49-F238E27FC236}">
                <a16:creationId xmlns:a16="http://schemas.microsoft.com/office/drawing/2014/main" id="{E9A5F82C-A6FA-DEE4-9EB9-B8163CA674C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47970" y="3822290"/>
            <a:ext cx="393290" cy="424016"/>
          </a:xfrm>
          <a:prstGeom prst="rect">
            <a:avLst/>
          </a:prstGeom>
        </p:spPr>
      </p:pic>
      <p:pic>
        <p:nvPicPr>
          <p:cNvPr id="234" name="Image 27" descr="icon">
            <a:extLst>
              <a:ext uri="{FF2B5EF4-FFF2-40B4-BE49-F238E27FC236}">
                <a16:creationId xmlns:a16="http://schemas.microsoft.com/office/drawing/2014/main" id="{2D4E0D44-E6C5-0D1F-E9A3-F56B72E4EEA6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10170" t="5769" r="-1"/>
          <a:stretch>
            <a:fillRect/>
          </a:stretch>
        </p:blipFill>
        <p:spPr>
          <a:xfrm>
            <a:off x="4227935" y="1948015"/>
            <a:ext cx="325694" cy="301113"/>
          </a:xfrm>
          <a:prstGeom prst="rect">
            <a:avLst/>
          </a:prstGeom>
        </p:spPr>
      </p:pic>
      <p:pic>
        <p:nvPicPr>
          <p:cNvPr id="238" name="Image 28" descr="icon">
            <a:extLst>
              <a:ext uri="{FF2B5EF4-FFF2-40B4-BE49-F238E27FC236}">
                <a16:creationId xmlns:a16="http://schemas.microsoft.com/office/drawing/2014/main" id="{6B46AFFD-3063-ECF6-FF65-7C77E787A3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44661" y="1954149"/>
            <a:ext cx="337984" cy="270387"/>
          </a:xfrm>
          <a:prstGeom prst="rect">
            <a:avLst/>
          </a:prstGeom>
        </p:spPr>
      </p:pic>
      <p:pic>
        <p:nvPicPr>
          <p:cNvPr id="242" name="Image 29" descr="icon">
            <a:extLst>
              <a:ext uri="{FF2B5EF4-FFF2-40B4-BE49-F238E27FC236}">
                <a16:creationId xmlns:a16="http://schemas.microsoft.com/office/drawing/2014/main" id="{29951C0B-394E-A614-E830-014EC6AD0C0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73677" y="4485050"/>
            <a:ext cx="307258" cy="294968"/>
          </a:xfrm>
          <a:prstGeom prst="rect">
            <a:avLst/>
          </a:prstGeom>
        </p:spPr>
      </p:pic>
      <p:pic>
        <p:nvPicPr>
          <p:cNvPr id="246" name="Image 30" descr="icon">
            <a:extLst>
              <a:ext uri="{FF2B5EF4-FFF2-40B4-BE49-F238E27FC236}">
                <a16:creationId xmlns:a16="http://schemas.microsoft.com/office/drawing/2014/main" id="{BFD2A7A7-800E-FB7E-DB80-09BF369D8BF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79822" y="5124147"/>
            <a:ext cx="294968" cy="294968"/>
          </a:xfrm>
          <a:prstGeom prst="rect">
            <a:avLst/>
          </a:prstGeom>
        </p:spPr>
      </p:pic>
      <p:pic>
        <p:nvPicPr>
          <p:cNvPr id="250" name="Image 31" descr="icon">
            <a:extLst>
              <a:ext uri="{FF2B5EF4-FFF2-40B4-BE49-F238E27FC236}">
                <a16:creationId xmlns:a16="http://schemas.microsoft.com/office/drawing/2014/main" id="{8C42E2E3-2C85-7EDA-4B25-2B8B814D9F7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79822" y="3888969"/>
            <a:ext cx="294968" cy="282677"/>
          </a:xfrm>
          <a:prstGeom prst="rect">
            <a:avLst/>
          </a:prstGeom>
        </p:spPr>
      </p:pic>
      <p:pic>
        <p:nvPicPr>
          <p:cNvPr id="254" name="Image 32" descr="icon">
            <a:extLst>
              <a:ext uri="{FF2B5EF4-FFF2-40B4-BE49-F238E27FC236}">
                <a16:creationId xmlns:a16="http://schemas.microsoft.com/office/drawing/2014/main" id="{4D406A71-BF54-16E4-C0DE-0ABD117F088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79822" y="4177792"/>
            <a:ext cx="301113" cy="276532"/>
          </a:xfrm>
          <a:prstGeom prst="rect">
            <a:avLst/>
          </a:prstGeom>
        </p:spPr>
      </p:pic>
      <p:pic>
        <p:nvPicPr>
          <p:cNvPr id="258" name="Image 33" descr="icon">
            <a:extLst>
              <a:ext uri="{FF2B5EF4-FFF2-40B4-BE49-F238E27FC236}">
                <a16:creationId xmlns:a16="http://schemas.microsoft.com/office/drawing/2014/main" id="{35C7C4BC-BCB4-49D4-1360-E7762D78315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05528" y="1902222"/>
            <a:ext cx="276532" cy="294968"/>
          </a:xfrm>
          <a:prstGeom prst="rect">
            <a:avLst/>
          </a:prstGeom>
        </p:spPr>
      </p:pic>
      <p:pic>
        <p:nvPicPr>
          <p:cNvPr id="262" name="Image 34" descr="icon">
            <a:extLst>
              <a:ext uri="{FF2B5EF4-FFF2-40B4-BE49-F238E27FC236}">
                <a16:creationId xmlns:a16="http://schemas.microsoft.com/office/drawing/2014/main" id="{F6B3B385-2DAA-DE67-ED58-C2B3B7C3E9A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79822" y="4816889"/>
            <a:ext cx="288823" cy="276532"/>
          </a:xfrm>
          <a:prstGeom prst="rect">
            <a:avLst/>
          </a:prstGeom>
        </p:spPr>
      </p:pic>
      <p:pic>
        <p:nvPicPr>
          <p:cNvPr id="266" name="Image 35" descr="icon">
            <a:extLst>
              <a:ext uri="{FF2B5EF4-FFF2-40B4-BE49-F238E27FC236}">
                <a16:creationId xmlns:a16="http://schemas.microsoft.com/office/drawing/2014/main" id="{0D6D256E-3EEA-77BD-884F-36AD41919F6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79822" y="3649308"/>
            <a:ext cx="294968" cy="251952"/>
          </a:xfrm>
          <a:prstGeom prst="rect">
            <a:avLst/>
          </a:prstGeom>
        </p:spPr>
      </p:pic>
      <p:pic>
        <p:nvPicPr>
          <p:cNvPr id="270" name="Image 36" descr="icon">
            <a:extLst>
              <a:ext uri="{FF2B5EF4-FFF2-40B4-BE49-F238E27FC236}">
                <a16:creationId xmlns:a16="http://schemas.microsoft.com/office/drawing/2014/main" id="{3EC781DD-5604-8533-1C06-59E7A4F0A0C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22838" y="5512210"/>
            <a:ext cx="233516" cy="215081"/>
          </a:xfrm>
          <a:prstGeom prst="rect">
            <a:avLst/>
          </a:prstGeom>
        </p:spPr>
      </p:pic>
      <p:pic>
        <p:nvPicPr>
          <p:cNvPr id="274" name="Image 37" descr="icon">
            <a:extLst>
              <a:ext uri="{FF2B5EF4-FFF2-40B4-BE49-F238E27FC236}">
                <a16:creationId xmlns:a16="http://schemas.microsoft.com/office/drawing/2014/main" id="{406F0099-4918-1D2B-1B94-B44C9D1A305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22838" y="5788742"/>
            <a:ext cx="239661" cy="172065"/>
          </a:xfrm>
          <a:prstGeom prst="rect">
            <a:avLst/>
          </a:prstGeom>
        </p:spPr>
      </p:pic>
      <p:sp>
        <p:nvSpPr>
          <p:cNvPr id="282" name="Text 37">
            <a:extLst>
              <a:ext uri="{FF2B5EF4-FFF2-40B4-BE49-F238E27FC236}">
                <a16:creationId xmlns:a16="http://schemas.microsoft.com/office/drawing/2014/main" id="{0A787A1E-8B4D-05A2-9D4D-AF2BEABEC487}"/>
              </a:ext>
            </a:extLst>
          </p:cNvPr>
          <p:cNvSpPr txBox="1"/>
          <p:nvPr/>
        </p:nvSpPr>
        <p:spPr>
          <a:xfrm>
            <a:off x="3908386" y="104763"/>
            <a:ext cx="4473677" cy="4172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TECHNICAL APPROACH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" name="Text 38">
            <a:extLst>
              <a:ext uri="{FF2B5EF4-FFF2-40B4-BE49-F238E27FC236}">
                <a16:creationId xmlns:a16="http://schemas.microsoft.com/office/drawing/2014/main" id="{28A0C134-CCA0-317A-068E-E9ADF8DE1CE8}"/>
              </a:ext>
            </a:extLst>
          </p:cNvPr>
          <p:cNvSpPr txBox="1"/>
          <p:nvPr/>
        </p:nvSpPr>
        <p:spPr>
          <a:xfrm>
            <a:off x="775583" y="1310689"/>
            <a:ext cx="1031797" cy="245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Python 3.10+</a:t>
            </a:r>
            <a:endParaRPr lang="en-US" sz="11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0" name="Text 39">
            <a:extLst>
              <a:ext uri="{FF2B5EF4-FFF2-40B4-BE49-F238E27FC236}">
                <a16:creationId xmlns:a16="http://schemas.microsoft.com/office/drawing/2014/main" id="{FD9644FA-1FFF-BD43-21C8-E6B728A4493E}"/>
              </a:ext>
            </a:extLst>
          </p:cNvPr>
          <p:cNvSpPr txBox="1"/>
          <p:nvPr/>
        </p:nvSpPr>
        <p:spPr>
          <a:xfrm>
            <a:off x="775583" y="1512201"/>
            <a:ext cx="1916700" cy="33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8"/>
              </a:lnSpc>
              <a:buNone/>
            </a:pPr>
            <a:r>
              <a:rPr lang="en-US" sz="9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with PyTorch and Hugging Face</a:t>
            </a:r>
            <a:endParaRPr lang="en-US" sz="9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258"/>
              </a:lnSpc>
              <a:buNone/>
            </a:pPr>
            <a:r>
              <a:rPr lang="en-US" sz="9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Transformers</a:t>
            </a:r>
            <a:endParaRPr lang="en-US" sz="9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4" name="Text 40">
            <a:extLst>
              <a:ext uri="{FF2B5EF4-FFF2-40B4-BE49-F238E27FC236}">
                <a16:creationId xmlns:a16="http://schemas.microsoft.com/office/drawing/2014/main" id="{9CC64AA9-2439-2D26-A554-22B2D6DA4A48}"/>
              </a:ext>
            </a:extLst>
          </p:cNvPr>
          <p:cNvSpPr txBox="1"/>
          <p:nvPr/>
        </p:nvSpPr>
        <p:spPr>
          <a:xfrm>
            <a:off x="775583" y="1998947"/>
            <a:ext cx="1738491" cy="245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Vision-Language Models</a:t>
            </a:r>
            <a:endParaRPr lang="en-US" sz="11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8" name="Text 41">
            <a:extLst>
              <a:ext uri="{FF2B5EF4-FFF2-40B4-BE49-F238E27FC236}">
                <a16:creationId xmlns:a16="http://schemas.microsoft.com/office/drawing/2014/main" id="{7EE2964E-937E-3C76-F9BB-ABB5D0947C28}"/>
              </a:ext>
            </a:extLst>
          </p:cNvPr>
          <p:cNvSpPr txBox="1"/>
          <p:nvPr/>
        </p:nvSpPr>
        <p:spPr>
          <a:xfrm>
            <a:off x="781728" y="2220124"/>
            <a:ext cx="2058039" cy="534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6"/>
              </a:lnSpc>
              <a:buNone/>
            </a:pPr>
            <a:r>
              <a:rPr lang="en-US" sz="9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Fine-tuned LLAVA / RemoteCLIP /</a:t>
            </a:r>
            <a:endParaRPr lang="en-US" sz="9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306"/>
              </a:lnSpc>
              <a:buNone/>
            </a:pPr>
            <a:r>
              <a:rPr lang="en-US" sz="9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GeoChat-style models adapted for</a:t>
            </a:r>
            <a:endParaRPr lang="en-US" sz="9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306"/>
              </a:lnSpc>
              <a:buNone/>
            </a:pPr>
            <a:r>
              <a:rPr lang="en-US" sz="9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satellite imagery</a:t>
            </a:r>
            <a:endParaRPr lang="en-US" sz="9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6" name="Text 42">
            <a:extLst>
              <a:ext uri="{FF2B5EF4-FFF2-40B4-BE49-F238E27FC236}">
                <a16:creationId xmlns:a16="http://schemas.microsoft.com/office/drawing/2014/main" id="{92CE72CE-DF5A-0178-B5B4-5930B2CF7DD4}"/>
              </a:ext>
            </a:extLst>
          </p:cNvPr>
          <p:cNvSpPr txBox="1"/>
          <p:nvPr/>
        </p:nvSpPr>
        <p:spPr>
          <a:xfrm>
            <a:off x="794019" y="2883850"/>
            <a:ext cx="675378" cy="1837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Frontend</a:t>
            </a:r>
            <a:endParaRPr lang="en-US" sz="11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8" name="Text 43">
            <a:extLst>
              <a:ext uri="{FF2B5EF4-FFF2-40B4-BE49-F238E27FC236}">
                <a16:creationId xmlns:a16="http://schemas.microsoft.com/office/drawing/2014/main" id="{D60BEEF5-2511-0FCB-B3E4-2944BFCD5909}"/>
              </a:ext>
            </a:extLst>
          </p:cNvPr>
          <p:cNvSpPr txBox="1"/>
          <p:nvPr/>
        </p:nvSpPr>
        <p:spPr>
          <a:xfrm>
            <a:off x="787874" y="3063486"/>
            <a:ext cx="2254684" cy="39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8"/>
              </a:lnSpc>
              <a:buNone/>
            </a:pPr>
            <a:r>
              <a:rPr lang="en-US" sz="9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Streamilt/Gradio for rapid </a:t>
            </a:r>
            <a:r>
              <a:rPr lang="en-US" sz="900" i="1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prototype +</a:t>
            </a:r>
            <a:endParaRPr lang="en-US" sz="9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258"/>
              </a:lnSpc>
              <a:buNone/>
            </a:pPr>
            <a:r>
              <a:rPr lang="en-US" sz="9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React for final production web app</a:t>
            </a:r>
            <a:endParaRPr lang="en-US" sz="9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3" name="Text 44">
            <a:extLst>
              <a:ext uri="{FF2B5EF4-FFF2-40B4-BE49-F238E27FC236}">
                <a16:creationId xmlns:a16="http://schemas.microsoft.com/office/drawing/2014/main" id="{C3A4AC52-4373-45D7-2753-FC71DBCDD30A}"/>
              </a:ext>
            </a:extLst>
          </p:cNvPr>
          <p:cNvSpPr txBox="1"/>
          <p:nvPr/>
        </p:nvSpPr>
        <p:spPr>
          <a:xfrm>
            <a:off x="800164" y="3633560"/>
            <a:ext cx="669233" cy="1837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Backend</a:t>
            </a:r>
            <a:endParaRPr lang="en-US" sz="11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AA87F0D1-BC8E-5E6F-5343-61BA2BAEA780}"/>
              </a:ext>
            </a:extLst>
          </p:cNvPr>
          <p:cNvGrpSpPr/>
          <p:nvPr/>
        </p:nvGrpSpPr>
        <p:grpSpPr>
          <a:xfrm>
            <a:off x="220700" y="918996"/>
            <a:ext cx="2802194" cy="301113"/>
            <a:chOff x="165983" y="884903"/>
            <a:chExt cx="2802194" cy="301113"/>
          </a:xfrm>
        </p:grpSpPr>
        <p:sp>
          <p:nvSpPr>
            <p:cNvPr id="12" name="Shape 0">
              <a:extLst>
                <a:ext uri="{FF2B5EF4-FFF2-40B4-BE49-F238E27FC236}">
                  <a16:creationId xmlns:a16="http://schemas.microsoft.com/office/drawing/2014/main" id="{4B24181E-9825-9A6D-2C4A-D8A4C2207DCE}"/>
                </a:ext>
              </a:extLst>
            </p:cNvPr>
            <p:cNvSpPr/>
            <p:nvPr/>
          </p:nvSpPr>
          <p:spPr>
            <a:xfrm>
              <a:off x="165983" y="884903"/>
              <a:ext cx="2802194" cy="301113"/>
            </a:xfrm>
            <a:prstGeom prst="roundRect">
              <a:avLst>
                <a:gd name="adj" fmla="val 16000"/>
              </a:avLst>
            </a:prstGeom>
            <a:solidFill>
              <a:srgbClr val="AFDCFE"/>
            </a:solidFill>
            <a:ln w="12700">
              <a:solidFill>
                <a:srgbClr val="1371C8">
                  <a:alpha val="0"/>
                </a:srgbClr>
              </a:solidFill>
              <a:prstDash val="solid"/>
            </a:ln>
          </p:spPr>
        </p:sp>
        <p:sp>
          <p:nvSpPr>
            <p:cNvPr id="315" name="Text 45">
              <a:extLst>
                <a:ext uri="{FF2B5EF4-FFF2-40B4-BE49-F238E27FC236}">
                  <a16:creationId xmlns:a16="http://schemas.microsoft.com/office/drawing/2014/main" id="{E883DEC2-7DAC-D106-00BF-34C7473DF7B5}"/>
                </a:ext>
              </a:extLst>
            </p:cNvPr>
            <p:cNvSpPr txBox="1"/>
            <p:nvPr/>
          </p:nvSpPr>
          <p:spPr>
            <a:xfrm>
              <a:off x="307322" y="903634"/>
              <a:ext cx="2513371" cy="2513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002060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HARDWARE &amp; SOFTWARE</a:t>
              </a:r>
              <a:endParaRPr lang="en-US" sz="1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7" name="Text 46">
            <a:extLst>
              <a:ext uri="{FF2B5EF4-FFF2-40B4-BE49-F238E27FC236}">
                <a16:creationId xmlns:a16="http://schemas.microsoft.com/office/drawing/2014/main" id="{393E682D-B5CC-8B24-AE35-00DBAFE3BD4D}"/>
              </a:ext>
            </a:extLst>
          </p:cNvPr>
          <p:cNvSpPr txBox="1"/>
          <p:nvPr/>
        </p:nvSpPr>
        <p:spPr>
          <a:xfrm>
            <a:off x="794019" y="3841021"/>
            <a:ext cx="540184" cy="1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FastAPI</a:t>
            </a:r>
            <a:endParaRPr lang="en-US" sz="9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9" name="Text 47">
            <a:extLst>
              <a:ext uri="{FF2B5EF4-FFF2-40B4-BE49-F238E27FC236}">
                <a16:creationId xmlns:a16="http://schemas.microsoft.com/office/drawing/2014/main" id="{FB402A27-A016-54F0-85B1-4B6580E0A949}"/>
              </a:ext>
            </a:extLst>
          </p:cNvPr>
          <p:cNvSpPr txBox="1"/>
          <p:nvPr/>
        </p:nvSpPr>
        <p:spPr>
          <a:xfrm>
            <a:off x="787874" y="4248076"/>
            <a:ext cx="1253023" cy="2267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Image Processing</a:t>
            </a:r>
            <a:endParaRPr lang="en-US" sz="11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1" name="Text 48">
            <a:extLst>
              <a:ext uri="{FF2B5EF4-FFF2-40B4-BE49-F238E27FC236}">
                <a16:creationId xmlns:a16="http://schemas.microsoft.com/office/drawing/2014/main" id="{F94FDC27-9812-EBF8-F5ED-CF96C4991652}"/>
              </a:ext>
            </a:extLst>
          </p:cNvPr>
          <p:cNvSpPr txBox="1"/>
          <p:nvPr/>
        </p:nvSpPr>
        <p:spPr>
          <a:xfrm>
            <a:off x="787874" y="4438576"/>
            <a:ext cx="1461958" cy="239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OpenCV, Rasterio, GDAL</a:t>
            </a:r>
            <a:endParaRPr lang="en-US" sz="9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3" name="Text 49">
            <a:extLst>
              <a:ext uri="{FF2B5EF4-FFF2-40B4-BE49-F238E27FC236}">
                <a16:creationId xmlns:a16="http://schemas.microsoft.com/office/drawing/2014/main" id="{27E6D7DD-56A5-ECA5-E84D-31B3FD7B2A11}"/>
              </a:ext>
            </a:extLst>
          </p:cNvPr>
          <p:cNvSpPr txBox="1"/>
          <p:nvPr/>
        </p:nvSpPr>
        <p:spPr>
          <a:xfrm>
            <a:off x="781728" y="4850302"/>
            <a:ext cx="1216152" cy="245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Cloud/Compute</a:t>
            </a:r>
            <a:endParaRPr lang="en-US" sz="11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5" name="Text 50">
            <a:extLst>
              <a:ext uri="{FF2B5EF4-FFF2-40B4-BE49-F238E27FC236}">
                <a16:creationId xmlns:a16="http://schemas.microsoft.com/office/drawing/2014/main" id="{966FDC54-11BE-3EAD-22A9-EF2FF89E5B4F}"/>
              </a:ext>
            </a:extLst>
          </p:cNvPr>
          <p:cNvSpPr txBox="1"/>
          <p:nvPr/>
        </p:nvSpPr>
        <p:spPr>
          <a:xfrm>
            <a:off x="781728" y="5070004"/>
            <a:ext cx="2051894" cy="404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8"/>
              </a:lnSpc>
              <a:buNone/>
            </a:pPr>
            <a:r>
              <a:rPr lang="en-US" sz="9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Google Colab/Kaggle for </a:t>
            </a:r>
            <a:r>
              <a:rPr lang="en-US" sz="900" i="1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training +</a:t>
            </a:r>
            <a:endParaRPr lang="en-US" sz="9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258"/>
              </a:lnSpc>
              <a:buNone/>
            </a:pPr>
            <a:r>
              <a:rPr lang="en-US" sz="9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lightweight CPU/GPU inference</a:t>
            </a:r>
            <a:endParaRPr lang="en-US" sz="9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" name="Text 51">
            <a:extLst>
              <a:ext uri="{FF2B5EF4-FFF2-40B4-BE49-F238E27FC236}">
                <a16:creationId xmlns:a16="http://schemas.microsoft.com/office/drawing/2014/main" id="{ECCF08A1-A5C4-C8AF-2B6B-2E8E9D1916B5}"/>
              </a:ext>
            </a:extLst>
          </p:cNvPr>
          <p:cNvSpPr txBox="1"/>
          <p:nvPr/>
        </p:nvSpPr>
        <p:spPr>
          <a:xfrm>
            <a:off x="800164" y="5643028"/>
            <a:ext cx="663087" cy="202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Datasets</a:t>
            </a:r>
            <a:endParaRPr lang="en-US" sz="11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9" name="Text 52">
            <a:extLst>
              <a:ext uri="{FF2B5EF4-FFF2-40B4-BE49-F238E27FC236}">
                <a16:creationId xmlns:a16="http://schemas.microsoft.com/office/drawing/2014/main" id="{92BEF34E-47D3-3576-4052-DABF8B92A60E}"/>
              </a:ext>
            </a:extLst>
          </p:cNvPr>
          <p:cNvSpPr txBox="1"/>
          <p:nvPr/>
        </p:nvSpPr>
        <p:spPr>
          <a:xfrm>
            <a:off x="794019" y="5842819"/>
            <a:ext cx="2297700" cy="38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8"/>
              </a:lnSpc>
              <a:buNone/>
            </a:pPr>
            <a:r>
              <a:rPr lang="en-US" sz="9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ISRO public datasets (Cartosat, Resourcesat,</a:t>
            </a:r>
            <a:endParaRPr lang="en-US" sz="9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258"/>
              </a:lnSpc>
              <a:buNone/>
            </a:pPr>
            <a:r>
              <a:rPr lang="en-US" sz="9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RISAT</a:t>
            </a:r>
            <a:r>
              <a:rPr lang="en-US" sz="900" i="1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) &amp; </a:t>
            </a:r>
            <a:r>
              <a:rPr lang="en-US" sz="9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open remote sensing benchmarks</a:t>
            </a:r>
            <a:endParaRPr lang="en-US" sz="9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Text 53">
            <a:extLst>
              <a:ext uri="{FF2B5EF4-FFF2-40B4-BE49-F238E27FC236}">
                <a16:creationId xmlns:a16="http://schemas.microsoft.com/office/drawing/2014/main" id="{8F094EFD-E375-A2E8-1E95-CF04178F5E2F}"/>
              </a:ext>
            </a:extLst>
          </p:cNvPr>
          <p:cNvSpPr txBox="1"/>
          <p:nvPr/>
        </p:nvSpPr>
        <p:spPr>
          <a:xfrm>
            <a:off x="3478225" y="949313"/>
            <a:ext cx="3244645" cy="251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51D6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FLOW CHART / METHODOLOGY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5" name="Text 55">
            <a:extLst>
              <a:ext uri="{FF2B5EF4-FFF2-40B4-BE49-F238E27FC236}">
                <a16:creationId xmlns:a16="http://schemas.microsoft.com/office/drawing/2014/main" id="{F078C82C-5692-E13A-0AFA-2474E8A087A2}"/>
              </a:ext>
            </a:extLst>
          </p:cNvPr>
          <p:cNvSpPr txBox="1"/>
          <p:nvPr/>
        </p:nvSpPr>
        <p:spPr>
          <a:xfrm>
            <a:off x="3443505" y="2366182"/>
            <a:ext cx="1136855" cy="220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User Upload &amp; Query</a:t>
            </a:r>
            <a:endParaRPr lang="en-US" sz="9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" name="Text 56">
            <a:extLst>
              <a:ext uri="{FF2B5EF4-FFF2-40B4-BE49-F238E27FC236}">
                <a16:creationId xmlns:a16="http://schemas.microsoft.com/office/drawing/2014/main" id="{3651A6FA-4BB8-E966-A939-E51ED6893541}"/>
              </a:ext>
            </a:extLst>
          </p:cNvPr>
          <p:cNvSpPr txBox="1"/>
          <p:nvPr/>
        </p:nvSpPr>
        <p:spPr>
          <a:xfrm>
            <a:off x="3490515" y="2556092"/>
            <a:ext cx="995516" cy="49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10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Multimodal satellite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210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image(s) &amp; natural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210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language query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1" name="Text 58">
            <a:extLst>
              <a:ext uri="{FF2B5EF4-FFF2-40B4-BE49-F238E27FC236}">
                <a16:creationId xmlns:a16="http://schemas.microsoft.com/office/drawing/2014/main" id="{E103C5CB-7D00-8787-D2DE-A5A687B49AEB}"/>
              </a:ext>
            </a:extLst>
          </p:cNvPr>
          <p:cNvSpPr txBox="1"/>
          <p:nvPr/>
        </p:nvSpPr>
        <p:spPr>
          <a:xfrm>
            <a:off x="4900508" y="2378472"/>
            <a:ext cx="835742" cy="196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Pre-processing</a:t>
            </a:r>
            <a:endParaRPr lang="en-US" sz="9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3" name="Text 59">
            <a:extLst>
              <a:ext uri="{FF2B5EF4-FFF2-40B4-BE49-F238E27FC236}">
                <a16:creationId xmlns:a16="http://schemas.microsoft.com/office/drawing/2014/main" id="{D0BEDFE1-0A44-53D4-C791-2D12C13352FB}"/>
              </a:ext>
            </a:extLst>
          </p:cNvPr>
          <p:cNvSpPr txBox="1"/>
          <p:nvPr/>
        </p:nvSpPr>
        <p:spPr>
          <a:xfrm>
            <a:off x="4950786" y="2575413"/>
            <a:ext cx="731274" cy="435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3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Normalization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113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and tiling when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113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needed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7" name="Text 61">
            <a:extLst>
              <a:ext uri="{FF2B5EF4-FFF2-40B4-BE49-F238E27FC236}">
                <a16:creationId xmlns:a16="http://schemas.microsoft.com/office/drawing/2014/main" id="{9ED2DA8D-F914-3F5C-62F3-6DCE992663B9}"/>
              </a:ext>
            </a:extLst>
          </p:cNvPr>
          <p:cNvSpPr txBox="1"/>
          <p:nvPr/>
        </p:nvSpPr>
        <p:spPr>
          <a:xfrm>
            <a:off x="6046903" y="2372315"/>
            <a:ext cx="860323" cy="1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Vision Encoder</a:t>
            </a:r>
            <a:endParaRPr lang="en-US" sz="9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9" name="Text 62">
            <a:extLst>
              <a:ext uri="{FF2B5EF4-FFF2-40B4-BE49-F238E27FC236}">
                <a16:creationId xmlns:a16="http://schemas.microsoft.com/office/drawing/2014/main" id="{887594AB-0526-DEA4-780B-9A715740CB72}"/>
              </a:ext>
            </a:extLst>
          </p:cNvPr>
          <p:cNvSpPr txBox="1"/>
          <p:nvPr/>
        </p:nvSpPr>
        <p:spPr>
          <a:xfrm>
            <a:off x="6065338" y="2574527"/>
            <a:ext cx="731274" cy="312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65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Extracts visual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065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features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3" name="Text 64">
            <a:extLst>
              <a:ext uri="{FF2B5EF4-FFF2-40B4-BE49-F238E27FC236}">
                <a16:creationId xmlns:a16="http://schemas.microsoft.com/office/drawing/2014/main" id="{31986451-1352-829E-A467-0A64B111160D}"/>
              </a:ext>
            </a:extLst>
          </p:cNvPr>
          <p:cNvSpPr txBox="1"/>
          <p:nvPr/>
        </p:nvSpPr>
        <p:spPr>
          <a:xfrm>
            <a:off x="7176713" y="2378472"/>
            <a:ext cx="755855" cy="1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Text Encoder</a:t>
            </a:r>
            <a:endParaRPr lang="en-US" sz="9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5" name="Text 65">
            <a:extLst>
              <a:ext uri="{FF2B5EF4-FFF2-40B4-BE49-F238E27FC236}">
                <a16:creationId xmlns:a16="http://schemas.microsoft.com/office/drawing/2014/main" id="{C57A3020-6DD7-D31F-4610-C59DFFC1EEF2}"/>
              </a:ext>
            </a:extLst>
          </p:cNvPr>
          <p:cNvSpPr txBox="1"/>
          <p:nvPr/>
        </p:nvSpPr>
        <p:spPr>
          <a:xfrm>
            <a:off x="7232019" y="2549958"/>
            <a:ext cx="613926" cy="343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3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Processes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113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query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5" name="Text 70">
            <a:extLst>
              <a:ext uri="{FF2B5EF4-FFF2-40B4-BE49-F238E27FC236}">
                <a16:creationId xmlns:a16="http://schemas.microsoft.com/office/drawing/2014/main" id="{8F530933-658F-252A-0676-77049D5F7CDB}"/>
              </a:ext>
            </a:extLst>
          </p:cNvPr>
          <p:cNvSpPr txBox="1"/>
          <p:nvPr/>
        </p:nvSpPr>
        <p:spPr>
          <a:xfrm>
            <a:off x="9583443" y="2335456"/>
            <a:ext cx="977081" cy="257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Visual Grounding</a:t>
            </a:r>
            <a:endParaRPr lang="en-US" sz="9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7" name="Text 71">
            <a:extLst>
              <a:ext uri="{FF2B5EF4-FFF2-40B4-BE49-F238E27FC236}">
                <a16:creationId xmlns:a16="http://schemas.microsoft.com/office/drawing/2014/main" id="{79F0EB7C-1836-B092-CCD7-A791FF598038}"/>
              </a:ext>
            </a:extLst>
          </p:cNvPr>
          <p:cNvSpPr txBox="1"/>
          <p:nvPr/>
        </p:nvSpPr>
        <p:spPr>
          <a:xfrm>
            <a:off x="9669476" y="2545833"/>
            <a:ext cx="817306" cy="318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61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Bounding boxes /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161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heatmaps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1238F32B-36E1-985B-9C99-D1957A063544}"/>
              </a:ext>
            </a:extLst>
          </p:cNvPr>
          <p:cNvGrpSpPr/>
          <p:nvPr/>
        </p:nvGrpSpPr>
        <p:grpSpPr>
          <a:xfrm>
            <a:off x="3413888" y="1209260"/>
            <a:ext cx="8608186" cy="1941167"/>
            <a:chOff x="3435209" y="1209260"/>
            <a:chExt cx="8608186" cy="1941167"/>
          </a:xfrm>
        </p:grpSpPr>
        <p:sp>
          <p:nvSpPr>
            <p:cNvPr id="20" name="Shape 2">
              <a:extLst>
                <a:ext uri="{FF2B5EF4-FFF2-40B4-BE49-F238E27FC236}">
                  <a16:creationId xmlns:a16="http://schemas.microsoft.com/office/drawing/2014/main" id="{ED67DF2F-5195-2F9A-8E5F-04FB856D5D04}"/>
                </a:ext>
              </a:extLst>
            </p:cNvPr>
            <p:cNvSpPr/>
            <p:nvPr/>
          </p:nvSpPr>
          <p:spPr>
            <a:xfrm>
              <a:off x="3896096" y="1265903"/>
              <a:ext cx="301113" cy="301113"/>
            </a:xfrm>
            <a:prstGeom prst="ellipse">
              <a:avLst/>
            </a:prstGeom>
            <a:solidFill>
              <a:srgbClr val="3177CC"/>
            </a:solidFill>
            <a:ln w="12700">
              <a:solidFill>
                <a:srgbClr val="3177CC">
                  <a:alpha val="0"/>
                </a:srgbClr>
              </a:solidFill>
              <a:prstDash val="solid"/>
            </a:ln>
          </p:spPr>
        </p:sp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5824896A-2689-6D34-C34E-39EB1796BAF0}"/>
                </a:ext>
              </a:extLst>
            </p:cNvPr>
            <p:cNvSpPr/>
            <p:nvPr/>
          </p:nvSpPr>
          <p:spPr>
            <a:xfrm>
              <a:off x="5098656" y="1259316"/>
              <a:ext cx="301113" cy="301113"/>
            </a:xfrm>
            <a:prstGeom prst="ellipse">
              <a:avLst/>
            </a:prstGeom>
            <a:solidFill>
              <a:srgbClr val="3178CD"/>
            </a:solidFill>
            <a:ln w="12700">
              <a:solidFill>
                <a:srgbClr val="3178CD">
                  <a:alpha val="0"/>
                </a:srgbClr>
              </a:solidFill>
              <a:prstDash val="solid"/>
            </a:ln>
          </p:spPr>
        </p:sp>
        <p:sp>
          <p:nvSpPr>
            <p:cNvPr id="28" name="Shape 4">
              <a:extLst>
                <a:ext uri="{FF2B5EF4-FFF2-40B4-BE49-F238E27FC236}">
                  <a16:creationId xmlns:a16="http://schemas.microsoft.com/office/drawing/2014/main" id="{445BB0E7-2187-62BC-A306-D4FBC939E87C}"/>
                </a:ext>
              </a:extLst>
            </p:cNvPr>
            <p:cNvSpPr/>
            <p:nvPr/>
          </p:nvSpPr>
          <p:spPr>
            <a:xfrm>
              <a:off x="6292709" y="1265903"/>
              <a:ext cx="301113" cy="301113"/>
            </a:xfrm>
            <a:prstGeom prst="ellipse">
              <a:avLst/>
            </a:prstGeom>
            <a:solidFill>
              <a:srgbClr val="3478CE"/>
            </a:solidFill>
            <a:ln w="12700">
              <a:solidFill>
                <a:srgbClr val="3478CE">
                  <a:alpha val="0"/>
                </a:srgbClr>
              </a:solidFill>
              <a:prstDash val="solid"/>
            </a:ln>
          </p:spPr>
        </p:sp>
        <p:sp>
          <p:nvSpPr>
            <p:cNvPr id="32" name="Shape 5">
              <a:extLst>
                <a:ext uri="{FF2B5EF4-FFF2-40B4-BE49-F238E27FC236}">
                  <a16:creationId xmlns:a16="http://schemas.microsoft.com/office/drawing/2014/main" id="{214A77EA-DF99-3172-8089-595C0AB37763}"/>
                </a:ext>
              </a:extLst>
            </p:cNvPr>
            <p:cNvSpPr/>
            <p:nvPr/>
          </p:nvSpPr>
          <p:spPr>
            <a:xfrm>
              <a:off x="7438781" y="1257693"/>
              <a:ext cx="301113" cy="301113"/>
            </a:xfrm>
            <a:prstGeom prst="ellipse">
              <a:avLst/>
            </a:prstGeom>
            <a:solidFill>
              <a:srgbClr val="3278CE"/>
            </a:solidFill>
            <a:ln w="12700">
              <a:solidFill>
                <a:srgbClr val="3278CE">
                  <a:alpha val="0"/>
                </a:srgbClr>
              </a:solidFill>
              <a:prstDash val="solid"/>
            </a:ln>
          </p:spPr>
        </p:sp>
        <p:sp>
          <p:nvSpPr>
            <p:cNvPr id="36" name="Shape 6">
              <a:extLst>
                <a:ext uri="{FF2B5EF4-FFF2-40B4-BE49-F238E27FC236}">
                  <a16:creationId xmlns:a16="http://schemas.microsoft.com/office/drawing/2014/main" id="{D02316D8-7F5F-0FFF-1D59-555159E7386C}"/>
                </a:ext>
              </a:extLst>
            </p:cNvPr>
            <p:cNvSpPr/>
            <p:nvPr/>
          </p:nvSpPr>
          <p:spPr>
            <a:xfrm>
              <a:off x="8639974" y="1242994"/>
              <a:ext cx="307258" cy="307258"/>
            </a:xfrm>
            <a:prstGeom prst="ellipse">
              <a:avLst/>
            </a:prstGeom>
            <a:solidFill>
              <a:srgbClr val="3178CD"/>
            </a:solidFill>
            <a:ln w="12700">
              <a:solidFill>
                <a:srgbClr val="3178CD">
                  <a:alpha val="0"/>
                </a:srgbClr>
              </a:solidFill>
              <a:prstDash val="solid"/>
            </a:ln>
          </p:spPr>
        </p:sp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B415FD3F-0E65-51B7-6969-14886C6D23EF}"/>
                </a:ext>
              </a:extLst>
            </p:cNvPr>
            <p:cNvSpPr/>
            <p:nvPr/>
          </p:nvSpPr>
          <p:spPr>
            <a:xfrm>
              <a:off x="9909136" y="1209260"/>
              <a:ext cx="313403" cy="313403"/>
            </a:xfrm>
            <a:prstGeom prst="ellipse">
              <a:avLst/>
            </a:prstGeom>
            <a:solidFill>
              <a:srgbClr val="367ACC"/>
            </a:solidFill>
            <a:ln w="12700">
              <a:solidFill>
                <a:srgbClr val="367ACC">
                  <a:alpha val="0"/>
                </a:srgbClr>
              </a:solidFill>
              <a:prstDash val="solid"/>
            </a:ln>
          </p:spPr>
        </p:sp>
        <p:sp>
          <p:nvSpPr>
            <p:cNvPr id="44" name="Shape 8">
              <a:extLst>
                <a:ext uri="{FF2B5EF4-FFF2-40B4-BE49-F238E27FC236}">
                  <a16:creationId xmlns:a16="http://schemas.microsoft.com/office/drawing/2014/main" id="{4FE7A9F8-986F-AE0C-E2D8-847705CDED32}"/>
                </a:ext>
              </a:extLst>
            </p:cNvPr>
            <p:cNvSpPr/>
            <p:nvPr/>
          </p:nvSpPr>
          <p:spPr>
            <a:xfrm>
              <a:off x="11248005" y="1258716"/>
              <a:ext cx="313403" cy="313403"/>
            </a:xfrm>
            <a:prstGeom prst="ellipse">
              <a:avLst/>
            </a:prstGeom>
            <a:solidFill>
              <a:srgbClr val="3277CD"/>
            </a:solidFill>
            <a:ln w="12700">
              <a:solidFill>
                <a:srgbClr val="3277CD">
                  <a:alpha val="0"/>
                </a:srgbClr>
              </a:solidFill>
              <a:prstDash val="solid"/>
            </a:ln>
          </p:spPr>
        </p:sp>
        <p:sp>
          <p:nvSpPr>
            <p:cNvPr id="147" name="Shape 27">
              <a:extLst>
                <a:ext uri="{FF2B5EF4-FFF2-40B4-BE49-F238E27FC236}">
                  <a16:creationId xmlns:a16="http://schemas.microsoft.com/office/drawing/2014/main" id="{0BD10E96-AB1F-1464-A2E4-EE5A2CB81B50}"/>
                </a:ext>
              </a:extLst>
            </p:cNvPr>
            <p:cNvSpPr/>
            <p:nvPr/>
          </p:nvSpPr>
          <p:spPr>
            <a:xfrm>
              <a:off x="3435209" y="1407242"/>
              <a:ext cx="1192161" cy="1714500"/>
            </a:xfrm>
            <a:prstGeom prst="roundRect">
              <a:avLst>
                <a:gd name="adj" fmla="val 3068"/>
              </a:avLst>
            </a:prstGeom>
            <a:noFill/>
            <a:ln w="15875">
              <a:solidFill>
                <a:srgbClr val="3178CD"/>
              </a:solidFill>
              <a:prstDash val="solid"/>
            </a:ln>
          </p:spPr>
        </p:sp>
        <p:sp>
          <p:nvSpPr>
            <p:cNvPr id="149" name="Shape 28">
              <a:extLst>
                <a:ext uri="{FF2B5EF4-FFF2-40B4-BE49-F238E27FC236}">
                  <a16:creationId xmlns:a16="http://schemas.microsoft.com/office/drawing/2014/main" id="{7E45D1DF-648A-A837-F534-33DB9771CBC0}"/>
                </a:ext>
              </a:extLst>
            </p:cNvPr>
            <p:cNvSpPr/>
            <p:nvPr/>
          </p:nvSpPr>
          <p:spPr>
            <a:xfrm>
              <a:off x="4804268" y="1401097"/>
              <a:ext cx="1002382" cy="1726790"/>
            </a:xfrm>
            <a:prstGeom prst="roundRect">
              <a:avLst>
                <a:gd name="adj" fmla="val 3344"/>
              </a:avLst>
            </a:prstGeom>
            <a:noFill/>
            <a:ln w="15875">
              <a:solidFill>
                <a:srgbClr val="3178CD"/>
              </a:solidFill>
              <a:prstDash val="solid"/>
            </a:ln>
          </p:spPr>
        </p:sp>
        <p:sp>
          <p:nvSpPr>
            <p:cNvPr id="151" name="Shape 29">
              <a:extLst>
                <a:ext uri="{FF2B5EF4-FFF2-40B4-BE49-F238E27FC236}">
                  <a16:creationId xmlns:a16="http://schemas.microsoft.com/office/drawing/2014/main" id="{8FB5DA41-E83F-7C0E-BC4A-ED966FD093CB}"/>
                </a:ext>
              </a:extLst>
            </p:cNvPr>
            <p:cNvSpPr/>
            <p:nvPr/>
          </p:nvSpPr>
          <p:spPr>
            <a:xfrm>
              <a:off x="5991954" y="1414419"/>
              <a:ext cx="942245" cy="1708355"/>
            </a:xfrm>
            <a:prstGeom prst="roundRect">
              <a:avLst>
                <a:gd name="adj" fmla="val 3344"/>
              </a:avLst>
            </a:prstGeom>
            <a:noFill/>
            <a:ln w="15875">
              <a:solidFill>
                <a:srgbClr val="3178CD"/>
              </a:solidFill>
              <a:prstDash val="solid"/>
            </a:ln>
          </p:spPr>
        </p:sp>
        <p:sp>
          <p:nvSpPr>
            <p:cNvPr id="153" name="Shape 30">
              <a:extLst>
                <a:ext uri="{FF2B5EF4-FFF2-40B4-BE49-F238E27FC236}">
                  <a16:creationId xmlns:a16="http://schemas.microsoft.com/office/drawing/2014/main" id="{5B8E7E9B-2E6D-D718-693F-ED6B6EBA913E}"/>
                </a:ext>
              </a:extLst>
            </p:cNvPr>
            <p:cNvSpPr/>
            <p:nvPr/>
          </p:nvSpPr>
          <p:spPr>
            <a:xfrm>
              <a:off x="7124942" y="1407242"/>
              <a:ext cx="860323" cy="1714500"/>
            </a:xfrm>
            <a:prstGeom prst="roundRect">
              <a:avLst>
                <a:gd name="adj" fmla="val 3767"/>
              </a:avLst>
            </a:prstGeom>
            <a:noFill/>
            <a:ln w="15875">
              <a:solidFill>
                <a:srgbClr val="3178CD"/>
              </a:solidFill>
              <a:prstDash val="solid"/>
            </a:ln>
          </p:spPr>
        </p:sp>
        <p:sp>
          <p:nvSpPr>
            <p:cNvPr id="156" name="Shape 31">
              <a:extLst>
                <a:ext uri="{FF2B5EF4-FFF2-40B4-BE49-F238E27FC236}">
                  <a16:creationId xmlns:a16="http://schemas.microsoft.com/office/drawing/2014/main" id="{9859834B-9E78-B1DC-9D1D-C2E187884E33}"/>
                </a:ext>
              </a:extLst>
            </p:cNvPr>
            <p:cNvSpPr/>
            <p:nvPr/>
          </p:nvSpPr>
          <p:spPr>
            <a:xfrm>
              <a:off x="8235531" y="1397351"/>
              <a:ext cx="1155290" cy="1726790"/>
            </a:xfrm>
            <a:prstGeom prst="roundRect">
              <a:avLst>
                <a:gd name="adj" fmla="val 3166"/>
              </a:avLst>
            </a:prstGeom>
            <a:noFill/>
            <a:ln w="15875">
              <a:solidFill>
                <a:srgbClr val="3178CD"/>
              </a:solidFill>
              <a:prstDash val="solid"/>
            </a:ln>
          </p:spPr>
        </p:sp>
        <p:sp>
          <p:nvSpPr>
            <p:cNvPr id="160" name="Shape 32">
              <a:extLst>
                <a:ext uri="{FF2B5EF4-FFF2-40B4-BE49-F238E27FC236}">
                  <a16:creationId xmlns:a16="http://schemas.microsoft.com/office/drawing/2014/main" id="{B57F2082-EF21-26E4-D237-72F688D57C97}"/>
                </a:ext>
              </a:extLst>
            </p:cNvPr>
            <p:cNvSpPr/>
            <p:nvPr/>
          </p:nvSpPr>
          <p:spPr>
            <a:xfrm>
              <a:off x="9579966" y="1386766"/>
              <a:ext cx="1011097" cy="1763661"/>
            </a:xfrm>
            <a:prstGeom prst="roundRect">
              <a:avLst>
                <a:gd name="adj" fmla="val 3235"/>
              </a:avLst>
            </a:prstGeom>
            <a:noFill/>
            <a:ln w="15875">
              <a:solidFill>
                <a:srgbClr val="3178CD"/>
              </a:solidFill>
              <a:prstDash val="solid"/>
            </a:ln>
          </p:spPr>
        </p:sp>
        <p:sp>
          <p:nvSpPr>
            <p:cNvPr id="164" name="Shape 33">
              <a:extLst>
                <a:ext uri="{FF2B5EF4-FFF2-40B4-BE49-F238E27FC236}">
                  <a16:creationId xmlns:a16="http://schemas.microsoft.com/office/drawing/2014/main" id="{7E988E72-3760-358C-30A2-006C908346A5}"/>
                </a:ext>
              </a:extLst>
            </p:cNvPr>
            <p:cNvSpPr/>
            <p:nvPr/>
          </p:nvSpPr>
          <p:spPr>
            <a:xfrm>
              <a:off x="10772344" y="1407242"/>
              <a:ext cx="1271051" cy="1726790"/>
            </a:xfrm>
            <a:prstGeom prst="roundRect">
              <a:avLst>
                <a:gd name="adj" fmla="val 2794"/>
              </a:avLst>
            </a:prstGeom>
            <a:noFill/>
            <a:ln w="15875">
              <a:solidFill>
                <a:srgbClr val="3178CD"/>
              </a:solidFill>
              <a:prstDash val="solid"/>
            </a:ln>
          </p:spPr>
        </p:sp>
        <p:sp>
          <p:nvSpPr>
            <p:cNvPr id="333" name="Text 54">
              <a:extLst>
                <a:ext uri="{FF2B5EF4-FFF2-40B4-BE49-F238E27FC236}">
                  <a16:creationId xmlns:a16="http://schemas.microsoft.com/office/drawing/2014/main" id="{8372B5D9-8D9F-09D4-FD9E-15E7885EEEFD}"/>
                </a:ext>
              </a:extLst>
            </p:cNvPr>
            <p:cNvSpPr txBox="1"/>
            <p:nvPr/>
          </p:nvSpPr>
          <p:spPr>
            <a:xfrm>
              <a:off x="3982128" y="1303069"/>
              <a:ext cx="122903" cy="2083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BFCFF"/>
                  </a:solidFill>
                  <a:effectLst>
                    <a:glow rad="25400">
                      <a:srgbClr val="FFFFFF">
                        <a:alpha val="60000"/>
                      </a:srgbClr>
                    </a:glow>
                  </a:effectLst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9" name="Text 57">
              <a:extLst>
                <a:ext uri="{FF2B5EF4-FFF2-40B4-BE49-F238E27FC236}">
                  <a16:creationId xmlns:a16="http://schemas.microsoft.com/office/drawing/2014/main" id="{5C107C23-E784-8FB6-737D-0DAFD31925D8}"/>
                </a:ext>
              </a:extLst>
            </p:cNvPr>
            <p:cNvSpPr txBox="1"/>
            <p:nvPr/>
          </p:nvSpPr>
          <p:spPr>
            <a:xfrm>
              <a:off x="5172398" y="1296482"/>
              <a:ext cx="141339" cy="2083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8FCFF"/>
                  </a:solidFill>
                  <a:effectLst>
                    <a:glow rad="25400">
                      <a:srgbClr val="FFFFFF">
                        <a:alpha val="60000"/>
                      </a:srgbClr>
                    </a:glow>
                  </a:effectLst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2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5" name="Text 60">
              <a:extLst>
                <a:ext uri="{FF2B5EF4-FFF2-40B4-BE49-F238E27FC236}">
                  <a16:creationId xmlns:a16="http://schemas.microsoft.com/office/drawing/2014/main" id="{0A51E131-6B47-2F93-E1FB-B2022720AB9C}"/>
                </a:ext>
              </a:extLst>
            </p:cNvPr>
            <p:cNvSpPr txBox="1"/>
            <p:nvPr/>
          </p:nvSpPr>
          <p:spPr>
            <a:xfrm>
              <a:off x="6372597" y="1303069"/>
              <a:ext cx="129048" cy="2022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EFFFF"/>
                  </a:solidFill>
                  <a:effectLst>
                    <a:glow rad="25400">
                      <a:srgbClr val="FFFFFF">
                        <a:alpha val="60000"/>
                      </a:srgbClr>
                    </a:glow>
                  </a:effectLst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3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1" name="Text 63">
              <a:extLst>
                <a:ext uri="{FF2B5EF4-FFF2-40B4-BE49-F238E27FC236}">
                  <a16:creationId xmlns:a16="http://schemas.microsoft.com/office/drawing/2014/main" id="{8BC09888-9249-98B1-40AE-2D842B42D28C}"/>
                </a:ext>
              </a:extLst>
            </p:cNvPr>
            <p:cNvSpPr txBox="1"/>
            <p:nvPr/>
          </p:nvSpPr>
          <p:spPr>
            <a:xfrm>
              <a:off x="7518668" y="1294859"/>
              <a:ext cx="141339" cy="2083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0FFFF"/>
                  </a:solidFill>
                  <a:effectLst>
                    <a:glow rad="25400">
                      <a:srgbClr val="FFFFFF">
                        <a:alpha val="60000"/>
                      </a:srgbClr>
                    </a:glow>
                  </a:effectLst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4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7" name="Text 66">
              <a:extLst>
                <a:ext uri="{FF2B5EF4-FFF2-40B4-BE49-F238E27FC236}">
                  <a16:creationId xmlns:a16="http://schemas.microsoft.com/office/drawing/2014/main" id="{DD1B1AC7-9176-401C-AAFA-70040BACDD04}"/>
                </a:ext>
              </a:extLst>
            </p:cNvPr>
            <p:cNvSpPr txBox="1"/>
            <p:nvPr/>
          </p:nvSpPr>
          <p:spPr>
            <a:xfrm>
              <a:off x="8726006" y="1286305"/>
              <a:ext cx="129048" cy="2083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0FFFF"/>
                  </a:solidFill>
                  <a:effectLst>
                    <a:glow rad="25400">
                      <a:srgbClr val="FFFFFF">
                        <a:alpha val="60000"/>
                      </a:srgbClr>
                    </a:glow>
                  </a:effectLst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5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3" name="Text 69">
              <a:extLst>
                <a:ext uri="{FF2B5EF4-FFF2-40B4-BE49-F238E27FC236}">
                  <a16:creationId xmlns:a16="http://schemas.microsoft.com/office/drawing/2014/main" id="{A8248779-A749-39CA-4CE2-23171DADF627}"/>
                </a:ext>
              </a:extLst>
            </p:cNvPr>
            <p:cNvSpPr txBox="1"/>
            <p:nvPr/>
          </p:nvSpPr>
          <p:spPr>
            <a:xfrm>
              <a:off x="10001313" y="1258716"/>
              <a:ext cx="135194" cy="2083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3FAFF"/>
                  </a:solidFill>
                  <a:effectLst>
                    <a:glow rad="25400">
                      <a:srgbClr val="FFFFFF">
                        <a:alpha val="60000"/>
                      </a:srgbClr>
                    </a:glow>
                  </a:effectLst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6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9" name="Text 72">
              <a:extLst>
                <a:ext uri="{FF2B5EF4-FFF2-40B4-BE49-F238E27FC236}">
                  <a16:creationId xmlns:a16="http://schemas.microsoft.com/office/drawing/2014/main" id="{5CCAA187-15DA-F9DA-6E74-C8B57BD03781}"/>
                </a:ext>
              </a:extLst>
            </p:cNvPr>
            <p:cNvSpPr txBox="1"/>
            <p:nvPr/>
          </p:nvSpPr>
          <p:spPr>
            <a:xfrm>
              <a:off x="11321747" y="1295882"/>
              <a:ext cx="153629" cy="2267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AFAFF"/>
                  </a:solidFill>
                  <a:effectLst>
                    <a:glow rad="25400">
                      <a:srgbClr val="FFFFFF">
                        <a:alpha val="60000"/>
                      </a:srgbClr>
                    </a:glow>
                  </a:effectLst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7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3" name="Text 74">
            <a:extLst>
              <a:ext uri="{FF2B5EF4-FFF2-40B4-BE49-F238E27FC236}">
                <a16:creationId xmlns:a16="http://schemas.microsoft.com/office/drawing/2014/main" id="{7BF4AC6A-EFF8-619D-5FF2-48339286EDE3}"/>
              </a:ext>
            </a:extLst>
          </p:cNvPr>
          <p:cNvSpPr txBox="1"/>
          <p:nvPr/>
        </p:nvSpPr>
        <p:spPr>
          <a:xfrm>
            <a:off x="11039962" y="2369420"/>
            <a:ext cx="731274" cy="214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Final Output</a:t>
            </a:r>
            <a:endParaRPr lang="en-US" sz="90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5" name="Text 75">
            <a:extLst>
              <a:ext uri="{FF2B5EF4-FFF2-40B4-BE49-F238E27FC236}">
                <a16:creationId xmlns:a16="http://schemas.microsoft.com/office/drawing/2014/main" id="{95EA7781-F0A9-078E-EEE4-14AA1E7BFCA9}"/>
              </a:ext>
            </a:extLst>
          </p:cNvPr>
          <p:cNvSpPr txBox="1"/>
          <p:nvPr/>
        </p:nvSpPr>
        <p:spPr>
          <a:xfrm>
            <a:off x="10821371" y="2560227"/>
            <a:ext cx="1179871" cy="4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3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Natural language answer, 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113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visual highlights &amp;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113"/>
              </a:lnSpc>
              <a:buNone/>
            </a:pPr>
            <a:r>
              <a:rPr lang="en-US" sz="850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confidence score</a:t>
            </a:r>
            <a:endParaRPr lang="en-US" sz="850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7" name="Text 76">
            <a:extLst>
              <a:ext uri="{FF2B5EF4-FFF2-40B4-BE49-F238E27FC236}">
                <a16:creationId xmlns:a16="http://schemas.microsoft.com/office/drawing/2014/main" id="{61106276-C517-1A9B-AAEE-A978B7B6C882}"/>
              </a:ext>
            </a:extLst>
          </p:cNvPr>
          <p:cNvSpPr txBox="1"/>
          <p:nvPr/>
        </p:nvSpPr>
        <p:spPr>
          <a:xfrm>
            <a:off x="3711741" y="3392424"/>
            <a:ext cx="1794387" cy="239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18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3-LAYER APPROACH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9" name="Text 77">
            <a:extLst>
              <a:ext uri="{FF2B5EF4-FFF2-40B4-BE49-F238E27FC236}">
                <a16:creationId xmlns:a16="http://schemas.microsoft.com/office/drawing/2014/main" id="{187912AF-D406-2ECF-009D-DAEF26845E41}"/>
              </a:ext>
            </a:extLst>
          </p:cNvPr>
          <p:cNvSpPr txBox="1"/>
          <p:nvPr/>
        </p:nvSpPr>
        <p:spPr>
          <a:xfrm>
            <a:off x="3539677" y="3908618"/>
            <a:ext cx="540774" cy="245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Layer 1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1" name="Text 78">
            <a:extLst>
              <a:ext uri="{FF2B5EF4-FFF2-40B4-BE49-F238E27FC236}">
                <a16:creationId xmlns:a16="http://schemas.microsoft.com/office/drawing/2014/main" id="{E4779A00-A2C9-13BE-1257-E9E663E9FAC0}"/>
              </a:ext>
            </a:extLst>
          </p:cNvPr>
          <p:cNvSpPr txBox="1"/>
          <p:nvPr/>
        </p:nvSpPr>
        <p:spPr>
          <a:xfrm>
            <a:off x="5153396" y="3920908"/>
            <a:ext cx="2765323" cy="232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E4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Pre-trained Vision-Language Backbone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3" name="Text 79">
            <a:extLst>
              <a:ext uri="{FF2B5EF4-FFF2-40B4-BE49-F238E27FC236}">
                <a16:creationId xmlns:a16="http://schemas.microsoft.com/office/drawing/2014/main" id="{EF713BA2-B853-A520-F17E-D6EB422F8A82}"/>
              </a:ext>
            </a:extLst>
          </p:cNvPr>
          <p:cNvSpPr txBox="1"/>
          <p:nvPr/>
        </p:nvSpPr>
        <p:spPr>
          <a:xfrm>
            <a:off x="3539677" y="4799379"/>
            <a:ext cx="571500" cy="245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Layer 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5" name="Text 80">
            <a:extLst>
              <a:ext uri="{FF2B5EF4-FFF2-40B4-BE49-F238E27FC236}">
                <a16:creationId xmlns:a16="http://schemas.microsoft.com/office/drawing/2014/main" id="{F243CBE8-2856-EB3B-8566-E2DDA4D58813}"/>
              </a:ext>
            </a:extLst>
          </p:cNvPr>
          <p:cNvSpPr txBox="1"/>
          <p:nvPr/>
        </p:nvSpPr>
        <p:spPr>
          <a:xfrm>
            <a:off x="5227753" y="4811669"/>
            <a:ext cx="2931242" cy="220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3145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Domain Adaptation on Indian Satellite Data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7" name="Text 81">
            <a:extLst>
              <a:ext uri="{FF2B5EF4-FFF2-40B4-BE49-F238E27FC236}">
                <a16:creationId xmlns:a16="http://schemas.microsoft.com/office/drawing/2014/main" id="{FB32B7F0-847B-C350-D49B-A287972B5FC4}"/>
              </a:ext>
            </a:extLst>
          </p:cNvPr>
          <p:cNvSpPr txBox="1"/>
          <p:nvPr/>
        </p:nvSpPr>
        <p:spPr>
          <a:xfrm>
            <a:off x="3533532" y="5752903"/>
            <a:ext cx="577645" cy="2452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E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Layer 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" name="Text 82">
            <a:extLst>
              <a:ext uri="{FF2B5EF4-FFF2-40B4-BE49-F238E27FC236}">
                <a16:creationId xmlns:a16="http://schemas.microsoft.com/office/drawing/2014/main" id="{3EBD966D-8F46-77C2-B876-AF1DF964E6E5}"/>
              </a:ext>
            </a:extLst>
          </p:cNvPr>
          <p:cNvSpPr txBox="1"/>
          <p:nvPr/>
        </p:nvSpPr>
        <p:spPr>
          <a:xfrm>
            <a:off x="5214233" y="5703447"/>
            <a:ext cx="2844620" cy="404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2"/>
              </a:lnSpc>
              <a:buNone/>
            </a:pPr>
            <a:r>
              <a:rPr lang="en-US" sz="1300" b="1" dirty="0">
                <a:solidFill>
                  <a:srgbClr val="02105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Query-to-Map Grounding &amp; Multi-Temporal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452"/>
              </a:lnSpc>
              <a:buNone/>
            </a:pPr>
            <a:r>
              <a:rPr lang="en-US" sz="1300" b="1" dirty="0">
                <a:solidFill>
                  <a:srgbClr val="02105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Reasoning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1" name="Text 83">
            <a:extLst>
              <a:ext uri="{FF2B5EF4-FFF2-40B4-BE49-F238E27FC236}">
                <a16:creationId xmlns:a16="http://schemas.microsoft.com/office/drawing/2014/main" id="{F1026A59-5B8E-DEF1-B501-BE2517118B4A}"/>
              </a:ext>
            </a:extLst>
          </p:cNvPr>
          <p:cNvSpPr txBox="1"/>
          <p:nvPr/>
        </p:nvSpPr>
        <p:spPr>
          <a:xfrm>
            <a:off x="9258121" y="3363158"/>
            <a:ext cx="1855839" cy="202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155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FUTURE IMPROVEMENTS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3" name="Text 84">
            <a:extLst>
              <a:ext uri="{FF2B5EF4-FFF2-40B4-BE49-F238E27FC236}">
                <a16:creationId xmlns:a16="http://schemas.microsoft.com/office/drawing/2014/main" id="{5C59BE8D-907A-B82D-D509-D9E70A901C16}"/>
              </a:ext>
            </a:extLst>
          </p:cNvPr>
          <p:cNvSpPr txBox="1"/>
          <p:nvPr/>
        </p:nvSpPr>
        <p:spPr>
          <a:xfrm>
            <a:off x="9359145" y="3692619"/>
            <a:ext cx="1867539" cy="196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Real-time streaming satellite data</a:t>
            </a:r>
            <a:endParaRPr lang="en-US" sz="10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5" name="Text 85">
            <a:extLst>
              <a:ext uri="{FF2B5EF4-FFF2-40B4-BE49-F238E27FC236}">
                <a16:creationId xmlns:a16="http://schemas.microsoft.com/office/drawing/2014/main" id="{B649E6C4-1D48-C4CF-436B-682AAE4712FB}"/>
              </a:ext>
            </a:extLst>
          </p:cNvPr>
          <p:cNvSpPr txBox="1"/>
          <p:nvPr/>
        </p:nvSpPr>
        <p:spPr>
          <a:xfrm>
            <a:off x="9359145" y="3938426"/>
            <a:ext cx="2168652" cy="1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Multi-user collaboration and annotation</a:t>
            </a:r>
            <a:endParaRPr lang="en-US" sz="10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7" name="Text 86">
            <a:extLst>
              <a:ext uri="{FF2B5EF4-FFF2-40B4-BE49-F238E27FC236}">
                <a16:creationId xmlns:a16="http://schemas.microsoft.com/office/drawing/2014/main" id="{5E01E4A4-CB04-A8BC-2DA7-830EA4C15D4D}"/>
              </a:ext>
            </a:extLst>
          </p:cNvPr>
          <p:cNvSpPr txBox="1"/>
          <p:nvPr/>
        </p:nvSpPr>
        <p:spPr>
          <a:xfrm>
            <a:off x="9352999" y="4202668"/>
            <a:ext cx="1922846" cy="1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More indian satellite constellations</a:t>
            </a:r>
            <a:endParaRPr lang="en-US" sz="10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" name="Text 87">
            <a:extLst>
              <a:ext uri="{FF2B5EF4-FFF2-40B4-BE49-F238E27FC236}">
                <a16:creationId xmlns:a16="http://schemas.microsoft.com/office/drawing/2014/main" id="{E340541D-752C-7B31-DD21-A19314BE4C83}"/>
              </a:ext>
            </a:extLst>
          </p:cNvPr>
          <p:cNvSpPr txBox="1"/>
          <p:nvPr/>
        </p:nvSpPr>
        <p:spPr>
          <a:xfrm>
            <a:off x="9352999" y="4497340"/>
            <a:ext cx="2223958" cy="325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3"/>
              </a:lnSpc>
              <a:buNone/>
            </a:pPr>
            <a:r>
              <a:rPr lang="en-US" sz="10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Higher-accuracy multi-temporal change</a:t>
            </a:r>
            <a:endParaRPr lang="en-US" sz="10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113"/>
              </a:lnSpc>
              <a:buNone/>
            </a:pPr>
            <a:r>
              <a:rPr lang="en-US" sz="10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detection</a:t>
            </a:r>
            <a:endParaRPr lang="en-US" sz="10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1" name="Text 88">
            <a:extLst>
              <a:ext uri="{FF2B5EF4-FFF2-40B4-BE49-F238E27FC236}">
                <a16:creationId xmlns:a16="http://schemas.microsoft.com/office/drawing/2014/main" id="{83F9D49D-4C54-A07A-08AB-933466CF50C3}"/>
              </a:ext>
            </a:extLst>
          </p:cNvPr>
          <p:cNvSpPr txBox="1"/>
          <p:nvPr/>
        </p:nvSpPr>
        <p:spPr>
          <a:xfrm>
            <a:off x="9359145" y="4835619"/>
            <a:ext cx="2402168" cy="1776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Mobile offline mode with on-device inference</a:t>
            </a:r>
            <a:endParaRPr lang="en-US" sz="10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3" name="Text 89">
            <a:extLst>
              <a:ext uri="{FF2B5EF4-FFF2-40B4-BE49-F238E27FC236}">
                <a16:creationId xmlns:a16="http://schemas.microsoft.com/office/drawing/2014/main" id="{F5A43056-2CD3-3773-7F41-294CAF68542F}"/>
              </a:ext>
            </a:extLst>
          </p:cNvPr>
          <p:cNvSpPr txBox="1"/>
          <p:nvPr/>
        </p:nvSpPr>
        <p:spPr>
          <a:xfrm>
            <a:off x="9359145" y="5093421"/>
            <a:ext cx="2236249" cy="337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10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Better explainability with attention maps &amp;</a:t>
            </a:r>
            <a:endParaRPr lang="en-US" sz="10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065"/>
              </a:lnSpc>
              <a:buNone/>
            </a:pPr>
            <a:r>
              <a:rPr lang="en-US" sz="100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natural language justifications</a:t>
            </a:r>
            <a:endParaRPr lang="en-US" sz="100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5" name="Text 90">
            <a:extLst>
              <a:ext uri="{FF2B5EF4-FFF2-40B4-BE49-F238E27FC236}">
                <a16:creationId xmlns:a16="http://schemas.microsoft.com/office/drawing/2014/main" id="{7D695078-A5DD-8610-22E6-78EFF51D9816}"/>
              </a:ext>
            </a:extLst>
          </p:cNvPr>
          <p:cNvSpPr txBox="1"/>
          <p:nvPr/>
        </p:nvSpPr>
        <p:spPr>
          <a:xfrm>
            <a:off x="9352999" y="5528026"/>
            <a:ext cx="2346862" cy="2206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00" b="1" dirty="0">
                <a:solidFill>
                  <a:srgbClr val="25477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GitHub: github.com/NotAzie/SatQuery-AI.git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7" name="Text 91">
            <a:extLst>
              <a:ext uri="{FF2B5EF4-FFF2-40B4-BE49-F238E27FC236}">
                <a16:creationId xmlns:a16="http://schemas.microsoft.com/office/drawing/2014/main" id="{23C57381-0286-8FC8-B7F1-23DBDACDA0DB}"/>
              </a:ext>
            </a:extLst>
          </p:cNvPr>
          <p:cNvSpPr txBox="1"/>
          <p:nvPr/>
        </p:nvSpPr>
        <p:spPr>
          <a:xfrm>
            <a:off x="9346854" y="5774449"/>
            <a:ext cx="1339055" cy="2144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275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YouTube: Coming soon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" name="Text 92">
            <a:extLst>
              <a:ext uri="{FF2B5EF4-FFF2-40B4-BE49-F238E27FC236}">
                <a16:creationId xmlns:a16="http://schemas.microsoft.com/office/drawing/2014/main" id="{CB0F823B-739C-7C84-CE96-9D1CA25C3081}"/>
              </a:ext>
            </a:extLst>
          </p:cNvPr>
          <p:cNvSpPr txBox="1"/>
          <p:nvPr/>
        </p:nvSpPr>
        <p:spPr>
          <a:xfrm>
            <a:off x="9260822" y="6053279"/>
            <a:ext cx="2390468" cy="2267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00094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Above 15% of the prototype is completed</a:t>
            </a:r>
            <a:endParaRPr lang="en-US" sz="107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8" name="Shape 0">
            <a:extLst>
              <a:ext uri="{FF2B5EF4-FFF2-40B4-BE49-F238E27FC236}">
                <a16:creationId xmlns:a16="http://schemas.microsoft.com/office/drawing/2014/main" id="{962E3CE6-2CC8-CBE4-7E06-E6B8418577AC}"/>
              </a:ext>
            </a:extLst>
          </p:cNvPr>
          <p:cNvSpPr/>
          <p:nvPr/>
        </p:nvSpPr>
        <p:spPr>
          <a:xfrm>
            <a:off x="0" y="24807"/>
            <a:ext cx="12187536" cy="773327"/>
          </a:xfrm>
          <a:prstGeom prst="rect">
            <a:avLst/>
          </a:prstGeom>
          <a:solidFill>
            <a:srgbClr val="FEFEFE"/>
          </a:solidFill>
          <a:ln w="12700">
            <a:solidFill>
              <a:srgbClr val="FEFEFE">
                <a:alpha val="0"/>
              </a:srgbClr>
            </a:solidFill>
            <a:prstDash val="solid"/>
          </a:ln>
        </p:spPr>
      </p:sp>
      <p:sp>
        <p:nvSpPr>
          <p:cNvPr id="434" name="Text 37">
            <a:extLst>
              <a:ext uri="{FF2B5EF4-FFF2-40B4-BE49-F238E27FC236}">
                <a16:creationId xmlns:a16="http://schemas.microsoft.com/office/drawing/2014/main" id="{933A0921-4658-BBFB-419F-231A71C06265}"/>
              </a:ext>
            </a:extLst>
          </p:cNvPr>
          <p:cNvSpPr txBox="1"/>
          <p:nvPr/>
        </p:nvSpPr>
        <p:spPr>
          <a:xfrm>
            <a:off x="3988273" y="166509"/>
            <a:ext cx="4473677" cy="4172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20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TECHNICAL APPROACH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3" name="Straight Arrow Connector 452">
            <a:extLst>
              <a:ext uri="{FF2B5EF4-FFF2-40B4-BE49-F238E27FC236}">
                <a16:creationId xmlns:a16="http://schemas.microsoft.com/office/drawing/2014/main" id="{0BD1FAC7-BDB7-4E65-A43F-3219ED06D078}"/>
              </a:ext>
            </a:extLst>
          </p:cNvPr>
          <p:cNvCxnSpPr>
            <a:cxnSpLocks/>
            <a:stCxn id="147" idx="3"/>
            <a:endCxn id="149" idx="1"/>
          </p:cNvCxnSpPr>
          <p:nvPr/>
        </p:nvCxnSpPr>
        <p:spPr>
          <a:xfrm>
            <a:off x="4606049" y="2264492"/>
            <a:ext cx="1768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Arrow Connector 454">
            <a:extLst>
              <a:ext uri="{FF2B5EF4-FFF2-40B4-BE49-F238E27FC236}">
                <a16:creationId xmlns:a16="http://schemas.microsoft.com/office/drawing/2014/main" id="{F93133F3-5D22-10D4-504F-C8F05292D90E}"/>
              </a:ext>
            </a:extLst>
          </p:cNvPr>
          <p:cNvCxnSpPr>
            <a:cxnSpLocks/>
            <a:stCxn id="149" idx="3"/>
            <a:endCxn id="151" idx="1"/>
          </p:cNvCxnSpPr>
          <p:nvPr/>
        </p:nvCxnSpPr>
        <p:spPr>
          <a:xfrm>
            <a:off x="5785329" y="2264492"/>
            <a:ext cx="185304" cy="4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Arrow Connector 456">
            <a:extLst>
              <a:ext uri="{FF2B5EF4-FFF2-40B4-BE49-F238E27FC236}">
                <a16:creationId xmlns:a16="http://schemas.microsoft.com/office/drawing/2014/main" id="{498FEF16-DF7D-9BB7-2599-058BAA99434F}"/>
              </a:ext>
            </a:extLst>
          </p:cNvPr>
          <p:cNvCxnSpPr>
            <a:cxnSpLocks/>
            <a:stCxn id="151" idx="3"/>
            <a:endCxn id="153" idx="1"/>
          </p:cNvCxnSpPr>
          <p:nvPr/>
        </p:nvCxnSpPr>
        <p:spPr>
          <a:xfrm flipV="1">
            <a:off x="6912878" y="2264492"/>
            <a:ext cx="190743" cy="4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Arrow Connector 458">
            <a:extLst>
              <a:ext uri="{FF2B5EF4-FFF2-40B4-BE49-F238E27FC236}">
                <a16:creationId xmlns:a16="http://schemas.microsoft.com/office/drawing/2014/main" id="{13411A7A-5277-7E76-26F4-0EFA6F149C25}"/>
              </a:ext>
            </a:extLst>
          </p:cNvPr>
          <p:cNvCxnSpPr>
            <a:cxnSpLocks/>
            <a:stCxn id="153" idx="3"/>
            <a:endCxn id="156" idx="1"/>
          </p:cNvCxnSpPr>
          <p:nvPr/>
        </p:nvCxnSpPr>
        <p:spPr>
          <a:xfrm flipV="1">
            <a:off x="7963944" y="2260746"/>
            <a:ext cx="250266" cy="3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Arrow Connector 460">
            <a:extLst>
              <a:ext uri="{FF2B5EF4-FFF2-40B4-BE49-F238E27FC236}">
                <a16:creationId xmlns:a16="http://schemas.microsoft.com/office/drawing/2014/main" id="{D26C07D4-F56E-E0FC-DBE6-B3ADB1B7DB88}"/>
              </a:ext>
            </a:extLst>
          </p:cNvPr>
          <p:cNvCxnSpPr>
            <a:cxnSpLocks/>
            <a:stCxn id="156" idx="3"/>
            <a:endCxn id="160" idx="1"/>
          </p:cNvCxnSpPr>
          <p:nvPr/>
        </p:nvCxnSpPr>
        <p:spPr>
          <a:xfrm>
            <a:off x="9369500" y="2260746"/>
            <a:ext cx="189145" cy="7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Arrow Connector 462">
            <a:extLst>
              <a:ext uri="{FF2B5EF4-FFF2-40B4-BE49-F238E27FC236}">
                <a16:creationId xmlns:a16="http://schemas.microsoft.com/office/drawing/2014/main" id="{C38ABB19-525D-B811-124D-546CD0E0CBA2}"/>
              </a:ext>
            </a:extLst>
          </p:cNvPr>
          <p:cNvCxnSpPr>
            <a:cxnSpLocks/>
            <a:stCxn id="160" idx="3"/>
            <a:endCxn id="164" idx="1"/>
          </p:cNvCxnSpPr>
          <p:nvPr/>
        </p:nvCxnSpPr>
        <p:spPr>
          <a:xfrm>
            <a:off x="10569742" y="2268597"/>
            <a:ext cx="181281" cy="2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2" name="Picture 471">
            <a:extLst>
              <a:ext uri="{FF2B5EF4-FFF2-40B4-BE49-F238E27FC236}">
                <a16:creationId xmlns:a16="http://schemas.microsoft.com/office/drawing/2014/main" id="{30A2AB31-3DD7-A917-7EF7-09A012EBE902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901580" y="1602262"/>
            <a:ext cx="957640" cy="644507"/>
          </a:xfrm>
          <a:prstGeom prst="rect">
            <a:avLst/>
          </a:prstGeom>
        </p:spPr>
      </p:pic>
      <p:grpSp>
        <p:nvGrpSpPr>
          <p:cNvPr id="527" name="Group 526">
            <a:extLst>
              <a:ext uri="{FF2B5EF4-FFF2-40B4-BE49-F238E27FC236}">
                <a16:creationId xmlns:a16="http://schemas.microsoft.com/office/drawing/2014/main" id="{ACE33317-37B9-948D-E8C7-911B152D748F}"/>
              </a:ext>
            </a:extLst>
          </p:cNvPr>
          <p:cNvGrpSpPr/>
          <p:nvPr/>
        </p:nvGrpSpPr>
        <p:grpSpPr>
          <a:xfrm>
            <a:off x="8262671" y="1711747"/>
            <a:ext cx="1069258" cy="1295424"/>
            <a:chOff x="8369774" y="1711747"/>
            <a:chExt cx="1069258" cy="1295424"/>
          </a:xfrm>
        </p:grpSpPr>
        <p:sp>
          <p:nvSpPr>
            <p:cNvPr id="78" name="Shape 17">
              <a:extLst>
                <a:ext uri="{FF2B5EF4-FFF2-40B4-BE49-F238E27FC236}">
                  <a16:creationId xmlns:a16="http://schemas.microsoft.com/office/drawing/2014/main" id="{A574EFE8-6300-05C7-702C-9777543665D9}"/>
                </a:ext>
              </a:extLst>
            </p:cNvPr>
            <p:cNvSpPr/>
            <p:nvPr/>
          </p:nvSpPr>
          <p:spPr>
            <a:xfrm>
              <a:off x="8379669" y="1711747"/>
              <a:ext cx="374855" cy="159774"/>
            </a:xfrm>
            <a:prstGeom prst="roundRect">
              <a:avLst>
                <a:gd name="adj" fmla="val 6000"/>
              </a:avLst>
            </a:prstGeom>
            <a:solidFill>
              <a:srgbClr val="67B0F5"/>
            </a:solidFill>
            <a:ln w="15875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2" name="Shape 18">
              <a:extLst>
                <a:ext uri="{FF2B5EF4-FFF2-40B4-BE49-F238E27FC236}">
                  <a16:creationId xmlns:a16="http://schemas.microsoft.com/office/drawing/2014/main" id="{76DCFAAE-80E6-1C47-0BF5-63ADC1680F5B}"/>
                </a:ext>
              </a:extLst>
            </p:cNvPr>
            <p:cNvSpPr/>
            <p:nvPr/>
          </p:nvSpPr>
          <p:spPr>
            <a:xfrm>
              <a:off x="9027306" y="1966452"/>
              <a:ext cx="368710" cy="153629"/>
            </a:xfrm>
            <a:prstGeom prst="roundRect">
              <a:avLst>
                <a:gd name="adj" fmla="val 6000"/>
              </a:avLst>
            </a:prstGeom>
            <a:solidFill>
              <a:srgbClr val="79A8F6"/>
            </a:solidFill>
            <a:ln w="15875">
              <a:solidFill>
                <a:srgbClr val="3B82F6"/>
              </a:solidFill>
              <a:prstDash val="solid"/>
            </a:ln>
          </p:spPr>
        </p:sp>
        <p:sp>
          <p:nvSpPr>
            <p:cNvPr id="359" name="Text 67">
              <a:extLst>
                <a:ext uri="{FF2B5EF4-FFF2-40B4-BE49-F238E27FC236}">
                  <a16:creationId xmlns:a16="http://schemas.microsoft.com/office/drawing/2014/main" id="{642A5F8E-F16E-30B3-1CF8-FB2C569D1216}"/>
                </a:ext>
              </a:extLst>
            </p:cNvPr>
            <p:cNvSpPr txBox="1"/>
            <p:nvPr/>
          </p:nvSpPr>
          <p:spPr>
            <a:xfrm>
              <a:off x="8418935" y="2372327"/>
              <a:ext cx="1007806" cy="1837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02C5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Multimodal Fusion</a:t>
              </a:r>
              <a:endParaRPr lang="en-US" sz="900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Text 68">
              <a:extLst>
                <a:ext uri="{FF2B5EF4-FFF2-40B4-BE49-F238E27FC236}">
                  <a16:creationId xmlns:a16="http://schemas.microsoft.com/office/drawing/2014/main" id="{D5E36580-F137-146A-4C8D-7EFD1ACD5AC7}"/>
                </a:ext>
              </a:extLst>
            </p:cNvPr>
            <p:cNvSpPr txBox="1"/>
            <p:nvPr/>
          </p:nvSpPr>
          <p:spPr>
            <a:xfrm>
              <a:off x="8369774" y="2540729"/>
              <a:ext cx="1069258" cy="46644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210"/>
                </a:lnSpc>
                <a:buNone/>
              </a:pPr>
              <a:r>
                <a:rPr lang="en-US" sz="850" dirty="0">
                  <a:solidFill>
                    <a:srgbClr val="002C5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Combines image &amp; text</a:t>
              </a:r>
              <a:endParaRPr lang="en-US" sz="850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lnSpc>
                  <a:spcPts val="1210"/>
                </a:lnSpc>
                <a:buNone/>
              </a:pPr>
              <a:r>
                <a:rPr lang="en-US" sz="850" dirty="0">
                  <a:solidFill>
                    <a:srgbClr val="002C5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and generates</a:t>
              </a:r>
              <a:endParaRPr lang="en-US" sz="850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indent="0" algn="ctr">
                <a:lnSpc>
                  <a:spcPts val="1210"/>
                </a:lnSpc>
                <a:buNone/>
              </a:pPr>
              <a:r>
                <a:rPr lang="en-US" sz="850" dirty="0">
                  <a:solidFill>
                    <a:srgbClr val="002C5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the answer</a:t>
              </a:r>
              <a:endParaRPr lang="en-US" sz="850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" name="Shape 17">
              <a:extLst>
                <a:ext uri="{FF2B5EF4-FFF2-40B4-BE49-F238E27FC236}">
                  <a16:creationId xmlns:a16="http://schemas.microsoft.com/office/drawing/2014/main" id="{55AB3779-7C45-1E6D-6A91-B5E4C68B016B}"/>
                </a:ext>
              </a:extLst>
            </p:cNvPr>
            <p:cNvSpPr/>
            <p:nvPr/>
          </p:nvSpPr>
          <p:spPr>
            <a:xfrm>
              <a:off x="8379669" y="2006543"/>
              <a:ext cx="374855" cy="159774"/>
            </a:xfrm>
            <a:prstGeom prst="roundRect">
              <a:avLst>
                <a:gd name="adj" fmla="val 6000"/>
              </a:avLst>
            </a:prstGeom>
            <a:solidFill>
              <a:srgbClr val="67B0F5"/>
            </a:solidFill>
            <a:ln w="15875">
              <a:solidFill>
                <a:srgbClr val="3B82F6"/>
              </a:solidFill>
              <a:prstDash val="solid"/>
            </a:ln>
          </p:spPr>
        </p:sp>
        <p:sp>
          <p:nvSpPr>
            <p:cNvPr id="522" name="Shape 18">
              <a:extLst>
                <a:ext uri="{FF2B5EF4-FFF2-40B4-BE49-F238E27FC236}">
                  <a16:creationId xmlns:a16="http://schemas.microsoft.com/office/drawing/2014/main" id="{8FDA42A8-1879-8626-D570-073A03EB75D9}"/>
                </a:ext>
              </a:extLst>
            </p:cNvPr>
            <p:cNvSpPr/>
            <p:nvPr/>
          </p:nvSpPr>
          <p:spPr>
            <a:xfrm>
              <a:off x="9014619" y="1714819"/>
              <a:ext cx="368710" cy="153629"/>
            </a:xfrm>
            <a:prstGeom prst="roundRect">
              <a:avLst>
                <a:gd name="adj" fmla="val 6000"/>
              </a:avLst>
            </a:prstGeom>
            <a:solidFill>
              <a:srgbClr val="79A8F6"/>
            </a:solidFill>
            <a:ln w="15875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cxnSp>
          <p:nvCxnSpPr>
            <p:cNvPr id="524" name="Straight Connector 523">
              <a:extLst>
                <a:ext uri="{FF2B5EF4-FFF2-40B4-BE49-F238E27FC236}">
                  <a16:creationId xmlns:a16="http://schemas.microsoft.com/office/drawing/2014/main" id="{D52F5D11-9275-CBFB-23C7-2030D2304397}"/>
                </a:ext>
              </a:extLst>
            </p:cNvPr>
            <p:cNvCxnSpPr>
              <a:cxnSpLocks/>
              <a:stCxn id="521" idx="3"/>
              <a:endCxn id="522" idx="1"/>
            </p:cNvCxnSpPr>
            <p:nvPr/>
          </p:nvCxnSpPr>
          <p:spPr>
            <a:xfrm flipV="1">
              <a:off x="8754524" y="1791634"/>
              <a:ext cx="260095" cy="2947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525">
              <a:extLst>
                <a:ext uri="{FF2B5EF4-FFF2-40B4-BE49-F238E27FC236}">
                  <a16:creationId xmlns:a16="http://schemas.microsoft.com/office/drawing/2014/main" id="{11B1539B-0D3A-177D-CFB0-2C0D69947AFE}"/>
                </a:ext>
              </a:extLst>
            </p:cNvPr>
            <p:cNvCxnSpPr>
              <a:cxnSpLocks/>
              <a:stCxn id="78" idx="3"/>
              <a:endCxn id="82" idx="1"/>
            </p:cNvCxnSpPr>
            <p:nvPr/>
          </p:nvCxnSpPr>
          <p:spPr>
            <a:xfrm>
              <a:off x="8754524" y="1791634"/>
              <a:ext cx="272782" cy="251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3" name="Shape 8">
            <a:extLst>
              <a:ext uri="{FF2B5EF4-FFF2-40B4-BE49-F238E27FC236}">
                <a16:creationId xmlns:a16="http://schemas.microsoft.com/office/drawing/2014/main" id="{3A889DD2-D9C3-BDDA-3DF1-9E9278BAD842}"/>
              </a:ext>
            </a:extLst>
          </p:cNvPr>
          <p:cNvSpPr/>
          <p:nvPr/>
        </p:nvSpPr>
        <p:spPr>
          <a:xfrm>
            <a:off x="0" y="6427465"/>
            <a:ext cx="12212726" cy="430437"/>
          </a:xfrm>
          <a:prstGeom prst="rect">
            <a:avLst/>
          </a:prstGeom>
          <a:solidFill>
            <a:srgbClr val="016FC6"/>
          </a:solidFill>
          <a:ln w="12700">
            <a:solidFill>
              <a:srgbClr val="016FC6">
                <a:alpha val="0"/>
              </a:srgbClr>
            </a:solidFill>
            <a:prstDash val="solid"/>
          </a:ln>
        </p:spPr>
      </p:sp>
      <p:sp>
        <p:nvSpPr>
          <p:cNvPr id="575" name="Shape 23">
            <a:extLst>
              <a:ext uri="{FF2B5EF4-FFF2-40B4-BE49-F238E27FC236}">
                <a16:creationId xmlns:a16="http://schemas.microsoft.com/office/drawing/2014/main" id="{A6D1406F-8CEA-F35B-77D7-EFFF8363AEE1}"/>
              </a:ext>
            </a:extLst>
          </p:cNvPr>
          <p:cNvSpPr/>
          <p:nvPr/>
        </p:nvSpPr>
        <p:spPr>
          <a:xfrm>
            <a:off x="160502" y="80349"/>
            <a:ext cx="1196468" cy="547165"/>
          </a:xfrm>
          <a:prstGeom prst="ellipse">
            <a:avLst/>
          </a:prstGeom>
          <a:noFill/>
          <a:ln w="15875">
            <a:solidFill>
              <a:srgbClr val="7C3AED"/>
            </a:solidFill>
            <a:prstDash val="solid"/>
          </a:ln>
        </p:spPr>
      </p:sp>
      <p:pic>
        <p:nvPicPr>
          <p:cNvPr id="129" name="Image 15" descr="image">
            <a:extLst>
              <a:ext uri="{FF2B5EF4-FFF2-40B4-BE49-F238E27FC236}">
                <a16:creationId xmlns:a16="http://schemas.microsoft.com/office/drawing/2014/main" id="{B276DEBD-C3A5-BAD5-66EA-29C11D5672C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520162" y="51167"/>
            <a:ext cx="598234" cy="620121"/>
          </a:xfrm>
          <a:prstGeom prst="rect">
            <a:avLst/>
          </a:prstGeom>
        </p:spPr>
      </p:pic>
      <p:sp>
        <p:nvSpPr>
          <p:cNvPr id="131" name="Text 24">
            <a:extLst>
              <a:ext uri="{FF2B5EF4-FFF2-40B4-BE49-F238E27FC236}">
                <a16:creationId xmlns:a16="http://schemas.microsoft.com/office/drawing/2014/main" id="{00FD709A-40B4-DEAE-5CE3-F5A7D636D9B2}"/>
              </a:ext>
            </a:extLst>
          </p:cNvPr>
          <p:cNvSpPr txBox="1"/>
          <p:nvPr/>
        </p:nvSpPr>
        <p:spPr>
          <a:xfrm>
            <a:off x="532574" y="226162"/>
            <a:ext cx="452323" cy="233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3C3C7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NextGen</a:t>
            </a:r>
            <a:endParaRPr lang="en-US" sz="15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 26">
            <a:extLst>
              <a:ext uri="{FF2B5EF4-FFF2-40B4-BE49-F238E27FC236}">
                <a16:creationId xmlns:a16="http://schemas.microsoft.com/office/drawing/2014/main" id="{7B2D6303-D23C-CD1F-AF88-AF6D61390F7A}"/>
              </a:ext>
            </a:extLst>
          </p:cNvPr>
          <p:cNvSpPr txBox="1"/>
          <p:nvPr/>
        </p:nvSpPr>
        <p:spPr>
          <a:xfrm>
            <a:off x="11140283" y="175191"/>
            <a:ext cx="824396" cy="47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SMART INDIA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HACKATHON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2026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 81">
            <a:extLst>
              <a:ext uri="{FF2B5EF4-FFF2-40B4-BE49-F238E27FC236}">
                <a16:creationId xmlns:a16="http://schemas.microsoft.com/office/drawing/2014/main" id="{66E6E051-10E4-52D0-A954-2DF4D54F33BE}"/>
              </a:ext>
            </a:extLst>
          </p:cNvPr>
          <p:cNvSpPr txBox="1"/>
          <p:nvPr/>
        </p:nvSpPr>
        <p:spPr>
          <a:xfrm>
            <a:off x="11716630" y="6544095"/>
            <a:ext cx="102137" cy="167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37" name="Shape 1">
            <a:extLst>
              <a:ext uri="{FF2B5EF4-FFF2-40B4-BE49-F238E27FC236}">
                <a16:creationId xmlns:a16="http://schemas.microsoft.com/office/drawing/2014/main" id="{50CCC63B-3591-D9CE-9E77-87C2A56F533C}"/>
              </a:ext>
            </a:extLst>
          </p:cNvPr>
          <p:cNvSpPr/>
          <p:nvPr/>
        </p:nvSpPr>
        <p:spPr>
          <a:xfrm>
            <a:off x="0" y="773425"/>
            <a:ext cx="12212726" cy="0"/>
          </a:xfrm>
          <a:prstGeom prst="line">
            <a:avLst/>
          </a:prstGeom>
          <a:noFill/>
          <a:ln w="15875">
            <a:solidFill>
              <a:srgbClr val="3B82F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139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6">
            <a:extLst>
              <a:ext uri="{FF2B5EF4-FFF2-40B4-BE49-F238E27FC236}">
                <a16:creationId xmlns:a16="http://schemas.microsoft.com/office/drawing/2014/main" id="{3C90644F-0B9E-90EB-37E7-8670539B2A81}"/>
              </a:ext>
            </a:extLst>
          </p:cNvPr>
          <p:cNvSpPr/>
          <p:nvPr/>
        </p:nvSpPr>
        <p:spPr>
          <a:xfrm>
            <a:off x="6034329" y="4314543"/>
            <a:ext cx="6034332" cy="2025948"/>
          </a:xfrm>
          <a:prstGeom prst="roundRect">
            <a:avLst>
              <a:gd name="adj" fmla="val 2234"/>
            </a:avLst>
          </a:prstGeom>
          <a:solidFill>
            <a:srgbClr val="EEF9FE"/>
          </a:solidFill>
          <a:ln w="15875">
            <a:solidFill>
              <a:srgbClr val="B3D1FF"/>
            </a:solidFill>
            <a:prstDash val="solid"/>
          </a:ln>
        </p:spPr>
      </p:sp>
      <p:sp>
        <p:nvSpPr>
          <p:cNvPr id="332" name="Shape 1">
            <a:extLst>
              <a:ext uri="{FF2B5EF4-FFF2-40B4-BE49-F238E27FC236}">
                <a16:creationId xmlns:a16="http://schemas.microsoft.com/office/drawing/2014/main" id="{31ECB92C-244D-3D2D-6636-2A9EDE3B90F9}"/>
              </a:ext>
            </a:extLst>
          </p:cNvPr>
          <p:cNvSpPr/>
          <p:nvPr/>
        </p:nvSpPr>
        <p:spPr>
          <a:xfrm>
            <a:off x="9102784" y="4340110"/>
            <a:ext cx="1270499" cy="301113"/>
          </a:xfrm>
          <a:prstGeom prst="roundRect">
            <a:avLst>
              <a:gd name="adj" fmla="val 16000"/>
            </a:avLst>
          </a:prstGeom>
          <a:solidFill>
            <a:srgbClr val="AFDC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78B2D4CA-85DB-E3E7-E3F5-FFA6CEB72DF4}"/>
              </a:ext>
            </a:extLst>
          </p:cNvPr>
          <p:cNvSpPr/>
          <p:nvPr/>
        </p:nvSpPr>
        <p:spPr>
          <a:xfrm>
            <a:off x="6012467" y="816310"/>
            <a:ext cx="6063483" cy="3446511"/>
          </a:xfrm>
          <a:prstGeom prst="roundRect">
            <a:avLst>
              <a:gd name="adj" fmla="val 1805"/>
            </a:avLst>
          </a:prstGeom>
          <a:solidFill>
            <a:srgbClr val="F1F8FE"/>
          </a:solidFill>
          <a:ln w="15875">
            <a:solidFill>
              <a:srgbClr val="B3D1FF"/>
            </a:solidFill>
            <a:prstDash val="solid"/>
          </a:ln>
        </p:spPr>
      </p:sp>
      <p:sp>
        <p:nvSpPr>
          <p:cNvPr id="255" name="Shape 1">
            <a:extLst>
              <a:ext uri="{FF2B5EF4-FFF2-40B4-BE49-F238E27FC236}">
                <a16:creationId xmlns:a16="http://schemas.microsoft.com/office/drawing/2014/main" id="{863D91C8-D7D1-0D07-109E-EA21D7FF996F}"/>
              </a:ext>
            </a:extLst>
          </p:cNvPr>
          <p:cNvSpPr/>
          <p:nvPr/>
        </p:nvSpPr>
        <p:spPr>
          <a:xfrm>
            <a:off x="6113418" y="880855"/>
            <a:ext cx="2939141" cy="301113"/>
          </a:xfrm>
          <a:prstGeom prst="roundRect">
            <a:avLst>
              <a:gd name="adj" fmla="val 16000"/>
            </a:avLst>
          </a:prstGeom>
          <a:solidFill>
            <a:srgbClr val="AFDC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F46A9F2D-F877-EFDE-A5B9-16EDB7A1B102}"/>
              </a:ext>
            </a:extLst>
          </p:cNvPr>
          <p:cNvSpPr/>
          <p:nvPr/>
        </p:nvSpPr>
        <p:spPr>
          <a:xfrm>
            <a:off x="80165" y="3793328"/>
            <a:ext cx="5830271" cy="2547163"/>
          </a:xfrm>
          <a:prstGeom prst="roundRect">
            <a:avLst>
              <a:gd name="adj" fmla="val 2234"/>
            </a:avLst>
          </a:prstGeom>
          <a:solidFill>
            <a:srgbClr val="EFF8FE"/>
          </a:solidFill>
          <a:ln w="15875">
            <a:solidFill>
              <a:srgbClr val="B3D1FF"/>
            </a:solidFill>
            <a:prstDash val="solid"/>
          </a:ln>
        </p:spPr>
      </p:sp>
      <p:sp>
        <p:nvSpPr>
          <p:cNvPr id="252" name="Shape 1">
            <a:extLst>
              <a:ext uri="{FF2B5EF4-FFF2-40B4-BE49-F238E27FC236}">
                <a16:creationId xmlns:a16="http://schemas.microsoft.com/office/drawing/2014/main" id="{B9ED1809-6356-7D59-F4EA-DC4B40A11746}"/>
              </a:ext>
            </a:extLst>
          </p:cNvPr>
          <p:cNvSpPr/>
          <p:nvPr/>
        </p:nvSpPr>
        <p:spPr>
          <a:xfrm>
            <a:off x="115679" y="3860684"/>
            <a:ext cx="1801296" cy="301113"/>
          </a:xfrm>
          <a:prstGeom prst="roundRect">
            <a:avLst>
              <a:gd name="adj" fmla="val 16000"/>
            </a:avLst>
          </a:prstGeom>
          <a:solidFill>
            <a:srgbClr val="AFDC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1B88D249-CBDB-042E-C5AC-36EA6F2274F2}"/>
              </a:ext>
            </a:extLst>
          </p:cNvPr>
          <p:cNvSpPr/>
          <p:nvPr/>
        </p:nvSpPr>
        <p:spPr>
          <a:xfrm>
            <a:off x="94742" y="830749"/>
            <a:ext cx="5830271" cy="2900695"/>
          </a:xfrm>
          <a:prstGeom prst="roundRect">
            <a:avLst>
              <a:gd name="adj" fmla="val 1797"/>
            </a:avLst>
          </a:prstGeom>
          <a:solidFill>
            <a:srgbClr val="F1F8FE"/>
          </a:solidFill>
          <a:ln w="15875">
            <a:solidFill>
              <a:srgbClr val="B3D1FF"/>
            </a:solidFill>
            <a:prstDash val="solid"/>
          </a:ln>
        </p:spPr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B312A9E1-8B73-0FA9-2890-0646ADEC5A8A}"/>
              </a:ext>
            </a:extLst>
          </p:cNvPr>
          <p:cNvSpPr/>
          <p:nvPr/>
        </p:nvSpPr>
        <p:spPr>
          <a:xfrm>
            <a:off x="6097492" y="1970057"/>
            <a:ext cx="666951" cy="626481"/>
          </a:xfrm>
          <a:prstGeom prst="ellipse">
            <a:avLst/>
          </a:prstGeom>
          <a:solidFill>
            <a:srgbClr val="FFF9C4"/>
          </a:solidFill>
          <a:ln w="12700">
            <a:solidFill>
              <a:srgbClr val="FFF9C4">
                <a:alpha val="0"/>
              </a:srgbClr>
            </a:solidFill>
            <a:prstDash val="solid"/>
          </a:ln>
        </p:spPr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E35078A8-299E-AADD-2BA5-AC92105E6E8C}"/>
              </a:ext>
            </a:extLst>
          </p:cNvPr>
          <p:cNvSpPr/>
          <p:nvPr/>
        </p:nvSpPr>
        <p:spPr>
          <a:xfrm>
            <a:off x="6113852" y="2679055"/>
            <a:ext cx="686424" cy="711654"/>
          </a:xfrm>
          <a:prstGeom prst="ellipse">
            <a:avLst/>
          </a:prstGeom>
          <a:solidFill>
            <a:srgbClr val="E8EAF6"/>
          </a:solidFill>
          <a:ln w="12700">
            <a:solidFill>
              <a:srgbClr val="E8EAF6">
                <a:alpha val="0"/>
              </a:srgbClr>
            </a:solidFill>
            <a:prstDash val="solid"/>
          </a:ln>
        </p:spPr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A36F6815-4DAB-69D7-C300-63994BF95675}"/>
              </a:ext>
            </a:extLst>
          </p:cNvPr>
          <p:cNvSpPr/>
          <p:nvPr/>
        </p:nvSpPr>
        <p:spPr>
          <a:xfrm>
            <a:off x="6136223" y="3479009"/>
            <a:ext cx="686424" cy="740722"/>
          </a:xfrm>
          <a:prstGeom prst="ellipse">
            <a:avLst/>
          </a:prstGeom>
          <a:solidFill>
            <a:srgbClr val="CFF5EA"/>
          </a:solidFill>
          <a:ln w="12700">
            <a:solidFill>
              <a:srgbClr val="CFF5EA">
                <a:alpha val="0"/>
              </a:srgbClr>
            </a:solidFill>
            <a:prstDash val="solid"/>
          </a:ln>
        </p:spPr>
      </p:sp>
      <p:sp>
        <p:nvSpPr>
          <p:cNvPr id="57" name="Shape 25">
            <a:extLst>
              <a:ext uri="{FF2B5EF4-FFF2-40B4-BE49-F238E27FC236}">
                <a16:creationId xmlns:a16="http://schemas.microsoft.com/office/drawing/2014/main" id="{FB757544-05DC-A984-D5FB-54548E70B0B6}"/>
              </a:ext>
            </a:extLst>
          </p:cNvPr>
          <p:cNvSpPr/>
          <p:nvPr/>
        </p:nvSpPr>
        <p:spPr>
          <a:xfrm>
            <a:off x="138469" y="4262821"/>
            <a:ext cx="371680" cy="37168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3E0">
                <a:alpha val="0"/>
              </a:srgbClr>
            </a:solidFill>
            <a:prstDash val="solid"/>
          </a:ln>
        </p:spPr>
      </p:sp>
      <p:pic>
        <p:nvPicPr>
          <p:cNvPr id="71" name="Image 5" descr="icon">
            <a:extLst>
              <a:ext uri="{FF2B5EF4-FFF2-40B4-BE49-F238E27FC236}">
                <a16:creationId xmlns:a16="http://schemas.microsoft.com/office/drawing/2014/main" id="{2CB139B4-ADE1-78AA-6F7A-E93D3C11C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1" y="5064483"/>
            <a:ext cx="371680" cy="371680"/>
          </a:xfrm>
          <a:prstGeom prst="rect">
            <a:avLst/>
          </a:prstGeom>
        </p:spPr>
      </p:pic>
      <p:pic>
        <p:nvPicPr>
          <p:cNvPr id="73" name="Image 6" descr="icon">
            <a:extLst>
              <a:ext uri="{FF2B5EF4-FFF2-40B4-BE49-F238E27FC236}">
                <a16:creationId xmlns:a16="http://schemas.microsoft.com/office/drawing/2014/main" id="{F785DBFB-14FB-6BFB-36A4-60DF7226D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69" y="5909873"/>
            <a:ext cx="364392" cy="371680"/>
          </a:xfrm>
          <a:prstGeom prst="rect">
            <a:avLst/>
          </a:prstGeom>
        </p:spPr>
      </p:pic>
      <p:pic>
        <p:nvPicPr>
          <p:cNvPr id="75" name="Image 7" descr="icon">
            <a:extLst>
              <a:ext uri="{FF2B5EF4-FFF2-40B4-BE49-F238E27FC236}">
                <a16:creationId xmlns:a16="http://schemas.microsoft.com/office/drawing/2014/main" id="{C8253A64-DEE6-4A80-A4C7-135A3AFC6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81" y="5487178"/>
            <a:ext cx="371680" cy="364392"/>
          </a:xfrm>
          <a:prstGeom prst="rect">
            <a:avLst/>
          </a:prstGeom>
        </p:spPr>
      </p:pic>
      <p:pic>
        <p:nvPicPr>
          <p:cNvPr id="77" name="Image 8" descr="icon">
            <a:extLst>
              <a:ext uri="{FF2B5EF4-FFF2-40B4-BE49-F238E27FC236}">
                <a16:creationId xmlns:a16="http://schemas.microsoft.com/office/drawing/2014/main" id="{DFDBDCBD-03E3-FB8A-0458-F6FC7A09D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69" y="4663652"/>
            <a:ext cx="357104" cy="357104"/>
          </a:xfrm>
          <a:prstGeom prst="rect">
            <a:avLst/>
          </a:prstGeom>
        </p:spPr>
      </p:pic>
      <p:pic>
        <p:nvPicPr>
          <p:cNvPr id="79" name="Image 9" descr="icon">
            <a:extLst>
              <a:ext uri="{FF2B5EF4-FFF2-40B4-BE49-F238E27FC236}">
                <a16:creationId xmlns:a16="http://schemas.microsoft.com/office/drawing/2014/main" id="{1C182D07-B914-C4B2-1548-2297F22700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663" y="3624767"/>
            <a:ext cx="555542" cy="370362"/>
          </a:xfrm>
          <a:prstGeom prst="rect">
            <a:avLst/>
          </a:prstGeom>
        </p:spPr>
      </p:pic>
      <p:pic>
        <p:nvPicPr>
          <p:cNvPr id="81" name="Image 10" descr="icon">
            <a:extLst>
              <a:ext uri="{FF2B5EF4-FFF2-40B4-BE49-F238E27FC236}">
                <a16:creationId xmlns:a16="http://schemas.microsoft.com/office/drawing/2014/main" id="{55FAEE8E-BE97-E82D-35EC-24C324085C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4098" y="2050223"/>
            <a:ext cx="363024" cy="464333"/>
          </a:xfrm>
          <a:prstGeom prst="rect">
            <a:avLst/>
          </a:prstGeom>
        </p:spPr>
      </p:pic>
      <p:pic>
        <p:nvPicPr>
          <p:cNvPr id="83" name="Image 11" descr="icon">
            <a:extLst>
              <a:ext uri="{FF2B5EF4-FFF2-40B4-BE49-F238E27FC236}">
                <a16:creationId xmlns:a16="http://schemas.microsoft.com/office/drawing/2014/main" id="{1991DEDF-64F5-9000-378E-0D17D4CF80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169" y="2788372"/>
            <a:ext cx="444032" cy="444032"/>
          </a:xfrm>
          <a:prstGeom prst="rect">
            <a:avLst/>
          </a:prstGeom>
        </p:spPr>
      </p:pic>
      <p:pic>
        <p:nvPicPr>
          <p:cNvPr id="95" name="Image 17" descr="icon">
            <a:extLst>
              <a:ext uri="{FF2B5EF4-FFF2-40B4-BE49-F238E27FC236}">
                <a16:creationId xmlns:a16="http://schemas.microsoft.com/office/drawing/2014/main" id="{9069D7DD-0421-408A-F749-C3D47DD71D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635" y="4321124"/>
            <a:ext cx="204059" cy="247787"/>
          </a:xfrm>
          <a:prstGeom prst="rect">
            <a:avLst/>
          </a:prstGeom>
        </p:spPr>
      </p:pic>
      <p:pic>
        <p:nvPicPr>
          <p:cNvPr id="97" name="Image 18" descr="icon">
            <a:extLst>
              <a:ext uri="{FF2B5EF4-FFF2-40B4-BE49-F238E27FC236}">
                <a16:creationId xmlns:a16="http://schemas.microsoft.com/office/drawing/2014/main" id="{6DAFD3E2-3A22-545E-EC5A-2D1A07E1E6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7012" y="1246292"/>
            <a:ext cx="666951" cy="650277"/>
          </a:xfrm>
          <a:prstGeom prst="rect">
            <a:avLst/>
          </a:prstGeom>
        </p:spPr>
      </p:pic>
      <p:sp>
        <p:nvSpPr>
          <p:cNvPr id="99" name="Text 29">
            <a:extLst>
              <a:ext uri="{FF2B5EF4-FFF2-40B4-BE49-F238E27FC236}">
                <a16:creationId xmlns:a16="http://schemas.microsoft.com/office/drawing/2014/main" id="{E3A098EE-18DA-AB8F-D00B-A66A5338AACE}"/>
              </a:ext>
            </a:extLst>
          </p:cNvPr>
          <p:cNvSpPr txBox="1"/>
          <p:nvPr/>
        </p:nvSpPr>
        <p:spPr>
          <a:xfrm>
            <a:off x="3767813" y="176504"/>
            <a:ext cx="4729808" cy="3938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1D5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FEASIBILITY AND VIABILITY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BFD247E-C385-4DD9-B6BD-BB84F6931544}"/>
              </a:ext>
            </a:extLst>
          </p:cNvPr>
          <p:cNvGrpSpPr/>
          <p:nvPr/>
        </p:nvGrpSpPr>
        <p:grpSpPr>
          <a:xfrm>
            <a:off x="789742" y="998979"/>
            <a:ext cx="1384964" cy="320802"/>
            <a:chOff x="240361" y="787158"/>
            <a:chExt cx="1384964" cy="320802"/>
          </a:xfrm>
        </p:grpSpPr>
        <p:sp>
          <p:nvSpPr>
            <p:cNvPr id="224" name="Shape 1">
              <a:extLst>
                <a:ext uri="{FF2B5EF4-FFF2-40B4-BE49-F238E27FC236}">
                  <a16:creationId xmlns:a16="http://schemas.microsoft.com/office/drawing/2014/main" id="{31A5CE69-2733-DF06-AC8D-C68EBFB00B81}"/>
                </a:ext>
              </a:extLst>
            </p:cNvPr>
            <p:cNvSpPr/>
            <p:nvPr/>
          </p:nvSpPr>
          <p:spPr>
            <a:xfrm>
              <a:off x="240361" y="787158"/>
              <a:ext cx="1384964" cy="301113"/>
            </a:xfrm>
            <a:prstGeom prst="roundRect">
              <a:avLst>
                <a:gd name="adj" fmla="val 16000"/>
              </a:avLst>
            </a:prstGeom>
            <a:solidFill>
              <a:srgbClr val="AFDCFE"/>
            </a:solidFill>
            <a:ln w="12700">
              <a:solidFill>
                <a:srgbClr val="DBEAF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Text 31">
              <a:extLst>
                <a:ext uri="{FF2B5EF4-FFF2-40B4-BE49-F238E27FC236}">
                  <a16:creationId xmlns:a16="http://schemas.microsoft.com/office/drawing/2014/main" id="{21742A7C-C762-82BF-A4DF-697E18DCD196}"/>
                </a:ext>
              </a:extLst>
            </p:cNvPr>
            <p:cNvSpPr txBox="1"/>
            <p:nvPr/>
          </p:nvSpPr>
          <p:spPr>
            <a:xfrm>
              <a:off x="284226" y="808885"/>
              <a:ext cx="1166328" cy="2990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002267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FEASIBILITY</a:t>
              </a:r>
              <a:endParaRPr lang="en-US" sz="17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5" name="Text 42">
            <a:extLst>
              <a:ext uri="{FF2B5EF4-FFF2-40B4-BE49-F238E27FC236}">
                <a16:creationId xmlns:a16="http://schemas.microsoft.com/office/drawing/2014/main" id="{DE08FC32-3CB6-A240-EDE7-ECE02B101297}"/>
              </a:ext>
            </a:extLst>
          </p:cNvPr>
          <p:cNvSpPr txBox="1"/>
          <p:nvPr/>
        </p:nvSpPr>
        <p:spPr>
          <a:xfrm>
            <a:off x="6165512" y="845259"/>
            <a:ext cx="2412548" cy="3355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206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COMMERCIAL FEASIBILITY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Text 43">
            <a:extLst>
              <a:ext uri="{FF2B5EF4-FFF2-40B4-BE49-F238E27FC236}">
                <a16:creationId xmlns:a16="http://schemas.microsoft.com/office/drawing/2014/main" id="{EA93D511-A048-C095-04F8-BD2BE35B6670}"/>
              </a:ext>
            </a:extLst>
          </p:cNvPr>
          <p:cNvSpPr txBox="1"/>
          <p:nvPr/>
        </p:nvSpPr>
        <p:spPr>
          <a:xfrm>
            <a:off x="6803197" y="1454100"/>
            <a:ext cx="1355812" cy="1897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E4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Market Validation</a:t>
            </a:r>
          </a:p>
          <a:p>
            <a:pPr>
              <a:lnSpc>
                <a:spcPts val="1377"/>
              </a:lnSpc>
            </a:pPr>
            <a:r>
              <a:rPr lang="en-US" sz="105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Strong demand from agriculture, disaster management, urban planning,</a:t>
            </a:r>
            <a:endParaRPr lang="en-US" sz="105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377"/>
              </a:lnSpc>
            </a:pPr>
            <a:r>
              <a:rPr lang="en-US" sz="1050" i="1" dirty="0" err="1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defence</a:t>
            </a:r>
            <a:r>
              <a:rPr lang="en-US" sz="105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and research institutions for easier satellite data analysis.</a:t>
            </a:r>
            <a:endParaRPr lang="en-US" sz="105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 45">
            <a:extLst>
              <a:ext uri="{FF2B5EF4-FFF2-40B4-BE49-F238E27FC236}">
                <a16:creationId xmlns:a16="http://schemas.microsoft.com/office/drawing/2014/main" id="{6AF312C0-39E6-C6E8-6B4F-2FDA23012A69}"/>
              </a:ext>
            </a:extLst>
          </p:cNvPr>
          <p:cNvSpPr txBox="1"/>
          <p:nvPr/>
        </p:nvSpPr>
        <p:spPr>
          <a:xfrm>
            <a:off x="6817621" y="2146987"/>
            <a:ext cx="1501568" cy="1897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134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Technical Readiness</a:t>
            </a:r>
          </a:p>
          <a:p>
            <a:r>
              <a:rPr lang="en-US" sz="105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Highly feasible using existing open-source models &amp; domain adaptation.</a:t>
            </a:r>
            <a:endParaRPr lang="en-US" sz="105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 47">
            <a:extLst>
              <a:ext uri="{FF2B5EF4-FFF2-40B4-BE49-F238E27FC236}">
                <a16:creationId xmlns:a16="http://schemas.microsoft.com/office/drawing/2014/main" id="{5599F133-1747-68EA-E164-636E7F60538A}"/>
              </a:ext>
            </a:extLst>
          </p:cNvPr>
          <p:cNvSpPr txBox="1"/>
          <p:nvPr/>
        </p:nvSpPr>
        <p:spPr>
          <a:xfrm>
            <a:off x="6909593" y="2900632"/>
            <a:ext cx="692618" cy="1897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114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Timeline</a:t>
            </a:r>
          </a:p>
          <a:p>
            <a:pPr>
              <a:lnSpc>
                <a:spcPts val="1435"/>
              </a:lnSpc>
            </a:pPr>
            <a:r>
              <a:rPr lang="en-US" sz="105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Core prototype (text query &amp; image → answer &amp; basic grounding)</a:t>
            </a:r>
            <a:endParaRPr lang="en-US" sz="105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435"/>
              </a:lnSpc>
            </a:pPr>
            <a:r>
              <a:rPr lang="en-US" sz="105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achievable in short time using available tools.</a:t>
            </a:r>
            <a:endParaRPr lang="en-US" sz="105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Text 49">
            <a:extLst>
              <a:ext uri="{FF2B5EF4-FFF2-40B4-BE49-F238E27FC236}">
                <a16:creationId xmlns:a16="http://schemas.microsoft.com/office/drawing/2014/main" id="{73D77790-F4FA-5394-3098-DFB9B72FD471}"/>
              </a:ext>
            </a:extLst>
          </p:cNvPr>
          <p:cNvSpPr txBox="1"/>
          <p:nvPr/>
        </p:nvSpPr>
        <p:spPr>
          <a:xfrm>
            <a:off x="6919650" y="3679749"/>
            <a:ext cx="1399539" cy="197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E4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Success Likelihood</a:t>
            </a:r>
          </a:p>
          <a:p>
            <a:r>
              <a:rPr lang="en-US" sz="105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 if we start with a focused MVP and gradually expand features.</a:t>
            </a:r>
            <a:endParaRPr lang="en-US" sz="105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Text 51">
            <a:extLst>
              <a:ext uri="{FF2B5EF4-FFF2-40B4-BE49-F238E27FC236}">
                <a16:creationId xmlns:a16="http://schemas.microsoft.com/office/drawing/2014/main" id="{FAFAC058-79E1-6B14-B7EB-B0A0D9C7DF6F}"/>
              </a:ext>
            </a:extLst>
          </p:cNvPr>
          <p:cNvSpPr txBox="1"/>
          <p:nvPr/>
        </p:nvSpPr>
        <p:spPr>
          <a:xfrm>
            <a:off x="238529" y="3866404"/>
            <a:ext cx="1224631" cy="29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236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CHALLENGES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Text 52">
            <a:extLst>
              <a:ext uri="{FF2B5EF4-FFF2-40B4-BE49-F238E27FC236}">
                <a16:creationId xmlns:a16="http://schemas.microsoft.com/office/drawing/2014/main" id="{25FE464D-42BB-040A-E07B-FE8E0DF5223A}"/>
              </a:ext>
            </a:extLst>
          </p:cNvPr>
          <p:cNvSpPr txBox="1"/>
          <p:nvPr/>
        </p:nvSpPr>
        <p:spPr>
          <a:xfrm>
            <a:off x="572096" y="4365351"/>
            <a:ext cx="3979434" cy="197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Limited high-quality annotated multimodal Indian satellite datasets.</a:t>
            </a:r>
            <a:endParaRPr lang="en-US" sz="95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Text 53">
            <a:extLst>
              <a:ext uri="{FF2B5EF4-FFF2-40B4-BE49-F238E27FC236}">
                <a16:creationId xmlns:a16="http://schemas.microsoft.com/office/drawing/2014/main" id="{D0B08DD6-26D3-1F27-6415-D9085F78FB3A}"/>
              </a:ext>
            </a:extLst>
          </p:cNvPr>
          <p:cNvSpPr txBox="1"/>
          <p:nvPr/>
        </p:nvSpPr>
        <p:spPr>
          <a:xfrm>
            <a:off x="563348" y="4754757"/>
            <a:ext cx="4096039" cy="197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 computational cost for fine-tuning large Vision-Language models.</a:t>
            </a:r>
            <a:endParaRPr lang="en-US" sz="95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Text 54">
            <a:extLst>
              <a:ext uri="{FF2B5EF4-FFF2-40B4-BE49-F238E27FC236}">
                <a16:creationId xmlns:a16="http://schemas.microsoft.com/office/drawing/2014/main" id="{EF4F7C7D-E82A-EFB2-F95B-8F0143DFA163}"/>
              </a:ext>
            </a:extLst>
          </p:cNvPr>
          <p:cNvSpPr txBox="1"/>
          <p:nvPr/>
        </p:nvSpPr>
        <p:spPr>
          <a:xfrm>
            <a:off x="542534" y="5140272"/>
            <a:ext cx="3826389" cy="350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95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Achieving accurate visual grounding (bounding boxes / heatmaps)</a:t>
            </a:r>
            <a:r>
              <a:rPr lang="en-US" sz="950" i="1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5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complex satellite scenes.</a:t>
            </a:r>
            <a:endParaRPr lang="en-US" sz="95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Text 55">
            <a:extLst>
              <a:ext uri="{FF2B5EF4-FFF2-40B4-BE49-F238E27FC236}">
                <a16:creationId xmlns:a16="http://schemas.microsoft.com/office/drawing/2014/main" id="{42DF1314-0C6D-65A1-1BC0-AAA3842D8EA6}"/>
              </a:ext>
            </a:extLst>
          </p:cNvPr>
          <p:cNvSpPr txBox="1"/>
          <p:nvPr/>
        </p:nvSpPr>
        <p:spPr>
          <a:xfrm>
            <a:off x="568452" y="5591738"/>
            <a:ext cx="4431280" cy="364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77"/>
              </a:lnSpc>
              <a:buNone/>
            </a:pPr>
            <a:r>
              <a:rPr lang="en-US" sz="95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Handling multi-temporal queries and different sensor types (optical, SAR, etc.)</a:t>
            </a:r>
            <a:r>
              <a:rPr lang="en-US" sz="950" i="1" dirty="0">
                <a:solidFill>
                  <a:srgbClr val="002C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5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 one system.</a:t>
            </a:r>
            <a:endParaRPr lang="en-US" sz="95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 56">
            <a:extLst>
              <a:ext uri="{FF2B5EF4-FFF2-40B4-BE49-F238E27FC236}">
                <a16:creationId xmlns:a16="http://schemas.microsoft.com/office/drawing/2014/main" id="{418C1956-F914-8309-D554-8818FE1E649A}"/>
              </a:ext>
            </a:extLst>
          </p:cNvPr>
          <p:cNvSpPr txBox="1"/>
          <p:nvPr/>
        </p:nvSpPr>
        <p:spPr>
          <a:xfrm>
            <a:off x="563404" y="5978656"/>
            <a:ext cx="2099171" cy="1897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50" i="1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Uncertainty about the final scope the idea may expand further based on progress and feedback.</a:t>
            </a:r>
            <a:endParaRPr lang="en-US" sz="950" i="1" dirty="0">
              <a:solidFill>
                <a:srgbClr val="002C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Text 80">
            <a:extLst>
              <a:ext uri="{FF2B5EF4-FFF2-40B4-BE49-F238E27FC236}">
                <a16:creationId xmlns:a16="http://schemas.microsoft.com/office/drawing/2014/main" id="{3B296D5A-257F-00EF-D49B-A429E9F45619}"/>
              </a:ext>
            </a:extLst>
          </p:cNvPr>
          <p:cNvSpPr txBox="1"/>
          <p:nvPr/>
        </p:nvSpPr>
        <p:spPr>
          <a:xfrm>
            <a:off x="11711557" y="6573566"/>
            <a:ext cx="123893" cy="182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114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" name="Shape 8">
            <a:extLst>
              <a:ext uri="{FF2B5EF4-FFF2-40B4-BE49-F238E27FC236}">
                <a16:creationId xmlns:a16="http://schemas.microsoft.com/office/drawing/2014/main" id="{A8B2F603-D9CB-739F-863C-6DAA1A37FE15}"/>
              </a:ext>
            </a:extLst>
          </p:cNvPr>
          <p:cNvSpPr/>
          <p:nvPr/>
        </p:nvSpPr>
        <p:spPr>
          <a:xfrm>
            <a:off x="0" y="6427465"/>
            <a:ext cx="12212726" cy="430437"/>
          </a:xfrm>
          <a:prstGeom prst="rect">
            <a:avLst/>
          </a:prstGeom>
          <a:solidFill>
            <a:srgbClr val="016FC6"/>
          </a:solidFill>
          <a:ln w="12700">
            <a:solidFill>
              <a:srgbClr val="016FC6">
                <a:alpha val="0"/>
              </a:srgbClr>
            </a:solidFill>
            <a:prstDash val="solid"/>
          </a:ln>
        </p:spPr>
      </p:sp>
      <p:sp>
        <p:nvSpPr>
          <p:cNvPr id="205" name="Shape 23">
            <a:extLst>
              <a:ext uri="{FF2B5EF4-FFF2-40B4-BE49-F238E27FC236}">
                <a16:creationId xmlns:a16="http://schemas.microsoft.com/office/drawing/2014/main" id="{711D1706-55E5-FDF2-60AD-3624E3F8BB0E}"/>
              </a:ext>
            </a:extLst>
          </p:cNvPr>
          <p:cNvSpPr/>
          <p:nvPr/>
        </p:nvSpPr>
        <p:spPr>
          <a:xfrm>
            <a:off x="160502" y="80349"/>
            <a:ext cx="1196468" cy="547165"/>
          </a:xfrm>
          <a:prstGeom prst="ellipse">
            <a:avLst/>
          </a:prstGeom>
          <a:noFill/>
          <a:ln w="15875">
            <a:solidFill>
              <a:srgbClr val="7C3AED"/>
            </a:solidFill>
            <a:prstDash val="solid"/>
          </a:ln>
        </p:spPr>
      </p:sp>
      <p:pic>
        <p:nvPicPr>
          <p:cNvPr id="207" name="Image 15" descr="image">
            <a:extLst>
              <a:ext uri="{FF2B5EF4-FFF2-40B4-BE49-F238E27FC236}">
                <a16:creationId xmlns:a16="http://schemas.microsoft.com/office/drawing/2014/main" id="{CE3E98B3-F9FD-663A-4A2A-608D397EC7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0162" y="51167"/>
            <a:ext cx="598234" cy="620121"/>
          </a:xfrm>
          <a:prstGeom prst="rect">
            <a:avLst/>
          </a:prstGeom>
        </p:spPr>
      </p:pic>
      <p:sp>
        <p:nvSpPr>
          <p:cNvPr id="209" name="Text 24">
            <a:extLst>
              <a:ext uri="{FF2B5EF4-FFF2-40B4-BE49-F238E27FC236}">
                <a16:creationId xmlns:a16="http://schemas.microsoft.com/office/drawing/2014/main" id="{D69113C1-4007-9829-79E8-AC9CAD36F517}"/>
              </a:ext>
            </a:extLst>
          </p:cNvPr>
          <p:cNvSpPr txBox="1"/>
          <p:nvPr/>
        </p:nvSpPr>
        <p:spPr>
          <a:xfrm>
            <a:off x="532574" y="226162"/>
            <a:ext cx="452323" cy="233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3C3C7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NextGen</a:t>
            </a:r>
            <a:endParaRPr lang="en-US" sz="15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Text 26">
            <a:extLst>
              <a:ext uri="{FF2B5EF4-FFF2-40B4-BE49-F238E27FC236}">
                <a16:creationId xmlns:a16="http://schemas.microsoft.com/office/drawing/2014/main" id="{3FC50A82-DE30-C70C-4442-48D4A4EC666F}"/>
              </a:ext>
            </a:extLst>
          </p:cNvPr>
          <p:cNvSpPr txBox="1"/>
          <p:nvPr/>
        </p:nvSpPr>
        <p:spPr>
          <a:xfrm>
            <a:off x="11140283" y="175191"/>
            <a:ext cx="824396" cy="47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SMART INDIA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HACKATHON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2026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Text 81">
            <a:extLst>
              <a:ext uri="{FF2B5EF4-FFF2-40B4-BE49-F238E27FC236}">
                <a16:creationId xmlns:a16="http://schemas.microsoft.com/office/drawing/2014/main" id="{3398E55B-F232-A377-411D-53D22F6B46CD}"/>
              </a:ext>
            </a:extLst>
          </p:cNvPr>
          <p:cNvSpPr txBox="1"/>
          <p:nvPr/>
        </p:nvSpPr>
        <p:spPr>
          <a:xfrm>
            <a:off x="11716630" y="6544095"/>
            <a:ext cx="102137" cy="167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4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552A973-8D7B-C92D-153B-A25D5FA8D525}"/>
              </a:ext>
            </a:extLst>
          </p:cNvPr>
          <p:cNvGrpSpPr/>
          <p:nvPr/>
        </p:nvGrpSpPr>
        <p:grpSpPr>
          <a:xfrm>
            <a:off x="167621" y="875624"/>
            <a:ext cx="502861" cy="502861"/>
            <a:chOff x="202763" y="1411101"/>
            <a:chExt cx="502861" cy="502861"/>
          </a:xfrm>
        </p:grpSpPr>
        <p:sp>
          <p:nvSpPr>
            <p:cNvPr id="217" name="Shape 14">
              <a:extLst>
                <a:ext uri="{FF2B5EF4-FFF2-40B4-BE49-F238E27FC236}">
                  <a16:creationId xmlns:a16="http://schemas.microsoft.com/office/drawing/2014/main" id="{C4175B98-D93A-E44F-B8AC-DCCF5530E359}"/>
                </a:ext>
              </a:extLst>
            </p:cNvPr>
            <p:cNvSpPr/>
            <p:nvPr/>
          </p:nvSpPr>
          <p:spPr>
            <a:xfrm>
              <a:off x="202763" y="1411101"/>
              <a:ext cx="502861" cy="502861"/>
            </a:xfrm>
            <a:prstGeom prst="ellipse">
              <a:avLst/>
            </a:prstGeom>
            <a:solidFill>
              <a:srgbClr val="CEF4E9"/>
            </a:solidFill>
            <a:ln w="12700">
              <a:solidFill>
                <a:srgbClr val="CEF4E9">
                  <a:alpha val="0"/>
                </a:srgbClr>
              </a:solidFill>
              <a:prstDash val="solid"/>
            </a:ln>
          </p:spPr>
        </p:sp>
        <p:pic>
          <p:nvPicPr>
            <p:cNvPr id="219" name="Image 13" descr="icon">
              <a:extLst>
                <a:ext uri="{FF2B5EF4-FFF2-40B4-BE49-F238E27FC236}">
                  <a16:creationId xmlns:a16="http://schemas.microsoft.com/office/drawing/2014/main" id="{965FEE01-1BA4-9394-BAF3-1AA336C72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04792" y="1483980"/>
              <a:ext cx="306089" cy="342528"/>
            </a:xfrm>
            <a:prstGeom prst="rect">
              <a:avLst/>
            </a:prstGeom>
          </p:spPr>
        </p:pic>
      </p:grpSp>
      <p:sp>
        <p:nvSpPr>
          <p:cNvPr id="226" name="Shape 1">
            <a:extLst>
              <a:ext uri="{FF2B5EF4-FFF2-40B4-BE49-F238E27FC236}">
                <a16:creationId xmlns:a16="http://schemas.microsoft.com/office/drawing/2014/main" id="{AE930ABE-2915-A30C-0502-3D2EF85D2B6C}"/>
              </a:ext>
            </a:extLst>
          </p:cNvPr>
          <p:cNvSpPr/>
          <p:nvPr/>
        </p:nvSpPr>
        <p:spPr>
          <a:xfrm>
            <a:off x="0" y="773425"/>
            <a:ext cx="12212726" cy="0"/>
          </a:xfrm>
          <a:prstGeom prst="line">
            <a:avLst/>
          </a:prstGeom>
          <a:noFill/>
          <a:ln w="15875">
            <a:solidFill>
              <a:srgbClr val="3B82F6"/>
            </a:solidFill>
            <a:prstDash val="solid"/>
          </a:ln>
        </p:spPr>
      </p:sp>
      <p:sp>
        <p:nvSpPr>
          <p:cNvPr id="232" name="Text 32">
            <a:extLst>
              <a:ext uri="{FF2B5EF4-FFF2-40B4-BE49-F238E27FC236}">
                <a16:creationId xmlns:a16="http://schemas.microsoft.com/office/drawing/2014/main" id="{6543929A-44DD-AEB9-3F48-D28B070352C6}"/>
              </a:ext>
            </a:extLst>
          </p:cNvPr>
          <p:cNvSpPr txBox="1"/>
          <p:nvPr/>
        </p:nvSpPr>
        <p:spPr>
          <a:xfrm>
            <a:off x="247648" y="1682306"/>
            <a:ext cx="1603598" cy="240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100" b="1" u="sng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Lab-based development</a:t>
            </a:r>
          </a:p>
          <a:p>
            <a:pPr>
              <a:lnSpc>
                <a:spcPts val="1205"/>
              </a:lnSpc>
            </a:pPr>
            <a:r>
              <a:rPr lang="en-US" sz="1000" i="1" dirty="0">
                <a:solidFill>
                  <a:srgbClr val="33333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Using open-source Vision-Language models and publicly available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>
                <a:solidFill>
                  <a:srgbClr val="33333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satellite datasets - no expensive</a:t>
            </a:r>
          </a:p>
          <a:p>
            <a:pPr>
              <a:lnSpc>
                <a:spcPts val="1205"/>
              </a:lnSpc>
            </a:pPr>
            <a:r>
              <a:rPr lang="en-US" sz="1000" i="1" dirty="0">
                <a:solidFill>
                  <a:srgbClr val="33333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hardware required at early stage.</a:t>
            </a:r>
            <a:endParaRPr lang="en-US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4" name="Text 33">
            <a:extLst>
              <a:ext uri="{FF2B5EF4-FFF2-40B4-BE49-F238E27FC236}">
                <a16:creationId xmlns:a16="http://schemas.microsoft.com/office/drawing/2014/main" id="{1ED7F3A9-196A-BF38-63A3-1863326FDD66}"/>
              </a:ext>
            </a:extLst>
          </p:cNvPr>
          <p:cNvSpPr txBox="1"/>
          <p:nvPr/>
        </p:nvSpPr>
        <p:spPr>
          <a:xfrm>
            <a:off x="1288167" y="2248567"/>
            <a:ext cx="3760799" cy="364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5"/>
              </a:lnSpc>
              <a:buNone/>
            </a:pP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Text 34">
            <a:extLst>
              <a:ext uri="{FF2B5EF4-FFF2-40B4-BE49-F238E27FC236}">
                <a16:creationId xmlns:a16="http://schemas.microsoft.com/office/drawing/2014/main" id="{AC818153-6931-2D8C-DEB3-5C1AF8F732BE}"/>
              </a:ext>
            </a:extLst>
          </p:cNvPr>
          <p:cNvSpPr txBox="1"/>
          <p:nvPr/>
        </p:nvSpPr>
        <p:spPr>
          <a:xfrm>
            <a:off x="247648" y="2160684"/>
            <a:ext cx="729058" cy="182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171450" indent="-171450">
              <a:lnSpc>
                <a:spcPts val="1205"/>
              </a:lnSpc>
              <a:buFont typeface="Wingdings" panose="05000000000000000000" pitchFamily="2" charset="2"/>
              <a:buChar char="Ø"/>
            </a:pPr>
            <a:r>
              <a:rPr lang="en-US" sz="1100" b="1" u="sng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Validation</a:t>
            </a:r>
          </a:p>
          <a:p>
            <a:pPr>
              <a:lnSpc>
                <a:spcPts val="1205"/>
              </a:lnSpc>
            </a:pPr>
            <a:r>
              <a:rPr lang="en-US" sz="1000" i="1" dirty="0">
                <a:solidFill>
                  <a:srgbClr val="33333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Possible by comparing model outputs with ground-truth annotations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>
                <a:solidFill>
                  <a:srgbClr val="33333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from open remote sensing </a:t>
            </a:r>
          </a:p>
          <a:p>
            <a:pPr>
              <a:lnSpc>
                <a:spcPts val="1205"/>
              </a:lnSpc>
            </a:pPr>
            <a:r>
              <a:rPr lang="en-US" sz="1000" i="1" dirty="0">
                <a:solidFill>
                  <a:srgbClr val="33333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benchmarks and ISRO sample data.</a:t>
            </a:r>
            <a:endParaRPr lang="en-US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8" name="Text 35">
            <a:extLst>
              <a:ext uri="{FF2B5EF4-FFF2-40B4-BE49-F238E27FC236}">
                <a16:creationId xmlns:a16="http://schemas.microsoft.com/office/drawing/2014/main" id="{DB61DC33-AB14-E459-10CD-BDE4FC1DBE43}"/>
              </a:ext>
            </a:extLst>
          </p:cNvPr>
          <p:cNvSpPr txBox="1"/>
          <p:nvPr/>
        </p:nvSpPr>
        <p:spPr>
          <a:xfrm>
            <a:off x="1280879" y="2795155"/>
            <a:ext cx="3855541" cy="342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5"/>
              </a:lnSpc>
              <a:buNone/>
            </a:pPr>
            <a:endParaRPr lang="en-US" sz="98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Text 36">
            <a:extLst>
              <a:ext uri="{FF2B5EF4-FFF2-40B4-BE49-F238E27FC236}">
                <a16:creationId xmlns:a16="http://schemas.microsoft.com/office/drawing/2014/main" id="{A4439683-B8AA-2F2E-18FA-CDF8049659FA}"/>
              </a:ext>
            </a:extLst>
          </p:cNvPr>
          <p:cNvSpPr txBox="1"/>
          <p:nvPr/>
        </p:nvSpPr>
        <p:spPr>
          <a:xfrm>
            <a:off x="269650" y="2573189"/>
            <a:ext cx="1647325" cy="211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100" b="1" u="sng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Safe testing environment</a:t>
            </a:r>
          </a:p>
          <a:p>
            <a:r>
              <a:rPr lang="en-US" sz="1000" i="1" dirty="0">
                <a:solidFill>
                  <a:srgbClr val="2B3D6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Fully software-based pipeline; no real-time satellite access needed initially</a:t>
            </a:r>
            <a:r>
              <a:rPr lang="en-US" sz="1000" dirty="0">
                <a:solidFill>
                  <a:srgbClr val="2B3D6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4" name="Text 38">
            <a:extLst>
              <a:ext uri="{FF2B5EF4-FFF2-40B4-BE49-F238E27FC236}">
                <a16:creationId xmlns:a16="http://schemas.microsoft.com/office/drawing/2014/main" id="{D2DFF197-5B46-518A-6730-48829ECD8C32}"/>
              </a:ext>
            </a:extLst>
          </p:cNvPr>
          <p:cNvSpPr txBox="1"/>
          <p:nvPr/>
        </p:nvSpPr>
        <p:spPr>
          <a:xfrm>
            <a:off x="276938" y="3011028"/>
            <a:ext cx="1333948" cy="2043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100" b="1" u="sng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Algorithm flexibility</a:t>
            </a:r>
          </a:p>
          <a:p>
            <a:pPr>
              <a:lnSpc>
                <a:spcPts val="1148"/>
              </a:lnSpc>
            </a:pPr>
            <a:r>
              <a:rPr lang="en-US" sz="1000" i="1" dirty="0">
                <a:solidFill>
                  <a:srgbClr val="33333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Modular design allows easy swapping of backbone models (LLAVA, </a:t>
            </a:r>
            <a:r>
              <a:rPr lang="en-US" sz="1000" i="1" dirty="0" err="1">
                <a:solidFill>
                  <a:srgbClr val="33333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RemoteCLIP</a:t>
            </a:r>
            <a:r>
              <a:rPr lang="en-US" sz="1000" i="1" dirty="0">
                <a:solidFill>
                  <a:srgbClr val="33333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etc.)</a:t>
            </a:r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i="1" dirty="0">
                <a:solidFill>
                  <a:srgbClr val="33333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 better </a:t>
            </a:r>
          </a:p>
          <a:p>
            <a:pPr>
              <a:lnSpc>
                <a:spcPts val="1148"/>
              </a:lnSpc>
            </a:pPr>
            <a:r>
              <a:rPr lang="en-US" sz="1000" i="1" dirty="0">
                <a:solidFill>
                  <a:srgbClr val="33333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models become available.</a:t>
            </a:r>
            <a:endParaRPr lang="en-US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8" name="Text 40">
            <a:extLst>
              <a:ext uri="{FF2B5EF4-FFF2-40B4-BE49-F238E27FC236}">
                <a16:creationId xmlns:a16="http://schemas.microsoft.com/office/drawing/2014/main" id="{EFEB2CCE-F509-10A7-4D46-E42C3C0683F7}"/>
              </a:ext>
            </a:extLst>
          </p:cNvPr>
          <p:cNvSpPr txBox="1"/>
          <p:nvPr/>
        </p:nvSpPr>
        <p:spPr>
          <a:xfrm>
            <a:off x="276938" y="3389801"/>
            <a:ext cx="1151752" cy="2334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100" b="1" u="sng" dirty="0">
                <a:solidFill>
                  <a:srgbClr val="002C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Current progress</a:t>
            </a:r>
          </a:p>
          <a:p>
            <a:r>
              <a:rPr lang="en-US" sz="1000" i="1" dirty="0">
                <a:solidFill>
                  <a:srgbClr val="284065"/>
                </a:solidFill>
                <a:latin typeface="Arial" panose="020B0604020202020204" pitchFamily="34" charset="0"/>
                <a:ea typeface="Microsoft YaHei" pitchFamily="34" charset="-122"/>
                <a:cs typeface="Arial" panose="020B0604020202020204" pitchFamily="34" charset="0"/>
              </a:rPr>
              <a:t>Architecture designed and base pipeline selected (</a:t>
            </a:r>
            <a:r>
              <a:rPr lang="en-US" sz="1000" b="1" i="1" dirty="0">
                <a:solidFill>
                  <a:srgbClr val="051754"/>
                </a:solidFill>
                <a:latin typeface="Arial" panose="020B0604020202020204" pitchFamily="34" charset="0"/>
                <a:ea typeface="Microsoft YaHei" pitchFamily="34" charset="-122"/>
                <a:cs typeface="Arial" panose="020B0604020202020204" pitchFamily="34" charset="0"/>
              </a:rPr>
              <a:t>~10% completed</a:t>
            </a:r>
            <a:r>
              <a:rPr lang="en-US" sz="1000" i="1" dirty="0">
                <a:solidFill>
                  <a:srgbClr val="333333"/>
                </a:solidFill>
                <a:latin typeface="Arial" panose="020B0604020202020204" pitchFamily="34" charset="0"/>
                <a:ea typeface="Microsoft YaHei" pitchFamily="34" charset="-122"/>
                <a:cs typeface="Arial" panose="020B0604020202020204" pitchFamily="34" charset="0"/>
              </a:rPr>
              <a:t>).</a:t>
            </a:r>
            <a:endParaRPr lang="en-US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1" name="Shape 11">
            <a:extLst>
              <a:ext uri="{FF2B5EF4-FFF2-40B4-BE49-F238E27FC236}">
                <a16:creationId xmlns:a16="http://schemas.microsoft.com/office/drawing/2014/main" id="{0F1A69EB-87F9-13A2-7F34-DB3236844462}"/>
              </a:ext>
            </a:extLst>
          </p:cNvPr>
          <p:cNvSpPr/>
          <p:nvPr/>
        </p:nvSpPr>
        <p:spPr>
          <a:xfrm>
            <a:off x="10460570" y="5555630"/>
            <a:ext cx="1571290" cy="685330"/>
          </a:xfrm>
          <a:prstGeom prst="roundRect">
            <a:avLst>
              <a:gd name="adj" fmla="val 4986"/>
            </a:avLst>
          </a:prstGeom>
          <a:solidFill>
            <a:srgbClr val="DEE9FD"/>
          </a:solidFill>
          <a:ln w="15875">
            <a:solidFill>
              <a:srgbClr val="B3D1FF"/>
            </a:solidFill>
            <a:prstDash val="solid"/>
          </a:ln>
        </p:spPr>
      </p:sp>
      <p:sp>
        <p:nvSpPr>
          <p:cNvPr id="273" name="Shape 24">
            <a:extLst>
              <a:ext uri="{FF2B5EF4-FFF2-40B4-BE49-F238E27FC236}">
                <a16:creationId xmlns:a16="http://schemas.microsoft.com/office/drawing/2014/main" id="{6CFA942A-5562-42E4-6C3C-BCE8AFB3A4DC}"/>
              </a:ext>
            </a:extLst>
          </p:cNvPr>
          <p:cNvSpPr/>
          <p:nvPr/>
        </p:nvSpPr>
        <p:spPr>
          <a:xfrm>
            <a:off x="6573631" y="4649712"/>
            <a:ext cx="2326529" cy="13939"/>
          </a:xfrm>
          <a:prstGeom prst="line">
            <a:avLst/>
          </a:prstGeom>
          <a:noFill/>
          <a:ln w="9525">
            <a:solidFill>
              <a:srgbClr val="B3D1FF"/>
            </a:solidFill>
            <a:prstDash val="solid"/>
          </a:ln>
        </p:spPr>
      </p:sp>
      <p:sp>
        <p:nvSpPr>
          <p:cNvPr id="275" name="Shape 26">
            <a:extLst>
              <a:ext uri="{FF2B5EF4-FFF2-40B4-BE49-F238E27FC236}">
                <a16:creationId xmlns:a16="http://schemas.microsoft.com/office/drawing/2014/main" id="{247F1984-79A5-703E-D7DF-036DF68F6162}"/>
              </a:ext>
            </a:extLst>
          </p:cNvPr>
          <p:cNvSpPr/>
          <p:nvPr/>
        </p:nvSpPr>
        <p:spPr>
          <a:xfrm>
            <a:off x="6573631" y="5050544"/>
            <a:ext cx="3294103" cy="0"/>
          </a:xfrm>
          <a:prstGeom prst="line">
            <a:avLst/>
          </a:prstGeom>
          <a:noFill/>
          <a:ln w="9525">
            <a:solidFill>
              <a:srgbClr val="B3D1FF"/>
            </a:solidFill>
            <a:prstDash val="solid"/>
          </a:ln>
        </p:spPr>
      </p:sp>
      <p:sp>
        <p:nvSpPr>
          <p:cNvPr id="277" name="Shape 27">
            <a:extLst>
              <a:ext uri="{FF2B5EF4-FFF2-40B4-BE49-F238E27FC236}">
                <a16:creationId xmlns:a16="http://schemas.microsoft.com/office/drawing/2014/main" id="{87509730-B707-538F-4CC0-0E987EDA35FC}"/>
              </a:ext>
            </a:extLst>
          </p:cNvPr>
          <p:cNvSpPr/>
          <p:nvPr/>
        </p:nvSpPr>
        <p:spPr>
          <a:xfrm>
            <a:off x="6573631" y="5462307"/>
            <a:ext cx="3294103" cy="0"/>
          </a:xfrm>
          <a:prstGeom prst="line">
            <a:avLst/>
          </a:prstGeom>
          <a:noFill/>
          <a:ln w="9525">
            <a:solidFill>
              <a:srgbClr val="B3D1FF"/>
            </a:solidFill>
            <a:prstDash val="solid"/>
          </a:ln>
        </p:spPr>
      </p:sp>
      <p:sp>
        <p:nvSpPr>
          <p:cNvPr id="279" name="Shape 28">
            <a:extLst>
              <a:ext uri="{FF2B5EF4-FFF2-40B4-BE49-F238E27FC236}">
                <a16:creationId xmlns:a16="http://schemas.microsoft.com/office/drawing/2014/main" id="{DEFC1ACA-1C6A-8F10-63B6-9D367CFE7F3C}"/>
              </a:ext>
            </a:extLst>
          </p:cNvPr>
          <p:cNvSpPr/>
          <p:nvPr/>
        </p:nvSpPr>
        <p:spPr>
          <a:xfrm>
            <a:off x="6573631" y="5976100"/>
            <a:ext cx="3294103" cy="0"/>
          </a:xfrm>
          <a:prstGeom prst="line">
            <a:avLst/>
          </a:prstGeom>
          <a:noFill/>
          <a:ln w="9525">
            <a:solidFill>
              <a:srgbClr val="B3D1FF"/>
            </a:solidFill>
            <a:prstDash val="solid"/>
          </a:ln>
        </p:spPr>
      </p:sp>
      <p:pic>
        <p:nvPicPr>
          <p:cNvPr id="281" name="Image 2" descr="image">
            <a:extLst>
              <a:ext uri="{FF2B5EF4-FFF2-40B4-BE49-F238E27FC236}">
                <a16:creationId xmlns:a16="http://schemas.microsoft.com/office/drawing/2014/main" id="{A1C1FD48-D68B-BFED-0B03-0E48E6C1170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58114" y="4324539"/>
            <a:ext cx="1080464" cy="1209090"/>
          </a:xfrm>
          <a:prstGeom prst="rect">
            <a:avLst/>
          </a:prstGeom>
        </p:spPr>
      </p:pic>
      <p:pic>
        <p:nvPicPr>
          <p:cNvPr id="283" name="Image 12" descr="icon">
            <a:extLst>
              <a:ext uri="{FF2B5EF4-FFF2-40B4-BE49-F238E27FC236}">
                <a16:creationId xmlns:a16="http://schemas.microsoft.com/office/drawing/2014/main" id="{7A20D039-B7B3-58FD-C700-449F760B36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60570" y="5655298"/>
            <a:ext cx="298801" cy="364392"/>
          </a:xfrm>
          <a:prstGeom prst="rect">
            <a:avLst/>
          </a:prstGeom>
        </p:spPr>
      </p:pic>
      <p:sp>
        <p:nvSpPr>
          <p:cNvPr id="285" name="Text 59">
            <a:extLst>
              <a:ext uri="{FF2B5EF4-FFF2-40B4-BE49-F238E27FC236}">
                <a16:creationId xmlns:a16="http://schemas.microsoft.com/office/drawing/2014/main" id="{98A2E313-4574-1A35-85EF-15A74E64C9D2}"/>
              </a:ext>
            </a:extLst>
          </p:cNvPr>
          <p:cNvSpPr txBox="1"/>
          <p:nvPr/>
        </p:nvSpPr>
        <p:spPr>
          <a:xfrm>
            <a:off x="9165126" y="4328336"/>
            <a:ext cx="1020571" cy="306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1F6C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STRATEGY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99DDD0D0-08CD-F450-5F1F-A046F0638A9F}"/>
              </a:ext>
            </a:extLst>
          </p:cNvPr>
          <p:cNvGrpSpPr/>
          <p:nvPr/>
        </p:nvGrpSpPr>
        <p:grpSpPr>
          <a:xfrm>
            <a:off x="6190781" y="4314199"/>
            <a:ext cx="266283" cy="335514"/>
            <a:chOff x="5069580" y="4579862"/>
            <a:chExt cx="266283" cy="335514"/>
          </a:xfrm>
        </p:grpSpPr>
        <p:sp>
          <p:nvSpPr>
            <p:cNvPr id="263" name="Shape 18">
              <a:extLst>
                <a:ext uri="{FF2B5EF4-FFF2-40B4-BE49-F238E27FC236}">
                  <a16:creationId xmlns:a16="http://schemas.microsoft.com/office/drawing/2014/main" id="{C1DC3E02-26A9-8B38-9836-7B103BF6155D}"/>
                </a:ext>
              </a:extLst>
            </p:cNvPr>
            <p:cNvSpPr/>
            <p:nvPr/>
          </p:nvSpPr>
          <p:spPr>
            <a:xfrm>
              <a:off x="5073501" y="4619168"/>
              <a:ext cx="262362" cy="262362"/>
            </a:xfrm>
            <a:prstGeom prst="ellipse">
              <a:avLst/>
            </a:prstGeom>
            <a:solidFill>
              <a:srgbClr val="5891FD"/>
            </a:solidFill>
            <a:ln w="12700">
              <a:solidFill>
                <a:srgbClr val="5891FD">
                  <a:alpha val="0"/>
                </a:srgbClr>
              </a:solidFill>
              <a:prstDash val="solid"/>
            </a:ln>
          </p:spPr>
        </p:sp>
        <p:sp>
          <p:nvSpPr>
            <p:cNvPr id="287" name="Text 60">
              <a:extLst>
                <a:ext uri="{FF2B5EF4-FFF2-40B4-BE49-F238E27FC236}">
                  <a16:creationId xmlns:a16="http://schemas.microsoft.com/office/drawing/2014/main" id="{5B4EB739-C317-7F4C-4908-81D77DA4C1B3}"/>
                </a:ext>
              </a:extLst>
            </p:cNvPr>
            <p:cNvSpPr txBox="1"/>
            <p:nvPr/>
          </p:nvSpPr>
          <p:spPr>
            <a:xfrm>
              <a:off x="5069580" y="4579862"/>
              <a:ext cx="262362" cy="3355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1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9" name="Text 61">
            <a:extLst>
              <a:ext uri="{FF2B5EF4-FFF2-40B4-BE49-F238E27FC236}">
                <a16:creationId xmlns:a16="http://schemas.microsoft.com/office/drawing/2014/main" id="{92873B3C-818E-8F5B-1595-1EEE8F69FC44}"/>
              </a:ext>
            </a:extLst>
          </p:cNvPr>
          <p:cNvSpPr txBox="1"/>
          <p:nvPr/>
        </p:nvSpPr>
        <p:spPr>
          <a:xfrm>
            <a:off x="6559055" y="4299760"/>
            <a:ext cx="1851385" cy="2043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41E5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Start with a lightweight MVP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1" name="Text 62">
            <a:extLst>
              <a:ext uri="{FF2B5EF4-FFF2-40B4-BE49-F238E27FC236}">
                <a16:creationId xmlns:a16="http://schemas.microsoft.com/office/drawing/2014/main" id="{642240F1-2BBB-34BA-FB63-E47FDF34AC10}"/>
              </a:ext>
            </a:extLst>
          </p:cNvPr>
          <p:cNvSpPr txBox="1"/>
          <p:nvPr/>
        </p:nvSpPr>
        <p:spPr>
          <a:xfrm>
            <a:off x="6566343" y="4467380"/>
            <a:ext cx="2412548" cy="1751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33333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Using pre-trained models + limited fine-tuning.</a:t>
            </a:r>
            <a:endParaRPr lang="en-US" sz="79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D89232E3-9888-94FB-948C-ED34835030A9}"/>
              </a:ext>
            </a:extLst>
          </p:cNvPr>
          <p:cNvGrpSpPr/>
          <p:nvPr/>
        </p:nvGrpSpPr>
        <p:grpSpPr>
          <a:xfrm>
            <a:off x="6159853" y="4708798"/>
            <a:ext cx="269650" cy="335514"/>
            <a:chOff x="5465878" y="4363367"/>
            <a:chExt cx="269650" cy="335514"/>
          </a:xfrm>
        </p:grpSpPr>
        <p:sp>
          <p:nvSpPr>
            <p:cNvPr id="265" name="Shape 19">
              <a:extLst>
                <a:ext uri="{FF2B5EF4-FFF2-40B4-BE49-F238E27FC236}">
                  <a16:creationId xmlns:a16="http://schemas.microsoft.com/office/drawing/2014/main" id="{9D698420-C5A7-6073-70B1-BB9AE4A21DD4}"/>
                </a:ext>
              </a:extLst>
            </p:cNvPr>
            <p:cNvSpPr/>
            <p:nvPr/>
          </p:nvSpPr>
          <p:spPr>
            <a:xfrm>
              <a:off x="5473166" y="4421068"/>
              <a:ext cx="262362" cy="262362"/>
            </a:xfrm>
            <a:prstGeom prst="ellipse">
              <a:avLst/>
            </a:prstGeom>
            <a:solidFill>
              <a:srgbClr val="9370DB"/>
            </a:solidFill>
            <a:ln w="12700">
              <a:solidFill>
                <a:srgbClr val="9370DB">
                  <a:alpha val="0"/>
                </a:srgbClr>
              </a:solidFill>
              <a:prstDash val="solid"/>
            </a:ln>
          </p:spPr>
        </p:sp>
        <p:sp>
          <p:nvSpPr>
            <p:cNvPr id="293" name="Text 63">
              <a:extLst>
                <a:ext uri="{FF2B5EF4-FFF2-40B4-BE49-F238E27FC236}">
                  <a16:creationId xmlns:a16="http://schemas.microsoft.com/office/drawing/2014/main" id="{8E76E23C-443E-C24C-1073-52CF12DA4146}"/>
                </a:ext>
              </a:extLst>
            </p:cNvPr>
            <p:cNvSpPr txBox="1"/>
            <p:nvPr/>
          </p:nvSpPr>
          <p:spPr>
            <a:xfrm>
              <a:off x="5465878" y="4363367"/>
              <a:ext cx="262362" cy="3355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2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5" name="Text 64">
            <a:extLst>
              <a:ext uri="{FF2B5EF4-FFF2-40B4-BE49-F238E27FC236}">
                <a16:creationId xmlns:a16="http://schemas.microsoft.com/office/drawing/2014/main" id="{50354252-65EF-7999-03AF-214C166B6A42}"/>
              </a:ext>
            </a:extLst>
          </p:cNvPr>
          <p:cNvSpPr txBox="1"/>
          <p:nvPr/>
        </p:nvSpPr>
        <p:spPr>
          <a:xfrm>
            <a:off x="6566343" y="4693303"/>
            <a:ext cx="1763931" cy="197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828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free/open datasets first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" name="Text 65">
            <a:extLst>
              <a:ext uri="{FF2B5EF4-FFF2-40B4-BE49-F238E27FC236}">
                <a16:creationId xmlns:a16="http://schemas.microsoft.com/office/drawing/2014/main" id="{C491B75A-0D21-C128-B2D4-914020899C25}"/>
              </a:ext>
            </a:extLst>
          </p:cNvPr>
          <p:cNvSpPr txBox="1"/>
          <p:nvPr/>
        </p:nvSpPr>
        <p:spPr>
          <a:xfrm>
            <a:off x="6566343" y="4853636"/>
            <a:ext cx="2747789" cy="182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Then request ISRO sample data for better adaptation.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98CCF49A-8AA2-8A5B-8CC5-694BBA7445ED}"/>
              </a:ext>
            </a:extLst>
          </p:cNvPr>
          <p:cNvGrpSpPr/>
          <p:nvPr/>
        </p:nvGrpSpPr>
        <p:grpSpPr>
          <a:xfrm>
            <a:off x="6197352" y="5128446"/>
            <a:ext cx="255074" cy="328226"/>
            <a:chOff x="5083544" y="4175867"/>
            <a:chExt cx="255074" cy="328226"/>
          </a:xfrm>
        </p:grpSpPr>
        <p:sp>
          <p:nvSpPr>
            <p:cNvPr id="267" name="Shape 20">
              <a:extLst>
                <a:ext uri="{FF2B5EF4-FFF2-40B4-BE49-F238E27FC236}">
                  <a16:creationId xmlns:a16="http://schemas.microsoft.com/office/drawing/2014/main" id="{20723628-610F-EED1-0C87-F66861D813C4}"/>
                </a:ext>
              </a:extLst>
            </p:cNvPr>
            <p:cNvSpPr/>
            <p:nvPr/>
          </p:nvSpPr>
          <p:spPr>
            <a:xfrm>
              <a:off x="5083544" y="4214873"/>
              <a:ext cx="255074" cy="255074"/>
            </a:xfrm>
            <a:prstGeom prst="ellipse">
              <a:avLst/>
            </a:prstGeom>
            <a:solidFill>
              <a:srgbClr val="36B369"/>
            </a:solidFill>
            <a:ln w="12700">
              <a:solidFill>
                <a:srgbClr val="36B369">
                  <a:alpha val="0"/>
                </a:srgbClr>
              </a:solidFill>
              <a:prstDash val="solid"/>
            </a:ln>
          </p:spPr>
        </p:sp>
        <p:sp>
          <p:nvSpPr>
            <p:cNvPr id="299" name="Text 66">
              <a:extLst>
                <a:ext uri="{FF2B5EF4-FFF2-40B4-BE49-F238E27FC236}">
                  <a16:creationId xmlns:a16="http://schemas.microsoft.com/office/drawing/2014/main" id="{CA2C7EF8-528E-2945-BF19-F943311366C3}"/>
                </a:ext>
              </a:extLst>
            </p:cNvPr>
            <p:cNvSpPr txBox="1"/>
            <p:nvPr/>
          </p:nvSpPr>
          <p:spPr>
            <a:xfrm>
              <a:off x="5083544" y="4175867"/>
              <a:ext cx="255074" cy="3282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3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1" name="Text 67">
            <a:extLst>
              <a:ext uri="{FF2B5EF4-FFF2-40B4-BE49-F238E27FC236}">
                <a16:creationId xmlns:a16="http://schemas.microsoft.com/office/drawing/2014/main" id="{481F9D2E-7EB5-76D9-648A-ACCFA542F80F}"/>
              </a:ext>
            </a:extLst>
          </p:cNvPr>
          <p:cNvSpPr txBox="1"/>
          <p:nvPr/>
        </p:nvSpPr>
        <p:spPr>
          <a:xfrm>
            <a:off x="6566343" y="5101422"/>
            <a:ext cx="2631184" cy="197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C336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Optimize for edge / low-resource inference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3" name="Text 68">
            <a:extLst>
              <a:ext uri="{FF2B5EF4-FFF2-40B4-BE49-F238E27FC236}">
                <a16:creationId xmlns:a16="http://schemas.microsoft.com/office/drawing/2014/main" id="{48B995C3-916C-9FAE-6BD1-D0588AD9FE3C}"/>
              </a:ext>
            </a:extLst>
          </p:cNvPr>
          <p:cNvSpPr txBox="1"/>
          <p:nvPr/>
        </p:nvSpPr>
        <p:spPr>
          <a:xfrm>
            <a:off x="6559055" y="5269043"/>
            <a:ext cx="1618174" cy="182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3E5D7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 it can run on normal laptops.</a:t>
            </a:r>
            <a:endParaRPr lang="en-US" sz="79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DAC7C397-D562-313F-60BB-4A3975DBEEE9}"/>
              </a:ext>
            </a:extLst>
          </p:cNvPr>
          <p:cNvGrpSpPr/>
          <p:nvPr/>
        </p:nvGrpSpPr>
        <p:grpSpPr>
          <a:xfrm>
            <a:off x="6168234" y="5532324"/>
            <a:ext cx="274216" cy="328226"/>
            <a:chOff x="5377239" y="4770547"/>
            <a:chExt cx="274216" cy="328226"/>
          </a:xfrm>
        </p:grpSpPr>
        <p:sp>
          <p:nvSpPr>
            <p:cNvPr id="269" name="Shape 21">
              <a:extLst>
                <a:ext uri="{FF2B5EF4-FFF2-40B4-BE49-F238E27FC236}">
                  <a16:creationId xmlns:a16="http://schemas.microsoft.com/office/drawing/2014/main" id="{0A8E000C-CE5F-5905-62B2-4227D6E2658F}"/>
                </a:ext>
              </a:extLst>
            </p:cNvPr>
            <p:cNvSpPr/>
            <p:nvPr/>
          </p:nvSpPr>
          <p:spPr>
            <a:xfrm>
              <a:off x="5396381" y="4824265"/>
              <a:ext cx="255074" cy="255074"/>
            </a:xfrm>
            <a:prstGeom prst="ellipse">
              <a:avLst/>
            </a:prstGeom>
            <a:solidFill>
              <a:srgbClr val="FF8C00"/>
            </a:solidFill>
            <a:ln w="12700">
              <a:solidFill>
                <a:srgbClr val="FF8C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5" name="Text 69">
              <a:extLst>
                <a:ext uri="{FF2B5EF4-FFF2-40B4-BE49-F238E27FC236}">
                  <a16:creationId xmlns:a16="http://schemas.microsoft.com/office/drawing/2014/main" id="{08EBA037-B3FD-8775-1DBF-5359DAF3E039}"/>
                </a:ext>
              </a:extLst>
            </p:cNvPr>
            <p:cNvSpPr txBox="1"/>
            <p:nvPr/>
          </p:nvSpPr>
          <p:spPr>
            <a:xfrm>
              <a:off x="5377239" y="4770547"/>
              <a:ext cx="255074" cy="3282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4</a:t>
              </a:r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7" name="Text 70">
            <a:extLst>
              <a:ext uri="{FF2B5EF4-FFF2-40B4-BE49-F238E27FC236}">
                <a16:creationId xmlns:a16="http://schemas.microsoft.com/office/drawing/2014/main" id="{0028671E-B3A2-6D6A-ADE4-7A12858344F5}"/>
              </a:ext>
            </a:extLst>
          </p:cNvPr>
          <p:cNvSpPr txBox="1"/>
          <p:nvPr/>
        </p:nvSpPr>
        <p:spPr>
          <a:xfrm>
            <a:off x="6573631" y="5480390"/>
            <a:ext cx="1836809" cy="2116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C3167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Keep the architecture modular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" name="Text 71">
            <a:extLst>
              <a:ext uri="{FF2B5EF4-FFF2-40B4-BE49-F238E27FC236}">
                <a16:creationId xmlns:a16="http://schemas.microsoft.com/office/drawing/2014/main" id="{3DD6113B-6637-B28A-B009-F1A02BAB30F6}"/>
              </a:ext>
            </a:extLst>
          </p:cNvPr>
          <p:cNvSpPr txBox="1"/>
          <p:nvPr/>
        </p:nvSpPr>
        <p:spPr>
          <a:xfrm>
            <a:off x="6566343" y="5699162"/>
            <a:ext cx="3833677" cy="31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6"/>
              </a:lnSpc>
              <a:buNone/>
            </a:pPr>
            <a:r>
              <a:rPr lang="en-US" sz="840" dirty="0">
                <a:solidFill>
                  <a:srgbClr val="3B59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 new features (multi-temporal analysis, more sensors, collaboration tools, etc.)</a:t>
            </a:r>
            <a:endParaRPr lang="en-US" sz="84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976"/>
              </a:lnSpc>
              <a:buNone/>
            </a:pPr>
            <a:r>
              <a:rPr lang="en-US" sz="840" dirty="0">
                <a:solidFill>
                  <a:srgbClr val="3B59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can be added later as the idea expands.</a:t>
            </a:r>
            <a:endParaRPr lang="en-US" sz="84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08D16840-F20F-79DC-6B16-134D7D2F462D}"/>
              </a:ext>
            </a:extLst>
          </p:cNvPr>
          <p:cNvGrpSpPr/>
          <p:nvPr/>
        </p:nvGrpSpPr>
        <p:grpSpPr>
          <a:xfrm>
            <a:off x="6167141" y="5987030"/>
            <a:ext cx="262363" cy="262363"/>
            <a:chOff x="5207436" y="5567980"/>
            <a:chExt cx="262363" cy="262363"/>
          </a:xfrm>
        </p:grpSpPr>
        <p:sp>
          <p:nvSpPr>
            <p:cNvPr id="271" name="Shape 22">
              <a:extLst>
                <a:ext uri="{FF2B5EF4-FFF2-40B4-BE49-F238E27FC236}">
                  <a16:creationId xmlns:a16="http://schemas.microsoft.com/office/drawing/2014/main" id="{57BC036B-F565-40D8-59B1-17A7EE01F0EF}"/>
                </a:ext>
              </a:extLst>
            </p:cNvPr>
            <p:cNvSpPr/>
            <p:nvPr/>
          </p:nvSpPr>
          <p:spPr>
            <a:xfrm>
              <a:off x="5207436" y="5567980"/>
              <a:ext cx="262363" cy="262363"/>
            </a:xfrm>
            <a:prstGeom prst="ellipse">
              <a:avLst/>
            </a:prstGeom>
            <a:solidFill>
              <a:srgbClr val="FF69B4"/>
            </a:solidFill>
            <a:ln w="12700">
              <a:solidFill>
                <a:srgbClr val="FF69B4">
                  <a:alpha val="0"/>
                </a:srgbClr>
              </a:solidFill>
              <a:prstDash val="solid"/>
            </a:ln>
          </p:spPr>
        </p:sp>
        <p:sp>
          <p:nvSpPr>
            <p:cNvPr id="311" name="Text 72">
              <a:extLst>
                <a:ext uri="{FF2B5EF4-FFF2-40B4-BE49-F238E27FC236}">
                  <a16:creationId xmlns:a16="http://schemas.microsoft.com/office/drawing/2014/main" id="{74964D9D-3E05-8F26-190B-E0C53EEE3F47}"/>
                </a:ext>
              </a:extLst>
            </p:cNvPr>
            <p:cNvSpPr txBox="1"/>
            <p:nvPr/>
          </p:nvSpPr>
          <p:spPr>
            <a:xfrm>
              <a:off x="5273639" y="5619504"/>
              <a:ext cx="116605" cy="18975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220" b="1" dirty="0">
                  <a:solidFill>
                    <a:srgbClr val="FFF0FF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5</a:t>
              </a:r>
              <a:endParaRPr lang="en-US" sz="122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3" name="Text 73">
            <a:extLst>
              <a:ext uri="{FF2B5EF4-FFF2-40B4-BE49-F238E27FC236}">
                <a16:creationId xmlns:a16="http://schemas.microsoft.com/office/drawing/2014/main" id="{EF19C0C2-2CDA-B13C-9C66-7972DABD7451}"/>
              </a:ext>
            </a:extLst>
          </p:cNvPr>
          <p:cNvSpPr txBox="1"/>
          <p:nvPr/>
        </p:nvSpPr>
        <p:spPr>
          <a:xfrm>
            <a:off x="6566343" y="6019690"/>
            <a:ext cx="1829521" cy="197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B306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Continuously evaluate progress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Text 74">
            <a:extLst>
              <a:ext uri="{FF2B5EF4-FFF2-40B4-BE49-F238E27FC236}">
                <a16:creationId xmlns:a16="http://schemas.microsoft.com/office/drawing/2014/main" id="{A86A4242-2967-38E5-BFAB-35A090A734D2}"/>
              </a:ext>
            </a:extLst>
          </p:cNvPr>
          <p:cNvSpPr txBox="1"/>
          <p:nvPr/>
        </p:nvSpPr>
        <p:spPr>
          <a:xfrm>
            <a:off x="6566343" y="6165447"/>
            <a:ext cx="1727491" cy="197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C5C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And adjust scope based on results.</a:t>
            </a:r>
            <a:endParaRPr lang="en-US" sz="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5" name="Text 79">
            <a:extLst>
              <a:ext uri="{FF2B5EF4-FFF2-40B4-BE49-F238E27FC236}">
                <a16:creationId xmlns:a16="http://schemas.microsoft.com/office/drawing/2014/main" id="{1D596DF0-D181-2BB4-7B2C-AAA63ED5AD61}"/>
              </a:ext>
            </a:extLst>
          </p:cNvPr>
          <p:cNvSpPr txBox="1"/>
          <p:nvPr/>
        </p:nvSpPr>
        <p:spPr>
          <a:xfrm>
            <a:off x="10856444" y="5639997"/>
            <a:ext cx="911254" cy="68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77"/>
              </a:lnSpc>
              <a:buNone/>
            </a:pPr>
            <a:r>
              <a:rPr lang="en-US" sz="900" b="1" dirty="0">
                <a:solidFill>
                  <a:srgbClr val="0921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Small steps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b="1" dirty="0">
                <a:solidFill>
                  <a:srgbClr val="0921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today</a:t>
            </a:r>
          </a:p>
          <a:p>
            <a:pPr marL="0" indent="0" algn="ctr">
              <a:lnSpc>
                <a:spcPts val="1377"/>
              </a:lnSpc>
              <a:buNone/>
            </a:pPr>
            <a:r>
              <a:rPr lang="en-US" sz="900" b="1" dirty="0">
                <a:solidFill>
                  <a:srgbClr val="0921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↓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377"/>
              </a:lnSpc>
              <a:buNone/>
            </a:pPr>
            <a:r>
              <a:rPr lang="en-US" sz="900" b="1" dirty="0">
                <a:solidFill>
                  <a:srgbClr val="0921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Bigger impact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b="1" dirty="0">
                <a:solidFill>
                  <a:srgbClr val="09215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tomorrow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" name="Speech Bubble: Rectangle 336">
            <a:extLst>
              <a:ext uri="{FF2B5EF4-FFF2-40B4-BE49-F238E27FC236}">
                <a16:creationId xmlns:a16="http://schemas.microsoft.com/office/drawing/2014/main" id="{45C466C1-C2AD-847E-5471-A3C5235304A4}"/>
              </a:ext>
            </a:extLst>
          </p:cNvPr>
          <p:cNvSpPr/>
          <p:nvPr/>
        </p:nvSpPr>
        <p:spPr>
          <a:xfrm>
            <a:off x="10058400" y="4812607"/>
            <a:ext cx="819548" cy="408118"/>
          </a:xfrm>
          <a:prstGeom prst="wedgeRectCallout">
            <a:avLst>
              <a:gd name="adj1" fmla="val 60058"/>
              <a:gd name="adj2" fmla="val 86772"/>
            </a:avLst>
          </a:prstGeom>
          <a:solidFill>
            <a:srgbClr val="AFDC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rgbClr val="061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Satellite Data to Real-World Impact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82470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2E40C-0D80-898D-902D-E6C1635D9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2">
            <a:extLst>
              <a:ext uri="{FF2B5EF4-FFF2-40B4-BE49-F238E27FC236}">
                <a16:creationId xmlns:a16="http://schemas.microsoft.com/office/drawing/2014/main" id="{ACD979CA-6936-4CA3-DB72-858D69D69D20}"/>
              </a:ext>
            </a:extLst>
          </p:cNvPr>
          <p:cNvSpPr/>
          <p:nvPr/>
        </p:nvSpPr>
        <p:spPr>
          <a:xfrm>
            <a:off x="6164274" y="826007"/>
            <a:ext cx="5968412" cy="5442763"/>
          </a:xfrm>
          <a:prstGeom prst="roundRect">
            <a:avLst>
              <a:gd name="adj" fmla="val 2116"/>
            </a:avLst>
          </a:prstGeom>
          <a:solidFill>
            <a:srgbClr val="F1F9FC"/>
          </a:solidFill>
          <a:ln w="15875">
            <a:solidFill>
              <a:srgbClr val="AFDCFE"/>
            </a:solidFill>
            <a:prstDash val="solid"/>
          </a:ln>
        </p:spPr>
        <p:txBody>
          <a:bodyPr/>
          <a:lstStyle/>
          <a:p>
            <a:endParaRPr lang="en-IN" sz="1400" dirty="0"/>
          </a:p>
        </p:txBody>
      </p:sp>
      <p:sp>
        <p:nvSpPr>
          <p:cNvPr id="382" name="Shape 2">
            <a:extLst>
              <a:ext uri="{FF2B5EF4-FFF2-40B4-BE49-F238E27FC236}">
                <a16:creationId xmlns:a16="http://schemas.microsoft.com/office/drawing/2014/main" id="{F8FBC22E-B1B7-1E44-8D31-1251832D495D}"/>
              </a:ext>
            </a:extLst>
          </p:cNvPr>
          <p:cNvSpPr/>
          <p:nvPr/>
        </p:nvSpPr>
        <p:spPr>
          <a:xfrm>
            <a:off x="79951" y="836677"/>
            <a:ext cx="6016113" cy="3580542"/>
          </a:xfrm>
          <a:prstGeom prst="roundRect">
            <a:avLst>
              <a:gd name="adj" fmla="val 2116"/>
            </a:avLst>
          </a:prstGeom>
          <a:solidFill>
            <a:srgbClr val="F1F9FC"/>
          </a:solidFill>
          <a:ln w="15875">
            <a:solidFill>
              <a:srgbClr val="AFDCFE"/>
            </a:solidFill>
            <a:prstDash val="solid"/>
          </a:ln>
        </p:spPr>
      </p:sp>
      <p:sp>
        <p:nvSpPr>
          <p:cNvPr id="386" name="Shape 3">
            <a:extLst>
              <a:ext uri="{FF2B5EF4-FFF2-40B4-BE49-F238E27FC236}">
                <a16:creationId xmlns:a16="http://schemas.microsoft.com/office/drawing/2014/main" id="{A56B5A68-B0E6-1972-BF22-ADA2F936C666}"/>
              </a:ext>
            </a:extLst>
          </p:cNvPr>
          <p:cNvSpPr/>
          <p:nvPr/>
        </p:nvSpPr>
        <p:spPr>
          <a:xfrm>
            <a:off x="79952" y="4499727"/>
            <a:ext cx="6026368" cy="1781826"/>
          </a:xfrm>
          <a:prstGeom prst="roundRect">
            <a:avLst>
              <a:gd name="adj" fmla="val 2111"/>
            </a:avLst>
          </a:prstGeom>
          <a:solidFill>
            <a:srgbClr val="F1F9FC"/>
          </a:solidFill>
          <a:ln w="15875">
            <a:solidFill>
              <a:srgbClr val="AFDCFE"/>
            </a:solidFill>
            <a:prstDash val="solid"/>
          </a:ln>
        </p:spPr>
      </p:sp>
      <p:sp>
        <p:nvSpPr>
          <p:cNvPr id="398" name="Shape 6">
            <a:extLst>
              <a:ext uri="{FF2B5EF4-FFF2-40B4-BE49-F238E27FC236}">
                <a16:creationId xmlns:a16="http://schemas.microsoft.com/office/drawing/2014/main" id="{D14621D8-1B2E-22FC-7C0E-0300D68C4FE3}"/>
              </a:ext>
            </a:extLst>
          </p:cNvPr>
          <p:cNvSpPr/>
          <p:nvPr/>
        </p:nvSpPr>
        <p:spPr>
          <a:xfrm>
            <a:off x="157722" y="928401"/>
            <a:ext cx="4038782" cy="331839"/>
          </a:xfrm>
          <a:prstGeom prst="roundRect">
            <a:avLst>
              <a:gd name="adj" fmla="val 16000"/>
            </a:avLst>
          </a:prstGeom>
          <a:solidFill>
            <a:srgbClr val="AFDCFE"/>
          </a:solidFill>
          <a:ln w="12700">
            <a:solidFill>
              <a:srgbClr val="B6DDFD">
                <a:alpha val="0"/>
              </a:srgbClr>
            </a:solidFill>
            <a:prstDash val="solid"/>
          </a:ln>
        </p:spPr>
      </p:sp>
      <p:sp>
        <p:nvSpPr>
          <p:cNvPr id="402" name="Shape 7">
            <a:extLst>
              <a:ext uri="{FF2B5EF4-FFF2-40B4-BE49-F238E27FC236}">
                <a16:creationId xmlns:a16="http://schemas.microsoft.com/office/drawing/2014/main" id="{20EA62BF-86D2-126D-D8F0-4073443F62D1}"/>
              </a:ext>
            </a:extLst>
          </p:cNvPr>
          <p:cNvSpPr/>
          <p:nvPr/>
        </p:nvSpPr>
        <p:spPr>
          <a:xfrm>
            <a:off x="2332351" y="4570339"/>
            <a:ext cx="2371046" cy="331839"/>
          </a:xfrm>
          <a:prstGeom prst="roundRect">
            <a:avLst>
              <a:gd name="adj" fmla="val 16000"/>
            </a:avLst>
          </a:prstGeom>
          <a:solidFill>
            <a:srgbClr val="B9DDFD"/>
          </a:solidFill>
          <a:ln w="12700">
            <a:solidFill>
              <a:srgbClr val="B9DDFD">
                <a:alpha val="0"/>
              </a:srgbClr>
            </a:solidFill>
            <a:prstDash val="solid"/>
          </a:ln>
        </p:spPr>
      </p:sp>
      <p:pic>
        <p:nvPicPr>
          <p:cNvPr id="423" name="Image 5" descr="icon">
            <a:extLst>
              <a:ext uri="{FF2B5EF4-FFF2-40B4-BE49-F238E27FC236}">
                <a16:creationId xmlns:a16="http://schemas.microsoft.com/office/drawing/2014/main" id="{F5AEEFA8-EE34-C93F-5794-B0A824296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02" y="1311544"/>
            <a:ext cx="620661" cy="592869"/>
          </a:xfrm>
          <a:prstGeom prst="rect">
            <a:avLst/>
          </a:prstGeom>
        </p:spPr>
      </p:pic>
      <p:pic>
        <p:nvPicPr>
          <p:cNvPr id="427" name="Image 6" descr="icon">
            <a:extLst>
              <a:ext uri="{FF2B5EF4-FFF2-40B4-BE49-F238E27FC236}">
                <a16:creationId xmlns:a16="http://schemas.microsoft.com/office/drawing/2014/main" id="{196EEA33-2F79-BE82-8A01-F64F9CFB5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377" y="5066706"/>
            <a:ext cx="387145" cy="405581"/>
          </a:xfrm>
          <a:prstGeom prst="rect">
            <a:avLst/>
          </a:prstGeom>
        </p:spPr>
      </p:pic>
      <p:pic>
        <p:nvPicPr>
          <p:cNvPr id="431" name="Image 7" descr="icon">
            <a:extLst>
              <a:ext uri="{FF2B5EF4-FFF2-40B4-BE49-F238E27FC236}">
                <a16:creationId xmlns:a16="http://schemas.microsoft.com/office/drawing/2014/main" id="{0BB02AD7-8627-65CD-87AC-C6BEE6575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70" y="3826663"/>
            <a:ext cx="620661" cy="574343"/>
          </a:xfrm>
          <a:prstGeom prst="rect">
            <a:avLst/>
          </a:prstGeom>
        </p:spPr>
      </p:pic>
      <p:pic>
        <p:nvPicPr>
          <p:cNvPr id="436" name="Image 8" descr="icon">
            <a:extLst>
              <a:ext uri="{FF2B5EF4-FFF2-40B4-BE49-F238E27FC236}">
                <a16:creationId xmlns:a16="http://schemas.microsoft.com/office/drawing/2014/main" id="{57037DBB-6959-7090-DF15-5E930555FB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95" y="5057223"/>
            <a:ext cx="399435" cy="381000"/>
          </a:xfrm>
          <a:prstGeom prst="rect">
            <a:avLst/>
          </a:prstGeom>
        </p:spPr>
      </p:pic>
      <p:pic>
        <p:nvPicPr>
          <p:cNvPr id="440" name="Image 10" descr="icon">
            <a:extLst>
              <a:ext uri="{FF2B5EF4-FFF2-40B4-BE49-F238E27FC236}">
                <a16:creationId xmlns:a16="http://schemas.microsoft.com/office/drawing/2014/main" id="{09D5C0C4-B0AA-C81F-39C4-79F05A9622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717" y="3216320"/>
            <a:ext cx="657714" cy="518761"/>
          </a:xfrm>
          <a:prstGeom prst="rect">
            <a:avLst/>
          </a:prstGeom>
        </p:spPr>
      </p:pic>
      <p:pic>
        <p:nvPicPr>
          <p:cNvPr id="446" name="Image 13" descr="icon">
            <a:extLst>
              <a:ext uri="{FF2B5EF4-FFF2-40B4-BE49-F238E27FC236}">
                <a16:creationId xmlns:a16="http://schemas.microsoft.com/office/drawing/2014/main" id="{4940EF7F-23CB-FA0A-03F7-C06B4075D5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732" y="5639300"/>
            <a:ext cx="417871" cy="356419"/>
          </a:xfrm>
          <a:prstGeom prst="rect">
            <a:avLst/>
          </a:prstGeom>
        </p:spPr>
      </p:pic>
      <p:pic>
        <p:nvPicPr>
          <p:cNvPr id="576" name="Image 14" descr="icon">
            <a:extLst>
              <a:ext uri="{FF2B5EF4-FFF2-40B4-BE49-F238E27FC236}">
                <a16:creationId xmlns:a16="http://schemas.microsoft.com/office/drawing/2014/main" id="{B66B2439-1594-E582-EB25-101D438241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502" y="2019522"/>
            <a:ext cx="657714" cy="509497"/>
          </a:xfrm>
          <a:prstGeom prst="rect">
            <a:avLst/>
          </a:prstGeom>
        </p:spPr>
      </p:pic>
      <p:pic>
        <p:nvPicPr>
          <p:cNvPr id="578" name="Image 15" descr="icon">
            <a:extLst>
              <a:ext uri="{FF2B5EF4-FFF2-40B4-BE49-F238E27FC236}">
                <a16:creationId xmlns:a16="http://schemas.microsoft.com/office/drawing/2014/main" id="{5E9DD607-3AE8-5767-3788-9DAC566323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39195" y="5682316"/>
            <a:ext cx="430161" cy="313403"/>
          </a:xfrm>
          <a:prstGeom prst="rect">
            <a:avLst/>
          </a:prstGeom>
        </p:spPr>
      </p:pic>
      <p:pic>
        <p:nvPicPr>
          <p:cNvPr id="580" name="Image 16" descr="icon">
            <a:extLst>
              <a:ext uri="{FF2B5EF4-FFF2-40B4-BE49-F238E27FC236}">
                <a16:creationId xmlns:a16="http://schemas.microsoft.com/office/drawing/2014/main" id="{42AFA4C9-1DDC-E80C-B798-6EB0ABCCD7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10" y="2671363"/>
            <a:ext cx="620661" cy="481706"/>
          </a:xfrm>
          <a:prstGeom prst="rect">
            <a:avLst/>
          </a:prstGeom>
        </p:spPr>
      </p:pic>
      <p:sp>
        <p:nvSpPr>
          <p:cNvPr id="584" name="Text 9">
            <a:extLst>
              <a:ext uri="{FF2B5EF4-FFF2-40B4-BE49-F238E27FC236}">
                <a16:creationId xmlns:a16="http://schemas.microsoft.com/office/drawing/2014/main" id="{35B9C91F-528D-0FAE-D38D-18EACF66A59C}"/>
              </a:ext>
            </a:extLst>
          </p:cNvPr>
          <p:cNvSpPr txBox="1"/>
          <p:nvPr/>
        </p:nvSpPr>
        <p:spPr>
          <a:xfrm>
            <a:off x="4135757" y="216605"/>
            <a:ext cx="4018935" cy="380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31B3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IMPACT AND BENEFITS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8" name="Text 11">
            <a:extLst>
              <a:ext uri="{FF2B5EF4-FFF2-40B4-BE49-F238E27FC236}">
                <a16:creationId xmlns:a16="http://schemas.microsoft.com/office/drawing/2014/main" id="{A4CD39FB-F562-6EA1-2449-4B30B1B8B7F1}"/>
              </a:ext>
            </a:extLst>
          </p:cNvPr>
          <p:cNvSpPr txBox="1"/>
          <p:nvPr/>
        </p:nvSpPr>
        <p:spPr>
          <a:xfrm>
            <a:off x="249900" y="947131"/>
            <a:ext cx="3311652" cy="3066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224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DIRECT IMPACT ON TARGET USERS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0" name="Text 12">
            <a:extLst>
              <a:ext uri="{FF2B5EF4-FFF2-40B4-BE49-F238E27FC236}">
                <a16:creationId xmlns:a16="http://schemas.microsoft.com/office/drawing/2014/main" id="{4D6BA3D2-B5FC-5753-71CD-70688560A16C}"/>
              </a:ext>
            </a:extLst>
          </p:cNvPr>
          <p:cNvSpPr txBox="1"/>
          <p:nvPr/>
        </p:nvSpPr>
        <p:spPr>
          <a:xfrm>
            <a:off x="1063177" y="1457152"/>
            <a:ext cx="4909394" cy="300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09192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ISRO Scientists </a:t>
            </a:r>
            <a:r>
              <a:rPr lang="en-US" sz="1200" i="1" dirty="0">
                <a:solidFill>
                  <a:srgbClr val="09192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(natural language analysis for faster insights)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2" name="Text 13">
            <a:extLst>
              <a:ext uri="{FF2B5EF4-FFF2-40B4-BE49-F238E27FC236}">
                <a16:creationId xmlns:a16="http://schemas.microsoft.com/office/drawing/2014/main" id="{F3D178B9-8811-F701-D860-3A81B32E4D7A}"/>
              </a:ext>
            </a:extLst>
          </p:cNvPr>
          <p:cNvSpPr txBox="1"/>
          <p:nvPr/>
        </p:nvSpPr>
        <p:spPr>
          <a:xfrm>
            <a:off x="1072984" y="2053572"/>
            <a:ext cx="5056878" cy="47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48"/>
              </a:lnSpc>
              <a:buNone/>
            </a:pPr>
            <a:r>
              <a:rPr lang="en-US" sz="1200" b="1" i="1" dirty="0">
                <a:solidFill>
                  <a:srgbClr val="0917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Disaster Teams </a:t>
            </a:r>
            <a:r>
              <a:rPr lang="en-US" sz="1200" i="1" dirty="0">
                <a:solidFill>
                  <a:srgbClr val="0917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(rapid assessment of flood-affected zones with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548"/>
              </a:lnSpc>
              <a:buNone/>
            </a:pPr>
            <a:r>
              <a:rPr lang="en-US" sz="1200" i="1" dirty="0">
                <a:solidFill>
                  <a:srgbClr val="0917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visual evidence)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4" name="Text 14">
            <a:extLst>
              <a:ext uri="{FF2B5EF4-FFF2-40B4-BE49-F238E27FC236}">
                <a16:creationId xmlns:a16="http://schemas.microsoft.com/office/drawing/2014/main" id="{6A629D0B-290D-429F-080B-703744F2B1BC}"/>
              </a:ext>
            </a:extLst>
          </p:cNvPr>
          <p:cNvSpPr txBox="1"/>
          <p:nvPr/>
        </p:nvSpPr>
        <p:spPr>
          <a:xfrm>
            <a:off x="1063177" y="2756220"/>
            <a:ext cx="4491523" cy="2943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0817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Agriculture</a:t>
            </a:r>
            <a:r>
              <a:rPr lang="en-US" sz="1200" i="1" dirty="0">
                <a:solidFill>
                  <a:srgbClr val="0817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(crop health monitoring and yield prediction)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6" name="Text 15">
            <a:extLst>
              <a:ext uri="{FF2B5EF4-FFF2-40B4-BE49-F238E27FC236}">
                <a16:creationId xmlns:a16="http://schemas.microsoft.com/office/drawing/2014/main" id="{B06FE23B-2BF2-0E83-EE30-531D1A17D32E}"/>
              </a:ext>
            </a:extLst>
          </p:cNvPr>
          <p:cNvSpPr txBox="1"/>
          <p:nvPr/>
        </p:nvSpPr>
        <p:spPr>
          <a:xfrm>
            <a:off x="1072984" y="3325958"/>
            <a:ext cx="5001571" cy="2943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07152C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Defence</a:t>
            </a:r>
            <a:r>
              <a:rPr lang="en-US" sz="1200" i="1" dirty="0">
                <a:solidFill>
                  <a:srgbClr val="07152C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(enhanced imagery interpretation for security threats)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8" name="Text 16">
            <a:extLst>
              <a:ext uri="{FF2B5EF4-FFF2-40B4-BE49-F238E27FC236}">
                <a16:creationId xmlns:a16="http://schemas.microsoft.com/office/drawing/2014/main" id="{4BEA0739-85C5-B729-6DBC-2C3EF3AED9C1}"/>
              </a:ext>
            </a:extLst>
          </p:cNvPr>
          <p:cNvSpPr txBox="1"/>
          <p:nvPr/>
        </p:nvSpPr>
        <p:spPr>
          <a:xfrm>
            <a:off x="1072984" y="3925748"/>
            <a:ext cx="4995426" cy="325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06142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Urban Planners </a:t>
            </a:r>
            <a:r>
              <a:rPr lang="en-US" sz="1200" i="1" dirty="0">
                <a:solidFill>
                  <a:srgbClr val="06142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(efficient infrastructure development planning)</a:t>
            </a:r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0" name="Text 17">
            <a:extLst>
              <a:ext uri="{FF2B5EF4-FFF2-40B4-BE49-F238E27FC236}">
                <a16:creationId xmlns:a16="http://schemas.microsoft.com/office/drawing/2014/main" id="{4DE3E6FD-6960-FE9A-AB3A-56F2ABDE00EF}"/>
              </a:ext>
            </a:extLst>
          </p:cNvPr>
          <p:cNvSpPr txBox="1"/>
          <p:nvPr/>
        </p:nvSpPr>
        <p:spPr>
          <a:xfrm>
            <a:off x="2455254" y="4586932"/>
            <a:ext cx="1885975" cy="300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214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STRATEGIC IMPACT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2" name="Text 18">
            <a:extLst>
              <a:ext uri="{FF2B5EF4-FFF2-40B4-BE49-F238E27FC236}">
                <a16:creationId xmlns:a16="http://schemas.microsoft.com/office/drawing/2014/main" id="{95878D35-23D4-4B1F-DC12-B359620779D9}"/>
              </a:ext>
            </a:extLst>
          </p:cNvPr>
          <p:cNvSpPr txBox="1"/>
          <p:nvPr/>
        </p:nvSpPr>
        <p:spPr>
          <a:xfrm>
            <a:off x="751867" y="5066706"/>
            <a:ext cx="2262891" cy="2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48"/>
              </a:lnSpc>
              <a:buNone/>
            </a:pPr>
            <a:r>
              <a:rPr lang="en-US" sz="1000" dirty="0">
                <a:solidFill>
                  <a:srgbClr val="09182C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Data Accessibility (democratizing access to </a:t>
            </a:r>
          </a:p>
          <a:p>
            <a:pPr marL="0" indent="0" algn="ctr">
              <a:lnSpc>
                <a:spcPts val="1548"/>
              </a:lnSpc>
              <a:buNone/>
            </a:pPr>
            <a:r>
              <a:rPr lang="en-US" sz="1000" dirty="0">
                <a:solidFill>
                  <a:srgbClr val="09182C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complex satellite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solidFill>
                  <a:srgbClr val="09182C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data via natural language)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4" name="Text 19">
            <a:extLst>
              <a:ext uri="{FF2B5EF4-FFF2-40B4-BE49-F238E27FC236}">
                <a16:creationId xmlns:a16="http://schemas.microsoft.com/office/drawing/2014/main" id="{AA9F6669-2626-275D-6E4D-2140E2373862}"/>
              </a:ext>
            </a:extLst>
          </p:cNvPr>
          <p:cNvSpPr txBox="1"/>
          <p:nvPr/>
        </p:nvSpPr>
        <p:spPr>
          <a:xfrm>
            <a:off x="637555" y="5619969"/>
            <a:ext cx="2613618" cy="617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45"/>
              </a:lnSpc>
              <a:buNone/>
            </a:pPr>
            <a:r>
              <a:rPr lang="en-US" sz="1000" dirty="0">
                <a:solidFill>
                  <a:srgbClr val="0917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Space-AI Capability (pioneering advanced AI </a:t>
            </a:r>
          </a:p>
          <a:p>
            <a:pPr marL="0" indent="0" algn="ctr">
              <a:lnSpc>
                <a:spcPts val="1645"/>
              </a:lnSpc>
              <a:buNone/>
            </a:pPr>
            <a:r>
              <a:rPr lang="en-US" sz="1000" dirty="0">
                <a:solidFill>
                  <a:srgbClr val="0917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for space-based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solidFill>
                  <a:srgbClr val="0917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based applications)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6" name="Text 20">
            <a:extLst>
              <a:ext uri="{FF2B5EF4-FFF2-40B4-BE49-F238E27FC236}">
                <a16:creationId xmlns:a16="http://schemas.microsoft.com/office/drawing/2014/main" id="{D8F3D3CA-0A50-C010-28A8-91CC01F6910A}"/>
              </a:ext>
            </a:extLst>
          </p:cNvPr>
          <p:cNvSpPr txBox="1"/>
          <p:nvPr/>
        </p:nvSpPr>
        <p:spPr>
          <a:xfrm>
            <a:off x="3143250" y="5717204"/>
            <a:ext cx="2495945" cy="2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39"/>
              </a:lnSpc>
              <a:buNone/>
            </a:pPr>
            <a:r>
              <a:rPr lang="en-US" sz="1000" dirty="0" err="1">
                <a:solidFill>
                  <a:srgbClr val="0817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Aatmanirbhar</a:t>
            </a:r>
            <a:r>
              <a:rPr lang="en-US" sz="1000" dirty="0">
                <a:solidFill>
                  <a:srgbClr val="0817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Bharat (strengthening </a:t>
            </a:r>
          </a:p>
          <a:p>
            <a:pPr marL="0" indent="0" algn="ctr">
              <a:lnSpc>
                <a:spcPts val="1839"/>
              </a:lnSpc>
              <a:buNone/>
            </a:pPr>
            <a:r>
              <a:rPr lang="en-US" sz="1000" dirty="0">
                <a:solidFill>
                  <a:srgbClr val="0817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indigenous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solidFill>
                  <a:srgbClr val="08172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technological self-reliance)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8" name="Text 21">
            <a:extLst>
              <a:ext uri="{FF2B5EF4-FFF2-40B4-BE49-F238E27FC236}">
                <a16:creationId xmlns:a16="http://schemas.microsoft.com/office/drawing/2014/main" id="{563B5021-27E1-D782-FA15-4E63E7B6DB5E}"/>
              </a:ext>
            </a:extLst>
          </p:cNvPr>
          <p:cNvSpPr txBox="1"/>
          <p:nvPr/>
        </p:nvSpPr>
        <p:spPr>
          <a:xfrm>
            <a:off x="3340894" y="5076903"/>
            <a:ext cx="2182121" cy="284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42"/>
              </a:lnSpc>
              <a:buNone/>
            </a:pPr>
            <a:r>
              <a:rPr lang="en-US" sz="1000" dirty="0">
                <a:solidFill>
                  <a:srgbClr val="06112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Faster Decision-Making (accelerating </a:t>
            </a:r>
          </a:p>
          <a:p>
            <a:pPr marL="0" indent="0" algn="ctr">
              <a:lnSpc>
                <a:spcPts val="1742"/>
              </a:lnSpc>
              <a:buNone/>
            </a:pPr>
            <a:r>
              <a:rPr lang="en-US" sz="1000" dirty="0">
                <a:solidFill>
                  <a:srgbClr val="06112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critical decisions in key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>
                <a:solidFill>
                  <a:srgbClr val="06112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sectors)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6" name="Shape 1">
            <a:extLst>
              <a:ext uri="{FF2B5EF4-FFF2-40B4-BE49-F238E27FC236}">
                <a16:creationId xmlns:a16="http://schemas.microsoft.com/office/drawing/2014/main" id="{6C9015EA-6CC2-7BAC-3DB6-B38330EF0ED9}"/>
              </a:ext>
            </a:extLst>
          </p:cNvPr>
          <p:cNvSpPr/>
          <p:nvPr/>
        </p:nvSpPr>
        <p:spPr>
          <a:xfrm>
            <a:off x="0" y="773425"/>
            <a:ext cx="12212726" cy="0"/>
          </a:xfrm>
          <a:prstGeom prst="line">
            <a:avLst/>
          </a:prstGeom>
          <a:noFill/>
          <a:ln w="15875">
            <a:solidFill>
              <a:srgbClr val="3B82F6"/>
            </a:solidFill>
            <a:prstDash val="solid"/>
          </a:ln>
        </p:spPr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99D3C6EC-D7B9-E38F-D698-1582FC50C66B}"/>
              </a:ext>
            </a:extLst>
          </p:cNvPr>
          <p:cNvSpPr/>
          <p:nvPr/>
        </p:nvSpPr>
        <p:spPr>
          <a:xfrm>
            <a:off x="0" y="6427465"/>
            <a:ext cx="12212726" cy="430437"/>
          </a:xfrm>
          <a:prstGeom prst="rect">
            <a:avLst/>
          </a:prstGeom>
          <a:solidFill>
            <a:srgbClr val="016FC6"/>
          </a:solidFill>
          <a:ln w="12700">
            <a:solidFill>
              <a:srgbClr val="016FC6">
                <a:alpha val="0"/>
              </a:srgbClr>
            </a:solidFill>
            <a:prstDash val="solid"/>
          </a:ln>
        </p:spPr>
      </p:sp>
      <p:sp>
        <p:nvSpPr>
          <p:cNvPr id="35" name="Shape 23">
            <a:extLst>
              <a:ext uri="{FF2B5EF4-FFF2-40B4-BE49-F238E27FC236}">
                <a16:creationId xmlns:a16="http://schemas.microsoft.com/office/drawing/2014/main" id="{D3F06640-2791-8CAD-112C-D0BA52AAE411}"/>
              </a:ext>
            </a:extLst>
          </p:cNvPr>
          <p:cNvSpPr/>
          <p:nvPr/>
        </p:nvSpPr>
        <p:spPr>
          <a:xfrm>
            <a:off x="160502" y="80349"/>
            <a:ext cx="1196468" cy="547165"/>
          </a:xfrm>
          <a:prstGeom prst="ellipse">
            <a:avLst/>
          </a:prstGeom>
          <a:noFill/>
          <a:ln w="15875">
            <a:solidFill>
              <a:srgbClr val="7C3AED"/>
            </a:solidFill>
            <a:prstDash val="solid"/>
          </a:ln>
        </p:spPr>
      </p:sp>
      <p:pic>
        <p:nvPicPr>
          <p:cNvPr id="37" name="Image 15" descr="image">
            <a:extLst>
              <a:ext uri="{FF2B5EF4-FFF2-40B4-BE49-F238E27FC236}">
                <a16:creationId xmlns:a16="http://schemas.microsoft.com/office/drawing/2014/main" id="{1C4D7A6E-FE06-B748-B3F1-859D30BF7F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0162" y="51167"/>
            <a:ext cx="598234" cy="620121"/>
          </a:xfrm>
          <a:prstGeom prst="rect">
            <a:avLst/>
          </a:prstGeom>
        </p:spPr>
      </p:pic>
      <p:sp>
        <p:nvSpPr>
          <p:cNvPr id="39" name="Text 24">
            <a:extLst>
              <a:ext uri="{FF2B5EF4-FFF2-40B4-BE49-F238E27FC236}">
                <a16:creationId xmlns:a16="http://schemas.microsoft.com/office/drawing/2014/main" id="{94F0E863-F41F-DBD6-CAFA-7FCF9653336C}"/>
              </a:ext>
            </a:extLst>
          </p:cNvPr>
          <p:cNvSpPr txBox="1"/>
          <p:nvPr/>
        </p:nvSpPr>
        <p:spPr>
          <a:xfrm>
            <a:off x="532574" y="226162"/>
            <a:ext cx="452323" cy="233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3C3C7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NextGen</a:t>
            </a:r>
            <a:endParaRPr lang="en-US" sz="15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C1E42A0A-757C-F9E4-D39A-2825C5F3F533}"/>
              </a:ext>
            </a:extLst>
          </p:cNvPr>
          <p:cNvSpPr txBox="1"/>
          <p:nvPr/>
        </p:nvSpPr>
        <p:spPr>
          <a:xfrm>
            <a:off x="11140283" y="175191"/>
            <a:ext cx="824396" cy="47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SMART INDIA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HACKATHON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2026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81">
            <a:extLst>
              <a:ext uri="{FF2B5EF4-FFF2-40B4-BE49-F238E27FC236}">
                <a16:creationId xmlns:a16="http://schemas.microsoft.com/office/drawing/2014/main" id="{5F838260-0ECB-8EAC-4E84-98535BC16265}"/>
              </a:ext>
            </a:extLst>
          </p:cNvPr>
          <p:cNvSpPr txBox="1"/>
          <p:nvPr/>
        </p:nvSpPr>
        <p:spPr>
          <a:xfrm>
            <a:off x="11716630" y="6544095"/>
            <a:ext cx="102137" cy="167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5</a:t>
            </a:r>
          </a:p>
        </p:txBody>
      </p:sp>
      <p:cxnSp>
        <p:nvCxnSpPr>
          <p:cNvPr id="609" name="Straight Connector 608">
            <a:extLst>
              <a:ext uri="{FF2B5EF4-FFF2-40B4-BE49-F238E27FC236}">
                <a16:creationId xmlns:a16="http://schemas.microsoft.com/office/drawing/2014/main" id="{539DB535-96FC-6352-1F6F-09063C37E712}"/>
              </a:ext>
            </a:extLst>
          </p:cNvPr>
          <p:cNvCxnSpPr/>
          <p:nvPr/>
        </p:nvCxnSpPr>
        <p:spPr>
          <a:xfrm>
            <a:off x="3251174" y="4998364"/>
            <a:ext cx="0" cy="1140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9" name="Group 618">
            <a:extLst>
              <a:ext uri="{FF2B5EF4-FFF2-40B4-BE49-F238E27FC236}">
                <a16:creationId xmlns:a16="http://schemas.microsoft.com/office/drawing/2014/main" id="{860C40D7-6A6E-3496-C1FA-4F26E266BE00}"/>
              </a:ext>
            </a:extLst>
          </p:cNvPr>
          <p:cNvGrpSpPr/>
          <p:nvPr/>
        </p:nvGrpSpPr>
        <p:grpSpPr>
          <a:xfrm>
            <a:off x="7008141" y="933937"/>
            <a:ext cx="4110255" cy="356419"/>
            <a:chOff x="6524625" y="1304111"/>
            <a:chExt cx="4110255" cy="356419"/>
          </a:xfrm>
          <a:solidFill>
            <a:srgbClr val="AFDCFE"/>
          </a:solidFill>
        </p:grpSpPr>
        <p:sp>
          <p:nvSpPr>
            <p:cNvPr id="613" name="Shape 8">
              <a:extLst>
                <a:ext uri="{FF2B5EF4-FFF2-40B4-BE49-F238E27FC236}">
                  <a16:creationId xmlns:a16="http://schemas.microsoft.com/office/drawing/2014/main" id="{249140C2-51F3-272A-C198-81BC635FA0B2}"/>
                </a:ext>
              </a:extLst>
            </p:cNvPr>
            <p:cNvSpPr/>
            <p:nvPr/>
          </p:nvSpPr>
          <p:spPr>
            <a:xfrm>
              <a:off x="6524625" y="1304111"/>
              <a:ext cx="4110255" cy="356419"/>
            </a:xfrm>
            <a:prstGeom prst="roundRect">
              <a:avLst>
                <a:gd name="adj" fmla="val 16000"/>
              </a:avLst>
            </a:prstGeom>
            <a:grpFill/>
            <a:ln w="12700">
              <a:solidFill>
                <a:srgbClr val="BFDBFE">
                  <a:alpha val="0"/>
                </a:srgbClr>
              </a:solidFill>
              <a:prstDash val="solid"/>
            </a:ln>
          </p:spPr>
        </p:sp>
        <p:sp>
          <p:nvSpPr>
            <p:cNvPr id="617" name="Text 22">
              <a:extLst>
                <a:ext uri="{FF2B5EF4-FFF2-40B4-BE49-F238E27FC236}">
                  <a16:creationId xmlns:a16="http://schemas.microsoft.com/office/drawing/2014/main" id="{A30E2C38-D53E-9F5A-3B84-07D4E2FBD5FC}"/>
                </a:ext>
              </a:extLst>
            </p:cNvPr>
            <p:cNvSpPr txBox="1"/>
            <p:nvPr/>
          </p:nvSpPr>
          <p:spPr>
            <a:xfrm>
              <a:off x="6703634" y="1328987"/>
              <a:ext cx="3752236" cy="312813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001B4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ECONOMIC &amp; STRATEGIC BENEFITS</a:t>
              </a:r>
              <a:endParaRPr lang="en-US" sz="1700" dirty="0"/>
            </a:p>
          </p:txBody>
        </p:sp>
      </p:grpSp>
      <p:pic>
        <p:nvPicPr>
          <p:cNvPr id="627" name="Image 3" descr="icon">
            <a:extLst>
              <a:ext uri="{FF2B5EF4-FFF2-40B4-BE49-F238E27FC236}">
                <a16:creationId xmlns:a16="http://schemas.microsoft.com/office/drawing/2014/main" id="{17E3477A-2F56-2D86-8F4A-6E930AF6B2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9561" y="2542983"/>
            <a:ext cx="430161" cy="399435"/>
          </a:xfrm>
          <a:prstGeom prst="rect">
            <a:avLst/>
          </a:prstGeom>
        </p:spPr>
      </p:pic>
      <p:pic>
        <p:nvPicPr>
          <p:cNvPr id="631" name="Image 9" descr="icon">
            <a:extLst>
              <a:ext uri="{FF2B5EF4-FFF2-40B4-BE49-F238E27FC236}">
                <a16:creationId xmlns:a16="http://schemas.microsoft.com/office/drawing/2014/main" id="{F8F0AD25-34BC-CB46-F120-2C7E9BE20B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7996" y="3184122"/>
            <a:ext cx="362565" cy="417871"/>
          </a:xfrm>
          <a:prstGeom prst="rect">
            <a:avLst/>
          </a:prstGeom>
        </p:spPr>
      </p:pic>
      <p:pic>
        <p:nvPicPr>
          <p:cNvPr id="633" name="Image 11" descr="icon">
            <a:extLst>
              <a:ext uri="{FF2B5EF4-FFF2-40B4-BE49-F238E27FC236}">
                <a16:creationId xmlns:a16="http://schemas.microsoft.com/office/drawing/2014/main" id="{323ED3CB-8959-7AE6-E91B-A4075E1EDB7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79561" y="1911509"/>
            <a:ext cx="381000" cy="393290"/>
          </a:xfrm>
          <a:prstGeom prst="rect">
            <a:avLst/>
          </a:prstGeom>
        </p:spPr>
      </p:pic>
      <p:sp>
        <p:nvSpPr>
          <p:cNvPr id="637" name="Text 24">
            <a:extLst>
              <a:ext uri="{FF2B5EF4-FFF2-40B4-BE49-F238E27FC236}">
                <a16:creationId xmlns:a16="http://schemas.microsoft.com/office/drawing/2014/main" id="{A22209EE-C1ED-DF7D-79E9-4C863E178812}"/>
              </a:ext>
            </a:extLst>
          </p:cNvPr>
          <p:cNvSpPr txBox="1"/>
          <p:nvPr/>
        </p:nvSpPr>
        <p:spPr>
          <a:xfrm>
            <a:off x="6789238" y="1962993"/>
            <a:ext cx="2518926" cy="50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39"/>
              </a:lnSpc>
              <a:buNone/>
            </a:pPr>
            <a:r>
              <a:rPr lang="en-US" sz="2000" b="1" dirty="0">
                <a:solidFill>
                  <a:srgbClr val="0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 </a:t>
            </a:r>
          </a:p>
          <a:p>
            <a:pPr marL="0" indent="0" algn="l">
              <a:lnSpc>
                <a:spcPts val="1839"/>
              </a:lnSpc>
              <a:buNone/>
            </a:pPr>
            <a:r>
              <a:rPr lang="en-US" sz="1100" i="1" dirty="0">
                <a:solidFill>
                  <a:srgbClr val="0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100" i="1" dirty="0">
                <a:solidFill>
                  <a:srgbClr val="09162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lower</a:t>
            </a: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>
                <a:solidFill>
                  <a:srgbClr val="09162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operational costs in data analysis)</a:t>
            </a:r>
            <a:endParaRPr lang="en-US" sz="11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1" name="Text 25">
            <a:extLst>
              <a:ext uri="{FF2B5EF4-FFF2-40B4-BE49-F238E27FC236}">
                <a16:creationId xmlns:a16="http://schemas.microsoft.com/office/drawing/2014/main" id="{45D5F079-C0B2-F1D7-F832-B3CDC2C1F6D4}"/>
              </a:ext>
            </a:extLst>
          </p:cNvPr>
          <p:cNvSpPr txBox="1"/>
          <p:nvPr/>
        </p:nvSpPr>
        <p:spPr>
          <a:xfrm>
            <a:off x="6815447" y="2547427"/>
            <a:ext cx="2478209" cy="44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90"/>
              </a:lnSpc>
              <a:buNone/>
            </a:pPr>
            <a:r>
              <a:rPr lang="en-US" sz="2000" b="1" dirty="0">
                <a:solidFill>
                  <a:srgbClr val="08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Generation </a:t>
            </a:r>
          </a:p>
          <a:p>
            <a:pPr marL="0" indent="0" algn="l">
              <a:lnSpc>
                <a:spcPts val="1790"/>
              </a:lnSpc>
              <a:buNone/>
            </a:pPr>
            <a:r>
              <a:rPr lang="en-US" sz="1100" i="1" dirty="0">
                <a:solidFill>
                  <a:srgbClr val="08162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(new</a:t>
            </a: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>
                <a:solidFill>
                  <a:srgbClr val="08162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markets for satellite data</a:t>
            </a: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>
                <a:solidFill>
                  <a:srgbClr val="08162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products)</a:t>
            </a:r>
            <a:endParaRPr lang="en-US" sz="11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5" name="Text 26">
            <a:extLst>
              <a:ext uri="{FF2B5EF4-FFF2-40B4-BE49-F238E27FC236}">
                <a16:creationId xmlns:a16="http://schemas.microsoft.com/office/drawing/2014/main" id="{04951A84-5543-87FE-F8CF-E1D90EA3BA10}"/>
              </a:ext>
            </a:extLst>
          </p:cNvPr>
          <p:cNvSpPr txBox="1"/>
          <p:nvPr/>
        </p:nvSpPr>
        <p:spPr>
          <a:xfrm>
            <a:off x="6786948" y="3184122"/>
            <a:ext cx="2015023" cy="44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4"/>
              </a:lnSpc>
              <a:buNone/>
            </a:pPr>
            <a:r>
              <a:rPr lang="en-US" sz="2000" b="1" dirty="0">
                <a:solidFill>
                  <a:srgbClr val="091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Attraction</a:t>
            </a:r>
          </a:p>
          <a:p>
            <a:pPr marL="0" indent="0" algn="l">
              <a:lnSpc>
                <a:spcPts val="1694"/>
              </a:lnSpc>
              <a:buNone/>
            </a:pPr>
            <a:r>
              <a:rPr lang="en-US" sz="1100" i="1" dirty="0">
                <a:solidFill>
                  <a:srgbClr val="091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100" i="1" dirty="0">
                <a:solidFill>
                  <a:srgbClr val="0916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increased private sector</a:t>
            </a: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>
                <a:solidFill>
                  <a:srgbClr val="0916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engagement in space tech)</a:t>
            </a:r>
            <a:endParaRPr lang="en-US" sz="11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48" name="Image 0" descr="chart">
            <a:extLst>
              <a:ext uri="{FF2B5EF4-FFF2-40B4-BE49-F238E27FC236}">
                <a16:creationId xmlns:a16="http://schemas.microsoft.com/office/drawing/2014/main" id="{B35AC1A7-742F-ECE3-1C37-8E4A21941A6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72081" y="1415166"/>
            <a:ext cx="2625049" cy="2013831"/>
          </a:xfrm>
          <a:prstGeom prst="rect">
            <a:avLst/>
          </a:prstGeom>
        </p:spPr>
      </p:pic>
      <p:sp>
        <p:nvSpPr>
          <p:cNvPr id="650" name="Text 27">
            <a:extLst>
              <a:ext uri="{FF2B5EF4-FFF2-40B4-BE49-F238E27FC236}">
                <a16:creationId xmlns:a16="http://schemas.microsoft.com/office/drawing/2014/main" id="{55ECBBDC-55F5-F92B-D92C-6E2A1B5F64AD}"/>
              </a:ext>
            </a:extLst>
          </p:cNvPr>
          <p:cNvSpPr txBox="1"/>
          <p:nvPr/>
        </p:nvSpPr>
        <p:spPr>
          <a:xfrm>
            <a:off x="10423668" y="1437397"/>
            <a:ext cx="1628468" cy="312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7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Efficiency</a:t>
            </a:r>
            <a:endParaRPr lang="en-US" sz="1000" dirty="0"/>
          </a:p>
        </p:txBody>
      </p:sp>
      <p:sp>
        <p:nvSpPr>
          <p:cNvPr id="655" name="TextBox 654">
            <a:extLst>
              <a:ext uri="{FF2B5EF4-FFF2-40B4-BE49-F238E27FC236}">
                <a16:creationId xmlns:a16="http://schemas.microsoft.com/office/drawing/2014/main" id="{01666CB0-C607-B56C-11CE-7D170D1693AC}"/>
              </a:ext>
            </a:extLst>
          </p:cNvPr>
          <p:cNvSpPr txBox="1"/>
          <p:nvPr/>
        </p:nvSpPr>
        <p:spPr>
          <a:xfrm>
            <a:off x="6236314" y="1407419"/>
            <a:ext cx="1901671" cy="32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540" u="sng" dirty="0">
                <a:solidFill>
                  <a:srgbClr val="0819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Benefits</a:t>
            </a:r>
            <a:endParaRPr lang="en-US" sz="1540" u="sng" dirty="0"/>
          </a:p>
        </p:txBody>
      </p:sp>
      <p:sp>
        <p:nvSpPr>
          <p:cNvPr id="661" name="Text 24">
            <a:extLst>
              <a:ext uri="{FF2B5EF4-FFF2-40B4-BE49-F238E27FC236}">
                <a16:creationId xmlns:a16="http://schemas.microsoft.com/office/drawing/2014/main" id="{BCEC724D-40D8-C26D-B1CB-193B1BF2009B}"/>
              </a:ext>
            </a:extLst>
          </p:cNvPr>
          <p:cNvSpPr txBox="1"/>
          <p:nvPr/>
        </p:nvSpPr>
        <p:spPr>
          <a:xfrm>
            <a:off x="6767929" y="4263033"/>
            <a:ext cx="2518926" cy="50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39"/>
              </a:lnSpc>
              <a:buNone/>
            </a:pPr>
            <a:r>
              <a:rPr lang="en-US" sz="2000" b="1" dirty="0">
                <a:solidFill>
                  <a:srgbClr val="0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 </a:t>
            </a:r>
          </a:p>
          <a:p>
            <a:pPr marL="0" indent="0" algn="l">
              <a:lnSpc>
                <a:spcPts val="1839"/>
              </a:lnSpc>
              <a:buNone/>
            </a:pPr>
            <a:r>
              <a:rPr lang="en-US" sz="1100" i="1" dirty="0">
                <a:solidFill>
                  <a:srgbClr val="091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100" i="1" dirty="0">
                <a:solidFill>
                  <a:srgbClr val="09162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lower</a:t>
            </a: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>
                <a:solidFill>
                  <a:srgbClr val="09162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operational costs in data analysis)</a:t>
            </a:r>
            <a:endParaRPr lang="en-US" sz="11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2" name="Text 25">
            <a:extLst>
              <a:ext uri="{FF2B5EF4-FFF2-40B4-BE49-F238E27FC236}">
                <a16:creationId xmlns:a16="http://schemas.microsoft.com/office/drawing/2014/main" id="{5CAD421B-A344-E751-4200-14FA13D5B3AA}"/>
              </a:ext>
            </a:extLst>
          </p:cNvPr>
          <p:cNvSpPr txBox="1"/>
          <p:nvPr/>
        </p:nvSpPr>
        <p:spPr>
          <a:xfrm>
            <a:off x="6794138" y="4866517"/>
            <a:ext cx="2478209" cy="44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90"/>
              </a:lnSpc>
              <a:buNone/>
            </a:pPr>
            <a:r>
              <a:rPr lang="en-US" sz="2000" b="1" dirty="0">
                <a:solidFill>
                  <a:srgbClr val="08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Generation </a:t>
            </a:r>
          </a:p>
          <a:p>
            <a:pPr marL="0" indent="0" algn="l">
              <a:lnSpc>
                <a:spcPts val="1790"/>
              </a:lnSpc>
              <a:buNone/>
            </a:pPr>
            <a:r>
              <a:rPr lang="en-US" sz="1100" i="1" dirty="0">
                <a:solidFill>
                  <a:srgbClr val="08162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(new</a:t>
            </a: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>
                <a:solidFill>
                  <a:srgbClr val="08162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markets for satellite data</a:t>
            </a: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>
                <a:solidFill>
                  <a:srgbClr val="08162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products)</a:t>
            </a:r>
            <a:endParaRPr lang="en-US" sz="11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3" name="Text 26">
            <a:extLst>
              <a:ext uri="{FF2B5EF4-FFF2-40B4-BE49-F238E27FC236}">
                <a16:creationId xmlns:a16="http://schemas.microsoft.com/office/drawing/2014/main" id="{EE702628-3854-18AF-80E0-D21D89D3BD6C}"/>
              </a:ext>
            </a:extLst>
          </p:cNvPr>
          <p:cNvSpPr txBox="1"/>
          <p:nvPr/>
        </p:nvSpPr>
        <p:spPr>
          <a:xfrm>
            <a:off x="6794138" y="5464344"/>
            <a:ext cx="2015023" cy="44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4"/>
              </a:lnSpc>
              <a:buNone/>
            </a:pPr>
            <a:r>
              <a:rPr lang="en-US" sz="2000" b="1" dirty="0">
                <a:solidFill>
                  <a:srgbClr val="091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Attraction</a:t>
            </a:r>
          </a:p>
          <a:p>
            <a:pPr marL="0" indent="0" algn="l">
              <a:lnSpc>
                <a:spcPts val="1694"/>
              </a:lnSpc>
              <a:buNone/>
            </a:pPr>
            <a:r>
              <a:rPr lang="en-US" sz="1100" i="1" dirty="0">
                <a:solidFill>
                  <a:srgbClr val="091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100" i="1" dirty="0">
                <a:solidFill>
                  <a:srgbClr val="0916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increased private sector</a:t>
            </a:r>
            <a:r>
              <a:rPr lang="en-US" sz="11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>
                <a:solidFill>
                  <a:srgbClr val="091629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engagement in space tech)</a:t>
            </a:r>
            <a:endParaRPr lang="en-US" sz="11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A87A60C3-17BB-2AFA-0977-59356501BC46}"/>
              </a:ext>
            </a:extLst>
          </p:cNvPr>
          <p:cNvSpPr txBox="1"/>
          <p:nvPr/>
        </p:nvSpPr>
        <p:spPr>
          <a:xfrm>
            <a:off x="6253021" y="3767440"/>
            <a:ext cx="1901671" cy="32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40" u="sng" dirty="0">
                <a:solidFill>
                  <a:srgbClr val="08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Benefits</a:t>
            </a:r>
            <a:endParaRPr lang="en-US" sz="1540" u="sng" dirty="0"/>
          </a:p>
        </p:txBody>
      </p:sp>
      <p:pic>
        <p:nvPicPr>
          <p:cNvPr id="666" name="Image 12" descr="icon">
            <a:extLst>
              <a:ext uri="{FF2B5EF4-FFF2-40B4-BE49-F238E27FC236}">
                <a16:creationId xmlns:a16="http://schemas.microsoft.com/office/drawing/2014/main" id="{F92C7204-B9A5-52D1-A5B7-2D40896AF66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1226" y="4182692"/>
            <a:ext cx="374855" cy="399435"/>
          </a:xfrm>
          <a:prstGeom prst="rect">
            <a:avLst/>
          </a:prstGeom>
        </p:spPr>
      </p:pic>
      <p:pic>
        <p:nvPicPr>
          <p:cNvPr id="668" name="Image 4" descr="icon">
            <a:extLst>
              <a:ext uri="{FF2B5EF4-FFF2-40B4-BE49-F238E27FC236}">
                <a16:creationId xmlns:a16="http://schemas.microsoft.com/office/drawing/2014/main" id="{53645703-22F7-B9ED-557B-B65F489A69C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35063" y="4841776"/>
            <a:ext cx="393290" cy="411726"/>
          </a:xfrm>
          <a:prstGeom prst="rect">
            <a:avLst/>
          </a:prstGeom>
        </p:spPr>
      </p:pic>
      <p:pic>
        <p:nvPicPr>
          <p:cNvPr id="670" name="Image 17" descr="icon">
            <a:extLst>
              <a:ext uri="{FF2B5EF4-FFF2-40B4-BE49-F238E27FC236}">
                <a16:creationId xmlns:a16="http://schemas.microsoft.com/office/drawing/2014/main" id="{9BA68631-D310-8D8F-E2B2-E4F256FA051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5598" y="5427901"/>
            <a:ext cx="356419" cy="362565"/>
          </a:xfrm>
          <a:prstGeom prst="rect">
            <a:avLst/>
          </a:prstGeom>
        </p:spPr>
      </p:pic>
      <p:pic>
        <p:nvPicPr>
          <p:cNvPr id="672" name="Image 1" descr="chart">
            <a:extLst>
              <a:ext uri="{FF2B5EF4-FFF2-40B4-BE49-F238E27FC236}">
                <a16:creationId xmlns:a16="http://schemas.microsoft.com/office/drawing/2014/main" id="{F14AF7DD-4696-549F-A832-04E99309C24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93659" y="3781648"/>
            <a:ext cx="2478209" cy="1909642"/>
          </a:xfrm>
          <a:prstGeom prst="rect">
            <a:avLst/>
          </a:prstGeom>
        </p:spPr>
      </p:pic>
      <p:sp>
        <p:nvSpPr>
          <p:cNvPr id="674" name="TextBox 673">
            <a:extLst>
              <a:ext uri="{FF2B5EF4-FFF2-40B4-BE49-F238E27FC236}">
                <a16:creationId xmlns:a16="http://schemas.microsoft.com/office/drawing/2014/main" id="{8E9E39D6-7415-C023-1617-1A604E991364}"/>
              </a:ext>
            </a:extLst>
          </p:cNvPr>
          <p:cNvSpPr txBox="1"/>
          <p:nvPr/>
        </p:nvSpPr>
        <p:spPr>
          <a:xfrm>
            <a:off x="10354470" y="5061986"/>
            <a:ext cx="15716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5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Growth</a:t>
            </a:r>
            <a:endParaRPr lang="en-US" sz="1000" dirty="0"/>
          </a:p>
        </p:txBody>
      </p:sp>
      <p:sp>
        <p:nvSpPr>
          <p:cNvPr id="675" name="Arrow: Up 674">
            <a:extLst>
              <a:ext uri="{FF2B5EF4-FFF2-40B4-BE49-F238E27FC236}">
                <a16:creationId xmlns:a16="http://schemas.microsoft.com/office/drawing/2014/main" id="{B30A50EC-F38B-AC6F-11BF-6B0687D17306}"/>
              </a:ext>
            </a:extLst>
          </p:cNvPr>
          <p:cNvSpPr/>
          <p:nvPr/>
        </p:nvSpPr>
        <p:spPr>
          <a:xfrm>
            <a:off x="11237902" y="4517761"/>
            <a:ext cx="238125" cy="559141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026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9">
            <a:extLst>
              <a:ext uri="{FF2B5EF4-FFF2-40B4-BE49-F238E27FC236}">
                <a16:creationId xmlns:a16="http://schemas.microsoft.com/office/drawing/2014/main" id="{B7DC02A3-1E51-4604-E20A-B5EFC4BB371A}"/>
              </a:ext>
            </a:extLst>
          </p:cNvPr>
          <p:cNvSpPr txBox="1"/>
          <p:nvPr/>
        </p:nvSpPr>
        <p:spPr>
          <a:xfrm>
            <a:off x="4135757" y="216605"/>
            <a:ext cx="4018935" cy="380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080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32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8F3E0FEF-BB50-AF86-13B2-F235B7551E09}"/>
              </a:ext>
            </a:extLst>
          </p:cNvPr>
          <p:cNvSpPr/>
          <p:nvPr/>
        </p:nvSpPr>
        <p:spPr>
          <a:xfrm>
            <a:off x="0" y="773425"/>
            <a:ext cx="12212726" cy="0"/>
          </a:xfrm>
          <a:prstGeom prst="line">
            <a:avLst/>
          </a:prstGeom>
          <a:noFill/>
          <a:ln w="15875">
            <a:solidFill>
              <a:srgbClr val="3B82F6"/>
            </a:solidFill>
            <a:prstDash val="solid"/>
          </a:ln>
        </p:spPr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A365C798-5A72-7785-01D6-DFA5261A0831}"/>
              </a:ext>
            </a:extLst>
          </p:cNvPr>
          <p:cNvSpPr/>
          <p:nvPr/>
        </p:nvSpPr>
        <p:spPr>
          <a:xfrm>
            <a:off x="0" y="6427465"/>
            <a:ext cx="12212726" cy="430437"/>
          </a:xfrm>
          <a:prstGeom prst="rect">
            <a:avLst/>
          </a:prstGeom>
          <a:solidFill>
            <a:srgbClr val="016FC6"/>
          </a:solidFill>
          <a:ln w="12700">
            <a:solidFill>
              <a:srgbClr val="016FC6">
                <a:alpha val="0"/>
              </a:srgbClr>
            </a:solidFill>
            <a:prstDash val="solid"/>
          </a:ln>
        </p:spPr>
      </p:sp>
      <p:sp>
        <p:nvSpPr>
          <p:cNvPr id="9" name="Shape 23">
            <a:extLst>
              <a:ext uri="{FF2B5EF4-FFF2-40B4-BE49-F238E27FC236}">
                <a16:creationId xmlns:a16="http://schemas.microsoft.com/office/drawing/2014/main" id="{E62F2520-E65D-9AE7-3B68-D0962BAF16D7}"/>
              </a:ext>
            </a:extLst>
          </p:cNvPr>
          <p:cNvSpPr/>
          <p:nvPr/>
        </p:nvSpPr>
        <p:spPr>
          <a:xfrm>
            <a:off x="160502" y="80349"/>
            <a:ext cx="1196468" cy="547165"/>
          </a:xfrm>
          <a:prstGeom prst="ellipse">
            <a:avLst/>
          </a:prstGeom>
          <a:noFill/>
          <a:ln w="15875">
            <a:solidFill>
              <a:srgbClr val="7C3AED"/>
            </a:solidFill>
            <a:prstDash val="solid"/>
          </a:ln>
        </p:spPr>
      </p:sp>
      <p:pic>
        <p:nvPicPr>
          <p:cNvPr id="11" name="Image 15" descr="image">
            <a:extLst>
              <a:ext uri="{FF2B5EF4-FFF2-40B4-BE49-F238E27FC236}">
                <a16:creationId xmlns:a16="http://schemas.microsoft.com/office/drawing/2014/main" id="{EFC08005-6FB3-393D-BB38-68A237ED8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162" y="51167"/>
            <a:ext cx="598234" cy="620121"/>
          </a:xfrm>
          <a:prstGeom prst="rect">
            <a:avLst/>
          </a:prstGeom>
        </p:spPr>
      </p:pic>
      <p:sp>
        <p:nvSpPr>
          <p:cNvPr id="13" name="Text 24">
            <a:extLst>
              <a:ext uri="{FF2B5EF4-FFF2-40B4-BE49-F238E27FC236}">
                <a16:creationId xmlns:a16="http://schemas.microsoft.com/office/drawing/2014/main" id="{679A6944-B666-37EB-F669-A198E3488316}"/>
              </a:ext>
            </a:extLst>
          </p:cNvPr>
          <p:cNvSpPr txBox="1"/>
          <p:nvPr/>
        </p:nvSpPr>
        <p:spPr>
          <a:xfrm>
            <a:off x="532574" y="226162"/>
            <a:ext cx="452323" cy="233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3C3C7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NextGen</a:t>
            </a:r>
            <a:endParaRPr lang="en-US" sz="15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26">
            <a:extLst>
              <a:ext uri="{FF2B5EF4-FFF2-40B4-BE49-F238E27FC236}">
                <a16:creationId xmlns:a16="http://schemas.microsoft.com/office/drawing/2014/main" id="{12E5CEE0-7639-F6EE-1071-26CB7E353453}"/>
              </a:ext>
            </a:extLst>
          </p:cNvPr>
          <p:cNvSpPr txBox="1"/>
          <p:nvPr/>
        </p:nvSpPr>
        <p:spPr>
          <a:xfrm>
            <a:off x="11140283" y="175191"/>
            <a:ext cx="824396" cy="47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SMART INDIA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HACKATHON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264"/>
              </a:lnSpc>
              <a:buNone/>
            </a:pPr>
            <a:r>
              <a:rPr lang="en-US" sz="1000" b="1" dirty="0">
                <a:solidFill>
                  <a:srgbClr val="44546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2026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81">
            <a:extLst>
              <a:ext uri="{FF2B5EF4-FFF2-40B4-BE49-F238E27FC236}">
                <a16:creationId xmlns:a16="http://schemas.microsoft.com/office/drawing/2014/main" id="{2E9417D0-A216-5EB1-2B40-6AF3F5DEAFB0}"/>
              </a:ext>
            </a:extLst>
          </p:cNvPr>
          <p:cNvSpPr txBox="1"/>
          <p:nvPr/>
        </p:nvSpPr>
        <p:spPr>
          <a:xfrm>
            <a:off x="11716630" y="6544095"/>
            <a:ext cx="102137" cy="1679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78358903-FBE5-A17F-9542-BB7D6B5D3904}"/>
              </a:ext>
            </a:extLst>
          </p:cNvPr>
          <p:cNvSpPr/>
          <p:nvPr/>
        </p:nvSpPr>
        <p:spPr>
          <a:xfrm>
            <a:off x="160502" y="989077"/>
            <a:ext cx="11898148" cy="2268473"/>
          </a:xfrm>
          <a:prstGeom prst="roundRect">
            <a:avLst>
              <a:gd name="adj" fmla="val 2116"/>
            </a:avLst>
          </a:prstGeom>
          <a:solidFill>
            <a:srgbClr val="E0F0FF"/>
          </a:solidFill>
          <a:ln w="15875">
            <a:solidFill>
              <a:srgbClr val="AFDCFE"/>
            </a:solidFill>
            <a:prstDash val="solid"/>
          </a:ln>
        </p:spPr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C6BB83F5-1FBF-6B44-D1F2-00EF9B651CBF}"/>
              </a:ext>
            </a:extLst>
          </p:cNvPr>
          <p:cNvSpPr/>
          <p:nvPr/>
        </p:nvSpPr>
        <p:spPr>
          <a:xfrm>
            <a:off x="4270322" y="1033176"/>
            <a:ext cx="3530654" cy="331839"/>
          </a:xfrm>
          <a:prstGeom prst="roundRect">
            <a:avLst>
              <a:gd name="adj" fmla="val 16000"/>
            </a:avLst>
          </a:prstGeom>
          <a:solidFill>
            <a:srgbClr val="AFDCFE"/>
          </a:solidFill>
          <a:ln w="12700">
            <a:solidFill>
              <a:srgbClr val="B6DDFD">
                <a:alpha val="0"/>
              </a:srgbClr>
            </a:solidFill>
            <a:prstDash val="solid"/>
          </a:ln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265668-B871-850F-ED1A-CC4C9306B29E}"/>
              </a:ext>
            </a:extLst>
          </p:cNvPr>
          <p:cNvSpPr txBox="1"/>
          <p:nvPr/>
        </p:nvSpPr>
        <p:spPr>
          <a:xfrm>
            <a:off x="4289524" y="1019451"/>
            <a:ext cx="353065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51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RESEARCH FOUNDATIONS</a:t>
            </a:r>
            <a:endParaRPr lang="en-US" sz="1700" dirty="0"/>
          </a:p>
        </p:txBody>
      </p:sp>
      <p:pic>
        <p:nvPicPr>
          <p:cNvPr id="216" name="Picture 215">
            <a:extLst>
              <a:ext uri="{FF2B5EF4-FFF2-40B4-BE49-F238E27FC236}">
                <a16:creationId xmlns:a16="http://schemas.microsoft.com/office/drawing/2014/main" id="{5DA9B4EB-035F-A2AA-472E-5EC7EEFF5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02" y="1622174"/>
            <a:ext cx="11891634" cy="1491360"/>
          </a:xfrm>
          <a:prstGeom prst="rect">
            <a:avLst/>
          </a:prstGeom>
        </p:spPr>
      </p:pic>
      <p:sp>
        <p:nvSpPr>
          <p:cNvPr id="280" name="Shape 7">
            <a:extLst>
              <a:ext uri="{FF2B5EF4-FFF2-40B4-BE49-F238E27FC236}">
                <a16:creationId xmlns:a16="http://schemas.microsoft.com/office/drawing/2014/main" id="{BF20B957-D9C9-96F4-5BE2-B2DA6E5F7F0D}"/>
              </a:ext>
            </a:extLst>
          </p:cNvPr>
          <p:cNvSpPr/>
          <p:nvPr/>
        </p:nvSpPr>
        <p:spPr>
          <a:xfrm>
            <a:off x="160502" y="3362314"/>
            <a:ext cx="3535198" cy="285750"/>
          </a:xfrm>
          <a:prstGeom prst="roundRect">
            <a:avLst>
              <a:gd name="adj" fmla="val 16000"/>
            </a:avLst>
          </a:prstGeom>
          <a:solidFill>
            <a:srgbClr val="BBDEFB"/>
          </a:solidFill>
          <a:ln w="12700">
            <a:solidFill>
              <a:srgbClr val="BBDEFB">
                <a:alpha val="0"/>
              </a:srgbClr>
            </a:solidFill>
            <a:prstDash val="solid"/>
          </a:ln>
        </p:spPr>
      </p:sp>
      <p:sp>
        <p:nvSpPr>
          <p:cNvPr id="282" name="Shape 8">
            <a:extLst>
              <a:ext uri="{FF2B5EF4-FFF2-40B4-BE49-F238E27FC236}">
                <a16:creationId xmlns:a16="http://schemas.microsoft.com/office/drawing/2014/main" id="{486F0CAC-49B3-F7B5-D3E5-A1823FD0024A}"/>
              </a:ext>
            </a:extLst>
          </p:cNvPr>
          <p:cNvSpPr/>
          <p:nvPr/>
        </p:nvSpPr>
        <p:spPr>
          <a:xfrm>
            <a:off x="5538294" y="3362314"/>
            <a:ext cx="2616398" cy="285750"/>
          </a:xfrm>
          <a:prstGeom prst="roundRect">
            <a:avLst>
              <a:gd name="adj" fmla="val 16000"/>
            </a:avLst>
          </a:prstGeom>
          <a:solidFill>
            <a:srgbClr val="BBDEFB"/>
          </a:solidFill>
          <a:ln w="12700">
            <a:solidFill>
              <a:srgbClr val="BBDEFB">
                <a:alpha val="0"/>
              </a:srgbClr>
            </a:solidFill>
            <a:prstDash val="solid"/>
          </a:ln>
        </p:spPr>
      </p:sp>
      <p:pic>
        <p:nvPicPr>
          <p:cNvPr id="308" name="Image 18" descr="icon">
            <a:extLst>
              <a:ext uri="{FF2B5EF4-FFF2-40B4-BE49-F238E27FC236}">
                <a16:creationId xmlns:a16="http://schemas.microsoft.com/office/drawing/2014/main" id="{A15E1E0A-A915-1833-E076-8BD9E9E0D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296" y="4625198"/>
            <a:ext cx="348258" cy="294680"/>
          </a:xfrm>
          <a:prstGeom prst="rect">
            <a:avLst/>
          </a:prstGeom>
        </p:spPr>
      </p:pic>
      <p:pic>
        <p:nvPicPr>
          <p:cNvPr id="314" name="Image 21" descr="icon">
            <a:extLst>
              <a:ext uri="{FF2B5EF4-FFF2-40B4-BE49-F238E27FC236}">
                <a16:creationId xmlns:a16="http://schemas.microsoft.com/office/drawing/2014/main" id="{183ADCAE-94A6-68C6-588E-2090A94A5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0156" y="4259081"/>
            <a:ext cx="294680" cy="312539"/>
          </a:xfrm>
          <a:prstGeom prst="rect">
            <a:avLst/>
          </a:prstGeom>
        </p:spPr>
      </p:pic>
      <p:sp>
        <p:nvSpPr>
          <p:cNvPr id="318" name="Text 24">
            <a:extLst>
              <a:ext uri="{FF2B5EF4-FFF2-40B4-BE49-F238E27FC236}">
                <a16:creationId xmlns:a16="http://schemas.microsoft.com/office/drawing/2014/main" id="{4DB57528-F738-D56A-01D8-E225F266326F}"/>
              </a:ext>
            </a:extLst>
          </p:cNvPr>
          <p:cNvSpPr txBox="1"/>
          <p:nvPr/>
        </p:nvSpPr>
        <p:spPr>
          <a:xfrm>
            <a:off x="197865" y="3408784"/>
            <a:ext cx="3046738" cy="242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10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USED / REFERENCED</a:t>
            </a:r>
            <a:endParaRPr lang="en-US" sz="1700" dirty="0"/>
          </a:p>
        </p:txBody>
      </p:sp>
      <p:sp>
        <p:nvSpPr>
          <p:cNvPr id="326" name="Text 28">
            <a:extLst>
              <a:ext uri="{FF2B5EF4-FFF2-40B4-BE49-F238E27FC236}">
                <a16:creationId xmlns:a16="http://schemas.microsoft.com/office/drawing/2014/main" id="{D99FB48B-813C-02F5-D349-016C5996634E}"/>
              </a:ext>
            </a:extLst>
          </p:cNvPr>
          <p:cNvSpPr txBox="1"/>
          <p:nvPr/>
        </p:nvSpPr>
        <p:spPr>
          <a:xfrm>
            <a:off x="5669722" y="3388924"/>
            <a:ext cx="2448449" cy="233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031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1430" dirty="0"/>
          </a:p>
        </p:txBody>
      </p:sp>
      <p:sp>
        <p:nvSpPr>
          <p:cNvPr id="328" name="Text 29">
            <a:extLst>
              <a:ext uri="{FF2B5EF4-FFF2-40B4-BE49-F238E27FC236}">
                <a16:creationId xmlns:a16="http://schemas.microsoft.com/office/drawing/2014/main" id="{617BC6BC-85FD-7288-AA2F-C6705A9C26F4}"/>
              </a:ext>
            </a:extLst>
          </p:cNvPr>
          <p:cNvSpPr txBox="1"/>
          <p:nvPr/>
        </p:nvSpPr>
        <p:spPr>
          <a:xfrm>
            <a:off x="5964402" y="3847988"/>
            <a:ext cx="2153769" cy="332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Hugging Face Transformers</a:t>
            </a:r>
            <a:endParaRPr lang="en-US" sz="1300" b="1" dirty="0"/>
          </a:p>
        </p:txBody>
      </p:sp>
      <p:sp>
        <p:nvSpPr>
          <p:cNvPr id="330" name="Text 30">
            <a:extLst>
              <a:ext uri="{FF2B5EF4-FFF2-40B4-BE49-F238E27FC236}">
                <a16:creationId xmlns:a16="http://schemas.microsoft.com/office/drawing/2014/main" id="{A3B5EEA7-D890-A08E-14A9-0322B8597214}"/>
              </a:ext>
            </a:extLst>
          </p:cNvPr>
          <p:cNvSpPr txBox="1"/>
          <p:nvPr/>
        </p:nvSpPr>
        <p:spPr>
          <a:xfrm>
            <a:off x="6052359" y="4249294"/>
            <a:ext cx="716090" cy="305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300" b="1" dirty="0"/>
          </a:p>
        </p:txBody>
      </p:sp>
      <p:sp>
        <p:nvSpPr>
          <p:cNvPr id="332" name="Text 31">
            <a:extLst>
              <a:ext uri="{FF2B5EF4-FFF2-40B4-BE49-F238E27FC236}">
                <a16:creationId xmlns:a16="http://schemas.microsoft.com/office/drawing/2014/main" id="{FFBB6360-0769-9E0E-65A1-6D27DF6C6587}"/>
              </a:ext>
            </a:extLst>
          </p:cNvPr>
          <p:cNvSpPr txBox="1"/>
          <p:nvPr/>
        </p:nvSpPr>
        <p:spPr>
          <a:xfrm>
            <a:off x="6070218" y="4624341"/>
            <a:ext cx="1350097" cy="242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Rasterio &amp; GDAL</a:t>
            </a:r>
            <a:endParaRPr lang="en-US" sz="1300" b="1" dirty="0"/>
          </a:p>
        </p:txBody>
      </p:sp>
      <p:sp>
        <p:nvSpPr>
          <p:cNvPr id="334" name="Text 32">
            <a:extLst>
              <a:ext uri="{FF2B5EF4-FFF2-40B4-BE49-F238E27FC236}">
                <a16:creationId xmlns:a16="http://schemas.microsoft.com/office/drawing/2014/main" id="{85AC4260-D91A-FB72-DBE0-732F7690A5AC}"/>
              </a:ext>
            </a:extLst>
          </p:cNvPr>
          <p:cNvSpPr txBox="1"/>
          <p:nvPr/>
        </p:nvSpPr>
        <p:spPr>
          <a:xfrm>
            <a:off x="6052359" y="4963669"/>
            <a:ext cx="1519761" cy="3053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000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r>
              <a:rPr lang="en-US" sz="1300" b="1" dirty="0">
                <a:solidFill>
                  <a:srgbClr val="000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/FastAPI</a:t>
            </a:r>
            <a:endParaRPr lang="en-US" sz="1300" b="1" dirty="0"/>
          </a:p>
        </p:txBody>
      </p: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7752CDF5-B921-2986-083F-202C9C2DDFF0}"/>
              </a:ext>
            </a:extLst>
          </p:cNvPr>
          <p:cNvGrpSpPr/>
          <p:nvPr/>
        </p:nvGrpSpPr>
        <p:grpSpPr>
          <a:xfrm>
            <a:off x="9135197" y="3384955"/>
            <a:ext cx="2829482" cy="294680"/>
            <a:chOff x="9066709" y="3392431"/>
            <a:chExt cx="2829482" cy="294680"/>
          </a:xfrm>
        </p:grpSpPr>
        <p:sp>
          <p:nvSpPr>
            <p:cNvPr id="284" name="Shape 9">
              <a:extLst>
                <a:ext uri="{FF2B5EF4-FFF2-40B4-BE49-F238E27FC236}">
                  <a16:creationId xmlns:a16="http://schemas.microsoft.com/office/drawing/2014/main" id="{C050469D-C61D-EBFE-D16E-F445BB5F2F53}"/>
                </a:ext>
              </a:extLst>
            </p:cNvPr>
            <p:cNvSpPr/>
            <p:nvPr/>
          </p:nvSpPr>
          <p:spPr>
            <a:xfrm>
              <a:off x="9066709" y="3392431"/>
              <a:ext cx="2752058" cy="294680"/>
            </a:xfrm>
            <a:prstGeom prst="roundRect">
              <a:avLst>
                <a:gd name="adj" fmla="val 16000"/>
              </a:avLst>
            </a:prstGeom>
            <a:solidFill>
              <a:srgbClr val="BBDEFB"/>
            </a:solidFill>
            <a:ln w="12700">
              <a:solidFill>
                <a:srgbClr val="BBDEF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36" name="Text 33">
              <a:extLst>
                <a:ext uri="{FF2B5EF4-FFF2-40B4-BE49-F238E27FC236}">
                  <a16:creationId xmlns:a16="http://schemas.microsoft.com/office/drawing/2014/main" id="{9742BD68-74AE-25F4-FCAD-A5DC7FF480C8}"/>
                </a:ext>
              </a:extLst>
            </p:cNvPr>
            <p:cNvSpPr txBox="1"/>
            <p:nvPr/>
          </p:nvSpPr>
          <p:spPr>
            <a:xfrm>
              <a:off x="9144133" y="3407671"/>
              <a:ext cx="2752058" cy="2606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550" b="1" dirty="0">
                  <a:solidFill>
                    <a:srgbClr val="0614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ADDITIONAL REFERENCES</a:t>
              </a:r>
              <a:endParaRPr lang="en-US" sz="1550" dirty="0"/>
            </a:p>
          </p:txBody>
        </p:sp>
      </p:grpSp>
      <p:graphicFrame>
        <p:nvGraphicFramePr>
          <p:cNvPr id="341" name="Diagram 340">
            <a:extLst>
              <a:ext uri="{FF2B5EF4-FFF2-40B4-BE49-F238E27FC236}">
                <a16:creationId xmlns:a16="http://schemas.microsoft.com/office/drawing/2014/main" id="{E365E42A-F176-2B85-2CC9-8E7FE45D08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1989913"/>
              </p:ext>
            </p:extLst>
          </p:nvPr>
        </p:nvGraphicFramePr>
        <p:xfrm>
          <a:off x="296784" y="3545086"/>
          <a:ext cx="4788192" cy="2754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9B3E3E2B-485F-087E-04AB-E55FDB4A72EB}"/>
              </a:ext>
            </a:extLst>
          </p:cNvPr>
          <p:cNvCxnSpPr>
            <a:cxnSpLocks/>
          </p:cNvCxnSpPr>
          <p:nvPr/>
        </p:nvCxnSpPr>
        <p:spPr>
          <a:xfrm>
            <a:off x="5314950" y="3408784"/>
            <a:ext cx="0" cy="3001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0" name="Image 11" descr="icon">
            <a:extLst>
              <a:ext uri="{FF2B5EF4-FFF2-40B4-BE49-F238E27FC236}">
                <a16:creationId xmlns:a16="http://schemas.microsoft.com/office/drawing/2014/main" id="{EB6FB1EF-6188-9A25-B4A1-2DA2CB20BD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2191" y="3782107"/>
            <a:ext cx="401836" cy="383977"/>
          </a:xfrm>
          <a:prstGeom prst="rect">
            <a:avLst/>
          </a:prstGeom>
        </p:spPr>
      </p:pic>
      <p:pic>
        <p:nvPicPr>
          <p:cNvPr id="352" name="Image 19" descr="icon">
            <a:extLst>
              <a:ext uri="{FF2B5EF4-FFF2-40B4-BE49-F238E27FC236}">
                <a16:creationId xmlns:a16="http://schemas.microsoft.com/office/drawing/2014/main" id="{43DEE055-25B9-296D-76D6-A1BD82F2DB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769" y="4303729"/>
            <a:ext cx="285750" cy="357188"/>
          </a:xfrm>
          <a:prstGeom prst="rect">
            <a:avLst/>
          </a:prstGeom>
        </p:spPr>
      </p:pic>
      <p:pic>
        <p:nvPicPr>
          <p:cNvPr id="354" name="Image 20" descr="icon">
            <a:extLst>
              <a:ext uri="{FF2B5EF4-FFF2-40B4-BE49-F238E27FC236}">
                <a16:creationId xmlns:a16="http://schemas.microsoft.com/office/drawing/2014/main" id="{6A592F7B-F690-2159-8569-06108E0BCC6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94699" y="4836575"/>
            <a:ext cx="285750" cy="339328"/>
          </a:xfrm>
          <a:prstGeom prst="rect">
            <a:avLst/>
          </a:prstGeom>
        </p:spPr>
      </p:pic>
      <p:sp>
        <p:nvSpPr>
          <p:cNvPr id="356" name="Text 34">
            <a:extLst>
              <a:ext uri="{FF2B5EF4-FFF2-40B4-BE49-F238E27FC236}">
                <a16:creationId xmlns:a16="http://schemas.microsoft.com/office/drawing/2014/main" id="{CB92EA93-89C5-B67C-B4C5-D43205C0F6AB}"/>
              </a:ext>
            </a:extLst>
          </p:cNvPr>
          <p:cNvSpPr txBox="1"/>
          <p:nvPr/>
        </p:nvSpPr>
        <p:spPr>
          <a:xfrm>
            <a:off x="9221551" y="3945685"/>
            <a:ext cx="2743129" cy="2517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ISRO Official Website &amp; Data Portal</a:t>
            </a:r>
            <a:endParaRPr lang="en-US" sz="1300" b="1" dirty="0"/>
          </a:p>
        </p:txBody>
      </p:sp>
      <p:sp>
        <p:nvSpPr>
          <p:cNvPr id="358" name="Text 35">
            <a:extLst>
              <a:ext uri="{FF2B5EF4-FFF2-40B4-BE49-F238E27FC236}">
                <a16:creationId xmlns:a16="http://schemas.microsoft.com/office/drawing/2014/main" id="{524D277C-7BBA-B8A4-B52F-DC3E7E32D70B}"/>
              </a:ext>
            </a:extLst>
          </p:cNvPr>
          <p:cNvSpPr txBox="1"/>
          <p:nvPr/>
        </p:nvSpPr>
        <p:spPr>
          <a:xfrm>
            <a:off x="9203691" y="4306920"/>
            <a:ext cx="3008947" cy="3231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Problem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00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(SIH26167)</a:t>
            </a:r>
            <a:endParaRPr lang="en-US" sz="1300" b="1" dirty="0"/>
          </a:p>
        </p:txBody>
      </p:sp>
      <p:sp>
        <p:nvSpPr>
          <p:cNvPr id="360" name="Text 36">
            <a:extLst>
              <a:ext uri="{FF2B5EF4-FFF2-40B4-BE49-F238E27FC236}">
                <a16:creationId xmlns:a16="http://schemas.microsoft.com/office/drawing/2014/main" id="{CFF6789F-F6D2-7963-5D5B-C0F46E8427EC}"/>
              </a:ext>
            </a:extLst>
          </p:cNvPr>
          <p:cNvSpPr txBox="1"/>
          <p:nvPr/>
        </p:nvSpPr>
        <p:spPr>
          <a:xfrm>
            <a:off x="9203691" y="4729005"/>
            <a:ext cx="2854959" cy="573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8"/>
              </a:lnSpc>
              <a:buNone/>
            </a:pPr>
            <a:r>
              <a:rPr lang="en-US" sz="1300" b="1" dirty="0">
                <a:solidFill>
                  <a:srgbClr val="00091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Recent papers on Vision-Language </a:t>
            </a:r>
          </a:p>
          <a:p>
            <a:pPr marL="0" indent="0" algn="l">
              <a:lnSpc>
                <a:spcPts val="1898"/>
              </a:lnSpc>
              <a:buNone/>
            </a:pPr>
            <a:r>
              <a:rPr lang="en-US" sz="1300" b="1" dirty="0">
                <a:solidFill>
                  <a:srgbClr val="00091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Models for Satellite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b="1" dirty="0">
                <a:solidFill>
                  <a:srgbClr val="00091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Imagery </a:t>
            </a:r>
          </a:p>
          <a:p>
            <a:pPr marL="0" indent="0" algn="l">
              <a:lnSpc>
                <a:spcPts val="1898"/>
              </a:lnSpc>
              <a:buNone/>
            </a:pPr>
            <a:r>
              <a:rPr lang="en-US" sz="1300" b="1" dirty="0">
                <a:solidFill>
                  <a:srgbClr val="00091D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(2023-2025)</a:t>
            </a:r>
            <a:endParaRPr lang="en-U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2" name="Picture 361">
            <a:extLst>
              <a:ext uri="{FF2B5EF4-FFF2-40B4-BE49-F238E27FC236}">
                <a16:creationId xmlns:a16="http://schemas.microsoft.com/office/drawing/2014/main" id="{FC4D3B99-DF2E-5078-61EE-7BDFBF4BD64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5552296" y="4984125"/>
            <a:ext cx="333750" cy="333750"/>
          </a:xfrm>
          <a:prstGeom prst="rect">
            <a:avLst/>
          </a:prstGeom>
        </p:spPr>
      </p:pic>
      <p:pic>
        <p:nvPicPr>
          <p:cNvPr id="364" name="Picture 363">
            <a:extLst>
              <a:ext uri="{FF2B5EF4-FFF2-40B4-BE49-F238E27FC236}">
                <a16:creationId xmlns:a16="http://schemas.microsoft.com/office/drawing/2014/main" id="{A7AB79E0-4EE3-429A-ECC6-CECBE9C326E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5493217" y="3687483"/>
            <a:ext cx="518020" cy="51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06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1311</Words>
  <Application>Microsoft Office PowerPoint</Application>
  <PresentationFormat>Custom</PresentationFormat>
  <Paragraphs>295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Wingdings</vt:lpstr>
      <vt:lpstr>Garamond</vt:lpstr>
      <vt:lpstr>Calibri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azie ula</cp:lastModifiedBy>
  <cp:revision>13</cp:revision>
  <dcterms:created xsi:type="dcterms:W3CDTF">2026-09-06T18:54:12Z</dcterms:created>
  <dcterms:modified xsi:type="dcterms:W3CDTF">2026-09-07T13:11:31Z</dcterms:modified>
</cp:coreProperties>
</file>